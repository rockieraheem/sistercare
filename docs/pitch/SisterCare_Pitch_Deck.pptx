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sister-care.vercel.app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 thoughtful adolescent girl in a private roo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7728" y="0"/>
            <a:ext cx="5221224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922008" y="0"/>
            <a:ext cx="118872" cy="6858000"/>
          </a:xfrm>
          <a:prstGeom prst="rect">
            <a:avLst/>
          </a:prstGeom>
          <a:solidFill>
            <a:srgbClr val="FF00FF"/>
          </a:solidFill>
          <a:ln w="12700">
            <a:solidFill>
              <a:srgbClr val="FF00FF">
                <a:alpha val="0"/>
              </a:srgbClr>
            </a:solidFill>
            <a:prstDash val="solid"/>
          </a:ln>
        </p:spPr>
      </p:sp>
      <p:pic>
        <p:nvPicPr>
          <p:cNvPr id="4" name="Image 1" descr="SisterCare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310896"/>
            <a:ext cx="310896" cy="310896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033272" y="30175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A17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SisterCare</a:t>
            </a:r>
            <a:endParaRPr lang="en-US" sz="1400" dirty="0"/>
          </a:p>
        </p:txBody>
      </p:sp>
      <p:sp>
        <p:nvSpPr>
          <p:cNvPr id="6" name="Shape 2"/>
          <p:cNvSpPr/>
          <p:nvPr/>
        </p:nvSpPr>
        <p:spPr>
          <a:xfrm>
            <a:off x="658368" y="1298448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31520" y="1298448"/>
            <a:ext cx="1453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FUNDER PITCH · 2026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658368" y="1874520"/>
            <a:ext cx="56235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5192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Private support for questions people are afraid to ask.</a:t>
            </a:r>
            <a:endParaRPr lang="en-US" sz="3100" dirty="0"/>
          </a:p>
        </p:txBody>
      </p:sp>
      <p:sp>
        <p:nvSpPr>
          <p:cNvPr id="9" name="Text 5"/>
          <p:cNvSpPr txBox="1"/>
          <p:nvPr/>
        </p:nvSpPr>
        <p:spPr>
          <a:xfrm>
            <a:off x="658368" y="3730752"/>
            <a:ext cx="5440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7166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SisterCare helps girls and women track their periods, speak privately and reach trusted support without shame.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658368" y="5138928"/>
            <a:ext cx="5376672" cy="749808"/>
          </a:xfrm>
          <a:prstGeom prst="roundRect">
            <a:avLst>
              <a:gd name="adj" fmla="val 17073"/>
            </a:avLst>
          </a:prstGeom>
          <a:solidFill>
            <a:srgbClr val="FFF7FF"/>
          </a:solidFill>
          <a:ln w="12700">
            <a:solidFill>
              <a:srgbClr val="FFF7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96112" y="5138928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A17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 tracking  ·  Private AI support  ·  Verified counsellors</a:t>
            </a:r>
            <a:endParaRPr lang="en-US" sz="1150" dirty="0"/>
          </a:p>
        </p:txBody>
      </p:sp>
      <p:sp>
        <p:nvSpPr>
          <p:cNvPr id="12" name="Text 8">
            <a:hlinkClick r:id="rId3" tooltip=""/>
          </p:cNvPr>
          <p:cNvSpPr txBox="1"/>
          <p:nvPr/>
        </p:nvSpPr>
        <p:spPr>
          <a:xfrm>
            <a:off x="658368" y="6309360"/>
            <a:ext cx="21945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u="sng" dirty="0">
                <a:solidFill>
                  <a:srgbClr val="FF00FF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sister-care.vercel.app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310896"/>
            <a:ext cx="310896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33272" y="30175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A17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SisterCare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11018520" y="32004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spc="120" kern="0" dirty="0">
                <a:solidFill>
                  <a:srgbClr val="FF0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58368" y="9601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70" kern="0" dirty="0">
                <a:solidFill>
                  <a:srgbClr val="FF0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PROBLEM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658368" y="1243584"/>
            <a:ext cx="10835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192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Many important questions are never asked.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58368" y="1901952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7166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Fear, shame and lack of privacy stop people from seeking help early.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58368" y="6473952"/>
            <a:ext cx="10835640" cy="0"/>
          </a:xfrm>
          <a:prstGeom prst="line">
            <a:avLst/>
          </a:prstGeom>
          <a:noFill/>
          <a:ln w="12700">
            <a:solidFill>
              <a:srgbClr val="EEDDEE"/>
            </a:solidFill>
            <a:prstDash val="solid"/>
          </a:ln>
        </p:spPr>
      </p:sp>
      <p:pic>
        <p:nvPicPr>
          <p:cNvPr id="9" name="Image 1" descr="A young woman privately seeking information on her ph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578608"/>
            <a:ext cx="4700016" cy="349300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896112" y="5349240"/>
            <a:ext cx="4224528" cy="475488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78992" y="5349240"/>
            <a:ext cx="3858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17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“Who can I ask without being judged?”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650992" y="2578608"/>
            <a:ext cx="5632704" cy="9144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EDDEE"/>
            </a:solidFill>
            <a:prstDash val="solid"/>
          </a:ln>
          <a:effectLst>
            <a:outerShdw sx="100000" sy="100000" kx="0" ky="0" algn="bl" rotWithShape="0" blurRad="20320" dist="50800" dir="2700000">
              <a:srgbClr val="4A1748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5852160" y="2852928"/>
            <a:ext cx="365760" cy="365760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852160" y="2852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6400800" y="270662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519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Silence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6400800" y="301752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7166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Sensitive questions stay hidden because people fear judgment or exposure.</a:t>
            </a:r>
            <a:endParaRPr lang="en-US" sz="880" dirty="0"/>
          </a:p>
        </p:txBody>
      </p:sp>
      <p:sp>
        <p:nvSpPr>
          <p:cNvPr id="17" name="Shape 13"/>
          <p:cNvSpPr/>
          <p:nvPr/>
        </p:nvSpPr>
        <p:spPr>
          <a:xfrm>
            <a:off x="5650992" y="3657600"/>
            <a:ext cx="5632704" cy="9144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EDDEE"/>
            </a:solidFill>
            <a:prstDash val="solid"/>
          </a:ln>
          <a:effectLst>
            <a:outerShdw sx="100000" sy="100000" kx="0" ky="0" algn="bl" rotWithShape="0" blurRad="20320" dist="50800" dir="2700000">
              <a:srgbClr val="4A1748">
                <a:alpha val="1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852160" y="3931920"/>
            <a:ext cx="365760" cy="365760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852160" y="3931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6400800" y="3785616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519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Wrong information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6400800" y="409651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7166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Search results and social media may give advice without context or accountability.</a:t>
            </a:r>
            <a:endParaRPr lang="en-US" sz="880" dirty="0"/>
          </a:p>
        </p:txBody>
      </p:sp>
      <p:sp>
        <p:nvSpPr>
          <p:cNvPr id="22" name="Shape 18"/>
          <p:cNvSpPr/>
          <p:nvPr/>
        </p:nvSpPr>
        <p:spPr>
          <a:xfrm>
            <a:off x="5650992" y="4736592"/>
            <a:ext cx="5632704" cy="9144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EDDEE"/>
            </a:solidFill>
            <a:prstDash val="solid"/>
          </a:ln>
          <a:effectLst>
            <a:outerShdw sx="100000" sy="100000" kx="0" ky="0" algn="bl" rotWithShape="0" blurRad="20320" dist="50800" dir="2700000">
              <a:srgbClr val="4A1748">
                <a:alpha val="10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5852160" y="5010912"/>
            <a:ext cx="365760" cy="365760"/>
          </a:xfrm>
          <a:prstGeom prst="ellipse">
            <a:avLst/>
          </a:prstGeom>
          <a:solidFill>
            <a:srgbClr val="D86E3E"/>
          </a:solidFill>
          <a:ln w="12700">
            <a:solidFill>
              <a:srgbClr val="D86E3E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852160" y="50109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6400800" y="486460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519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 support</a:t>
            </a:r>
            <a:endParaRPr lang="en-US" sz="1300" dirty="0"/>
          </a:p>
        </p:txBody>
      </p:sp>
      <p:sp>
        <p:nvSpPr>
          <p:cNvPr id="26" name="Text 22"/>
          <p:cNvSpPr txBox="1"/>
          <p:nvPr/>
        </p:nvSpPr>
        <p:spPr>
          <a:xfrm>
            <a:off x="6400800" y="5175504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7166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small concern can become fear, unsafe self-care or delayed professional help.</a:t>
            </a:r>
            <a:endParaRPr lang="en-US" sz="880" dirty="0"/>
          </a:p>
        </p:txBody>
      </p:sp>
      <p:sp>
        <p:nvSpPr>
          <p:cNvPr id="27" name="Shape 23"/>
          <p:cNvSpPr/>
          <p:nvPr/>
        </p:nvSpPr>
        <p:spPr>
          <a:xfrm>
            <a:off x="5650992" y="5486400"/>
            <a:ext cx="2670048" cy="914400"/>
          </a:xfrm>
          <a:prstGeom prst="roundRect">
            <a:avLst>
              <a:gd name="adj" fmla="val 15000"/>
            </a:avLst>
          </a:prstGeom>
          <a:solidFill>
            <a:srgbClr val="FFF7FF"/>
          </a:solidFill>
          <a:ln w="12700">
            <a:solidFill>
              <a:srgbClr val="FFF7F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5815584" y="5605272"/>
            <a:ext cx="2340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00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 in 7</a:t>
            </a:r>
            <a:endParaRPr lang="en-US" sz="2200" dirty="0"/>
          </a:p>
        </p:txBody>
      </p:sp>
      <p:sp>
        <p:nvSpPr>
          <p:cNvPr id="29" name="Text 25"/>
          <p:cNvSpPr txBox="1"/>
          <p:nvPr/>
        </p:nvSpPr>
        <p:spPr>
          <a:xfrm>
            <a:off x="5815584" y="6016752"/>
            <a:ext cx="234086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7166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adolescents experience a mental health condition</a:t>
            </a:r>
            <a:endParaRPr lang="en-US" sz="920" dirty="0"/>
          </a:p>
        </p:txBody>
      </p:sp>
      <p:sp>
        <p:nvSpPr>
          <p:cNvPr id="30" name="Shape 26"/>
          <p:cNvSpPr/>
          <p:nvPr/>
        </p:nvSpPr>
        <p:spPr>
          <a:xfrm>
            <a:off x="8558784" y="5486400"/>
            <a:ext cx="2724912" cy="914400"/>
          </a:xfrm>
          <a:prstGeom prst="roundRect">
            <a:avLst>
              <a:gd name="adj" fmla="val 15000"/>
            </a:avLst>
          </a:prstGeom>
          <a:solidFill>
            <a:srgbClr val="FFE8FF"/>
          </a:solidFill>
          <a:ln w="12700">
            <a:solidFill>
              <a:srgbClr val="FFE8F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8723376" y="5605272"/>
            <a:ext cx="2395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4A174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1.8B</a:t>
            </a:r>
            <a:endParaRPr lang="en-US" sz="2200" dirty="0"/>
          </a:p>
        </p:txBody>
      </p:sp>
      <p:sp>
        <p:nvSpPr>
          <p:cNvPr id="32" name="Text 28"/>
          <p:cNvSpPr txBox="1"/>
          <p:nvPr/>
        </p:nvSpPr>
        <p:spPr>
          <a:xfrm>
            <a:off x="8723376" y="6016752"/>
            <a:ext cx="23957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7166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people menstruate every month worldwide</a:t>
            </a:r>
            <a:endParaRPr lang="en-US" sz="920" dirty="0"/>
          </a:p>
        </p:txBody>
      </p:sp>
      <p:sp>
        <p:nvSpPr>
          <p:cNvPr id="33" name="Text 29"/>
          <p:cNvSpPr txBox="1"/>
          <p:nvPr/>
        </p:nvSpPr>
        <p:spPr>
          <a:xfrm>
            <a:off x="658368" y="6510528"/>
            <a:ext cx="10012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70" dirty="0">
                <a:solidFill>
                  <a:srgbClr val="A594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WHO, Adolescent mental health (2025); UNICEF, Menstrual hygiene. Global context, not SisterCare traction.</a:t>
            </a:r>
            <a:endParaRPr lang="en-US" sz="67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310896"/>
            <a:ext cx="310896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33272" y="30175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A17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SisterCare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11018520" y="32004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spc="120" kern="0" dirty="0">
                <a:solidFill>
                  <a:srgbClr val="FF0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58368" y="9601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70" kern="0" dirty="0">
                <a:solidFill>
                  <a:srgbClr val="FF0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SOLUTION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658368" y="1243584"/>
            <a:ext cx="10835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192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SisterCare gives every user a safe first step.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58368" y="1901952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7166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user chooses what to share and when to speak with a real person.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58368" y="6473952"/>
            <a:ext cx="10835640" cy="0"/>
          </a:xfrm>
          <a:prstGeom prst="line">
            <a:avLst/>
          </a:prstGeom>
          <a:noFill/>
          <a:ln w="12700">
            <a:solidFill>
              <a:srgbClr val="EEDDEE"/>
            </a:solidFill>
            <a:prstDash val="solid"/>
          </a:ln>
        </p:spPr>
      </p:sp>
      <p:pic>
        <p:nvPicPr>
          <p:cNvPr id="9" name="Image 1" descr="A young woman feeling calmer while using her ph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532888"/>
            <a:ext cx="4910328" cy="361188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58368" y="2578608"/>
            <a:ext cx="2487168" cy="128016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EEDDEE"/>
            </a:solidFill>
            <a:prstDash val="solid"/>
          </a:ln>
          <a:effectLst>
            <a:outerShdw sx="100000" sy="100000" kx="0" ky="0" algn="bl" rotWithShape="0" blurRad="20320" dist="50800" dir="2700000">
              <a:srgbClr val="4A1748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841248" y="2761488"/>
            <a:ext cx="365760" cy="365760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41248" y="2761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371600" y="274320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519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Track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841248" y="3209544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7166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Record period dates and understand the cycle.</a:t>
            </a:r>
            <a:endParaRPr lang="en-US" sz="960" dirty="0"/>
          </a:p>
        </p:txBody>
      </p:sp>
      <p:sp>
        <p:nvSpPr>
          <p:cNvPr id="15" name="Shape 11"/>
          <p:cNvSpPr/>
          <p:nvPr/>
        </p:nvSpPr>
        <p:spPr>
          <a:xfrm>
            <a:off x="3419856" y="2578608"/>
            <a:ext cx="2487168" cy="128016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EEDDEE"/>
            </a:solidFill>
            <a:prstDash val="solid"/>
          </a:ln>
          <a:effectLst>
            <a:outerShdw sx="100000" sy="100000" kx="0" ky="0" algn="bl" rotWithShape="0" blurRad="20320" dist="50800" dir="2700000">
              <a:srgbClr val="4A1748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602736" y="2761488"/>
            <a:ext cx="365760" cy="365760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3602736" y="2761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00" dirty="0"/>
          </a:p>
        </p:txBody>
      </p:sp>
      <p:sp>
        <p:nvSpPr>
          <p:cNvPr id="18" name="Text 14"/>
          <p:cNvSpPr txBox="1"/>
          <p:nvPr/>
        </p:nvSpPr>
        <p:spPr>
          <a:xfrm>
            <a:off x="4133088" y="274320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519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Ask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3602736" y="3209544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7166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Speak privately with an AI support agent.</a:t>
            </a:r>
            <a:endParaRPr lang="en-US" sz="960" dirty="0"/>
          </a:p>
        </p:txBody>
      </p:sp>
      <p:sp>
        <p:nvSpPr>
          <p:cNvPr id="20" name="Shape 16"/>
          <p:cNvSpPr/>
          <p:nvPr/>
        </p:nvSpPr>
        <p:spPr>
          <a:xfrm>
            <a:off x="658368" y="4087368"/>
            <a:ext cx="2487168" cy="128016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EEDDEE"/>
            </a:solidFill>
            <a:prstDash val="solid"/>
          </a:ln>
          <a:effectLst>
            <a:outerShdw sx="100000" sy="100000" kx="0" ky="0" algn="bl" rotWithShape="0" blurRad="20320" dist="50800" dir="2700000">
              <a:srgbClr val="4A1748">
                <a:alpha val="10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841248" y="4270248"/>
            <a:ext cx="365760" cy="365760"/>
          </a:xfrm>
          <a:prstGeom prst="ellipse">
            <a:avLst/>
          </a:prstGeom>
          <a:solidFill>
            <a:srgbClr val="137A65"/>
          </a:solidFill>
          <a:ln w="12700">
            <a:solidFill>
              <a:srgbClr val="137A65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841248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1371600" y="425196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519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Talk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1248" y="4718304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7166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Reach a verified counsellor by chat or in-app audio.</a:t>
            </a:r>
            <a:endParaRPr lang="en-US" sz="960" dirty="0"/>
          </a:p>
        </p:txBody>
      </p:sp>
      <p:sp>
        <p:nvSpPr>
          <p:cNvPr id="25" name="Shape 21"/>
          <p:cNvSpPr/>
          <p:nvPr/>
        </p:nvSpPr>
        <p:spPr>
          <a:xfrm>
            <a:off x="3419856" y="4087368"/>
            <a:ext cx="2487168" cy="128016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EEDDEE"/>
            </a:solidFill>
            <a:prstDash val="solid"/>
          </a:ln>
          <a:effectLst>
            <a:outerShdw sx="100000" sy="100000" kx="0" ky="0" algn="bl" rotWithShape="0" blurRad="20320" dist="50800" dir="2700000">
              <a:srgbClr val="4A1748">
                <a:alpha val="10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3602736" y="4270248"/>
            <a:ext cx="365760" cy="365760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602736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00" dirty="0"/>
          </a:p>
        </p:txBody>
      </p:sp>
      <p:sp>
        <p:nvSpPr>
          <p:cNvPr id="28" name="Text 24"/>
          <p:cNvSpPr txBox="1"/>
          <p:nvPr/>
        </p:nvSpPr>
        <p:spPr>
          <a:xfrm>
            <a:off x="4133088" y="425196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519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</a:t>
            </a:r>
            <a:endParaRPr lang="en-US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3602736" y="4718304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7166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Get a clear next step when more help is needed.</a:t>
            </a:r>
            <a:endParaRPr lang="en-US" sz="960" dirty="0"/>
          </a:p>
        </p:txBody>
      </p:sp>
      <p:sp>
        <p:nvSpPr>
          <p:cNvPr id="30" name="Shape 26"/>
          <p:cNvSpPr/>
          <p:nvPr/>
        </p:nvSpPr>
        <p:spPr>
          <a:xfrm>
            <a:off x="658368" y="5614416"/>
            <a:ext cx="5248656" cy="530352"/>
          </a:xfrm>
          <a:prstGeom prst="roundRect">
            <a:avLst>
              <a:gd name="adj" fmla="val 24138"/>
            </a:avLst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877824" y="5614416"/>
            <a:ext cx="48097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by design. Human help when it matters.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310896"/>
            <a:ext cx="310896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33272" y="30175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A17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SisterCare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11018520" y="32004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spc="120" kern="0" dirty="0">
                <a:solidFill>
                  <a:srgbClr val="FF0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58368" y="9601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70" kern="0" dirty="0">
                <a:solidFill>
                  <a:srgbClr val="FF0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PRODUCT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658368" y="1243584"/>
            <a:ext cx="10835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192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One app. Three simple ways to get support.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58368" y="1901952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7166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free plan starts with tracking. Premium unlocks conversation and human care.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58368" y="6473952"/>
            <a:ext cx="10835640" cy="0"/>
          </a:xfrm>
          <a:prstGeom prst="line">
            <a:avLst/>
          </a:prstGeom>
          <a:noFill/>
          <a:ln w="12700">
            <a:solidFill>
              <a:srgbClr val="EEDDE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58368" y="2606040"/>
            <a:ext cx="3401568" cy="2487168"/>
          </a:xfrm>
          <a:prstGeom prst="roundRect">
            <a:avLst>
              <a:gd name="adj" fmla="val 6618"/>
            </a:avLst>
          </a:prstGeom>
          <a:solidFill>
            <a:srgbClr val="FFFFFF"/>
          </a:solidFill>
          <a:ln w="12700">
            <a:solidFill>
              <a:srgbClr val="FF00FF"/>
            </a:solidFill>
            <a:prstDash val="solid"/>
          </a:ln>
          <a:effectLst>
            <a:outerShdw sx="100000" sy="100000" kx="0" ky="0" algn="bl" rotWithShape="0" blurRad="20320" dist="50800" dir="2700000">
              <a:srgbClr val="4A1748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96112" y="2871216"/>
            <a:ext cx="969264" cy="310896"/>
          </a:xfrm>
          <a:prstGeom prst="roundRect">
            <a:avLst>
              <a:gd name="adj" fmla="val 50000"/>
            </a:avLst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69264" y="2871216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FREE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896112" y="3493008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519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Cycle tracking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896112" y="4096512"/>
            <a:ext cx="28529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30" dirty="0">
                <a:solidFill>
                  <a:srgbClr val="7166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Record period dates, see cycle days and receive tracking reminders.</a:t>
            </a:r>
            <a:endParaRPr lang="en-US" sz="1030" dirty="0"/>
          </a:p>
        </p:txBody>
      </p:sp>
      <p:sp>
        <p:nvSpPr>
          <p:cNvPr id="14" name="Shape 11"/>
          <p:cNvSpPr/>
          <p:nvPr/>
        </p:nvSpPr>
        <p:spPr>
          <a:xfrm>
            <a:off x="4343400" y="2606040"/>
            <a:ext cx="3401568" cy="2487168"/>
          </a:xfrm>
          <a:prstGeom prst="roundRect">
            <a:avLst>
              <a:gd name="adj" fmla="val 6618"/>
            </a:avLst>
          </a:prstGeom>
          <a:solidFill>
            <a:srgbClr val="FFF7FF"/>
          </a:solidFill>
          <a:ln w="12700">
            <a:solidFill>
              <a:srgbClr val="EEDDEE"/>
            </a:solidFill>
            <a:prstDash val="solid"/>
          </a:ln>
          <a:effectLst>
            <a:outerShdw sx="100000" sy="100000" kx="0" ky="0" algn="bl" rotWithShape="0" blurRad="20320" dist="50800" dir="2700000">
              <a:srgbClr val="4A1748">
                <a:alpha val="1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581144" y="2871216"/>
            <a:ext cx="96926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654296" y="2871216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0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PREMIUM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4581144" y="3493008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519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support agent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4581144" y="4096512"/>
            <a:ext cx="28529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30" dirty="0">
                <a:solidFill>
                  <a:srgbClr val="7166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Ask private questions and receive clear, context-aware guidance.</a:t>
            </a:r>
            <a:endParaRPr lang="en-US" sz="1030" dirty="0"/>
          </a:p>
        </p:txBody>
      </p:sp>
      <p:sp>
        <p:nvSpPr>
          <p:cNvPr id="19" name="Shape 16"/>
          <p:cNvSpPr/>
          <p:nvPr/>
        </p:nvSpPr>
        <p:spPr>
          <a:xfrm>
            <a:off x="8028432" y="2606040"/>
            <a:ext cx="3401568" cy="2487168"/>
          </a:xfrm>
          <a:prstGeom prst="roundRect">
            <a:avLst>
              <a:gd name="adj" fmla="val 6618"/>
            </a:avLst>
          </a:prstGeom>
          <a:solidFill>
            <a:srgbClr val="FFE8FF"/>
          </a:solidFill>
          <a:ln w="12700">
            <a:solidFill>
              <a:srgbClr val="EEDDEE"/>
            </a:solidFill>
            <a:prstDash val="solid"/>
          </a:ln>
          <a:effectLst>
            <a:outerShdw sx="100000" sy="100000" kx="0" ky="0" algn="bl" rotWithShape="0" blurRad="20320" dist="50800" dir="2700000">
              <a:srgbClr val="4A1748">
                <a:alpha val="1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266176" y="2871216"/>
            <a:ext cx="96926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339328" y="2871216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0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PREMIUM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8266176" y="3493008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519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Verified counsellors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8266176" y="4096512"/>
            <a:ext cx="28529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30" dirty="0">
                <a:solidFill>
                  <a:srgbClr val="7166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Request private chat or in-app audio with an available counsellor.</a:t>
            </a:r>
            <a:endParaRPr lang="en-US" sz="1030" dirty="0"/>
          </a:p>
        </p:txBody>
      </p:sp>
      <p:sp>
        <p:nvSpPr>
          <p:cNvPr id="24" name="Shape 21"/>
          <p:cNvSpPr/>
          <p:nvPr/>
        </p:nvSpPr>
        <p:spPr>
          <a:xfrm>
            <a:off x="1097280" y="5660136"/>
            <a:ext cx="9802368" cy="0"/>
          </a:xfrm>
          <a:prstGeom prst="line">
            <a:avLst/>
          </a:prstGeom>
          <a:noFill/>
          <a:ln w="25400">
            <a:solidFill>
              <a:srgbClr val="FF00F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41248" y="5532120"/>
            <a:ext cx="265176" cy="265176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243584" y="5184648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4A17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Track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3090672" y="5184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A594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3602736" y="5532120"/>
            <a:ext cx="265176" cy="265176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005072" y="5184648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4A17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Ask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5852160" y="5184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A594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6364224" y="5532120"/>
            <a:ext cx="265176" cy="265176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766560" y="5184648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4A17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Talk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8613648" y="5184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A594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9125712" y="5532120"/>
            <a:ext cx="265176" cy="265176"/>
          </a:xfrm>
          <a:prstGeom prst="ellipse">
            <a:avLst/>
          </a:prstGeom>
          <a:solidFill>
            <a:srgbClr val="137A65"/>
          </a:solidFill>
          <a:ln w="12700">
            <a:solidFill>
              <a:srgbClr val="137A65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528048" y="5184648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4A17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 the next step</a:t>
            </a:r>
            <a:endParaRPr lang="en-US" sz="1050" dirty="0"/>
          </a:p>
        </p:txBody>
      </p:sp>
      <p:sp>
        <p:nvSpPr>
          <p:cNvPr id="36" name="Text 33"/>
          <p:cNvSpPr txBox="1"/>
          <p:nvPr/>
        </p:nvSpPr>
        <p:spPr>
          <a:xfrm>
            <a:off x="658368" y="6510528"/>
            <a:ext cx="10012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70" dirty="0">
                <a:solidFill>
                  <a:srgbClr val="A594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Urgent safety information is never blocked by a paywall. SisterCare does not diagnose or replace emergency services.</a:t>
            </a:r>
            <a:endParaRPr lang="en-US" sz="67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310896"/>
            <a:ext cx="310896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33272" y="30175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A17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SisterCare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11018520" y="32004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spc="120" kern="0" dirty="0">
                <a:solidFill>
                  <a:srgbClr val="FF0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58368" y="9601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70" kern="0" dirty="0">
                <a:solidFill>
                  <a:srgbClr val="FF0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OPPORTUNITY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658368" y="1243584"/>
            <a:ext cx="10835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192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large need with a clear way to reach users.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58368" y="1901952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7166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start through organisations that already support girls and women.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58368" y="6473952"/>
            <a:ext cx="10835640" cy="0"/>
          </a:xfrm>
          <a:prstGeom prst="line">
            <a:avLst/>
          </a:prstGeom>
          <a:noFill/>
          <a:ln w="12700">
            <a:solidFill>
              <a:srgbClr val="EEDDEE"/>
            </a:solidFill>
            <a:prstDash val="solid"/>
          </a:ln>
        </p:spPr>
      </p:sp>
      <p:pic>
        <p:nvPicPr>
          <p:cNvPr id="9" name="Image 1" descr="A community wellbeing workshop for young wom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2523744"/>
            <a:ext cx="5779008" cy="36576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58368" y="2578608"/>
            <a:ext cx="2212848" cy="914400"/>
          </a:xfrm>
          <a:prstGeom prst="roundRect">
            <a:avLst>
              <a:gd name="adj" fmla="val 15000"/>
            </a:avLst>
          </a:prstGeom>
          <a:solidFill>
            <a:srgbClr val="FFE8FF"/>
          </a:solidFill>
          <a:ln w="12700">
            <a:solidFill>
              <a:srgbClr val="FFE8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22960" y="2697480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00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1.8B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3108960"/>
            <a:ext cx="188366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7166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people menstruate every month</a:t>
            </a:r>
            <a:endParaRPr lang="en-US" sz="920" dirty="0"/>
          </a:p>
        </p:txBody>
      </p:sp>
      <p:sp>
        <p:nvSpPr>
          <p:cNvPr id="13" name="Shape 9"/>
          <p:cNvSpPr/>
          <p:nvPr/>
        </p:nvSpPr>
        <p:spPr>
          <a:xfrm>
            <a:off x="3108960" y="2578608"/>
            <a:ext cx="2212848" cy="914400"/>
          </a:xfrm>
          <a:prstGeom prst="roundRect">
            <a:avLst>
              <a:gd name="adj" fmla="val 15000"/>
            </a:avLst>
          </a:prstGeom>
          <a:solidFill>
            <a:srgbClr val="FFF7FF"/>
          </a:solidFill>
          <a:ln w="12700">
            <a:solidFill>
              <a:srgbClr val="FFF7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273552" y="2697480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00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 in 7</a:t>
            </a:r>
            <a:endParaRPr lang="en-US" sz="2200" dirty="0"/>
          </a:p>
        </p:txBody>
      </p:sp>
      <p:sp>
        <p:nvSpPr>
          <p:cNvPr id="15" name="Text 11"/>
          <p:cNvSpPr txBox="1"/>
          <p:nvPr/>
        </p:nvSpPr>
        <p:spPr>
          <a:xfrm>
            <a:off x="3273552" y="3108960"/>
            <a:ext cx="188366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7166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adolescents face a mental health condition</a:t>
            </a:r>
            <a:endParaRPr lang="en-US" sz="920" dirty="0"/>
          </a:p>
        </p:txBody>
      </p:sp>
      <p:sp>
        <p:nvSpPr>
          <p:cNvPr id="16" name="Text 12"/>
          <p:cNvSpPr txBox="1"/>
          <p:nvPr/>
        </p:nvSpPr>
        <p:spPr>
          <a:xfrm>
            <a:off x="658368" y="377647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A17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Our first customer groups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658368" y="4270248"/>
            <a:ext cx="365760" cy="365760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58368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1188720" y="4224528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2519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Schools and universities</a:t>
            </a:r>
            <a:endParaRPr lang="en-US" sz="1080" dirty="0"/>
          </a:p>
        </p:txBody>
      </p:sp>
      <p:sp>
        <p:nvSpPr>
          <p:cNvPr id="20" name="Text 16"/>
          <p:cNvSpPr txBox="1"/>
          <p:nvPr/>
        </p:nvSpPr>
        <p:spPr>
          <a:xfrm>
            <a:off x="3172968" y="4187952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70" dirty="0">
                <a:solidFill>
                  <a:srgbClr val="7166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Offer private support through existing student services.</a:t>
            </a:r>
            <a:endParaRPr lang="en-US" sz="870" dirty="0"/>
          </a:p>
        </p:txBody>
      </p:sp>
      <p:sp>
        <p:nvSpPr>
          <p:cNvPr id="21" name="Shape 17"/>
          <p:cNvSpPr/>
          <p:nvPr/>
        </p:nvSpPr>
        <p:spPr>
          <a:xfrm>
            <a:off x="658368" y="4873752"/>
            <a:ext cx="365760" cy="365760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58368" y="4873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1188720" y="4828032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2519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Youth and women’s NGOs</a:t>
            </a:r>
            <a:endParaRPr lang="en-US" sz="1080" dirty="0"/>
          </a:p>
        </p:txBody>
      </p:sp>
      <p:sp>
        <p:nvSpPr>
          <p:cNvPr id="24" name="Text 20"/>
          <p:cNvSpPr txBox="1"/>
          <p:nvPr/>
        </p:nvSpPr>
        <p:spPr>
          <a:xfrm>
            <a:off x="3172968" y="4791456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70" dirty="0">
                <a:solidFill>
                  <a:srgbClr val="7166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Sponsor access for communities they already serve.</a:t>
            </a:r>
            <a:endParaRPr lang="en-US" sz="870" dirty="0"/>
          </a:p>
        </p:txBody>
      </p:sp>
      <p:sp>
        <p:nvSpPr>
          <p:cNvPr id="25" name="Shape 21"/>
          <p:cNvSpPr/>
          <p:nvPr/>
        </p:nvSpPr>
        <p:spPr>
          <a:xfrm>
            <a:off x="658368" y="5477256"/>
            <a:ext cx="365760" cy="365760"/>
          </a:xfrm>
          <a:prstGeom prst="ellipse">
            <a:avLst/>
          </a:prstGeom>
          <a:solidFill>
            <a:srgbClr val="137A65"/>
          </a:solidFill>
          <a:ln w="12700">
            <a:solidFill>
              <a:srgbClr val="137A65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58368" y="5477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1188720" y="5431536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2519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Clinics and community programmes</a:t>
            </a:r>
            <a:endParaRPr lang="en-US" sz="1080" dirty="0"/>
          </a:p>
        </p:txBody>
      </p:sp>
      <p:sp>
        <p:nvSpPr>
          <p:cNvPr id="28" name="Text 24"/>
          <p:cNvSpPr txBox="1"/>
          <p:nvPr/>
        </p:nvSpPr>
        <p:spPr>
          <a:xfrm>
            <a:off x="3172968" y="5394960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70" dirty="0">
                <a:solidFill>
                  <a:srgbClr val="7166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Give users an easier path into appropriate care.</a:t>
            </a:r>
            <a:endParaRPr lang="en-US" sz="870" dirty="0"/>
          </a:p>
        </p:txBody>
      </p:sp>
      <p:sp>
        <p:nvSpPr>
          <p:cNvPr id="29" name="Text 25"/>
          <p:cNvSpPr txBox="1"/>
          <p:nvPr/>
        </p:nvSpPr>
        <p:spPr>
          <a:xfrm>
            <a:off x="658368" y="6510528"/>
            <a:ext cx="10012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70" dirty="0">
                <a:solidFill>
                  <a:srgbClr val="A594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UNICEF and WHO. SisterCare will validate local demand and pricing through supervised pilots.</a:t>
            </a:r>
            <a:endParaRPr lang="en-US" sz="67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310896"/>
            <a:ext cx="310896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33272" y="30175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A17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SisterCare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11018520" y="32004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spc="120" kern="0" dirty="0">
                <a:solidFill>
                  <a:srgbClr val="FF0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58368" y="9601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70" kern="0" dirty="0">
                <a:solidFill>
                  <a:srgbClr val="FF0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PROGRESS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658368" y="1243584"/>
            <a:ext cx="10835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192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core platform is already working.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58368" y="1901952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7166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are now preparing it for supervised pilots and real-world learning.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58368" y="6473952"/>
            <a:ext cx="10835640" cy="0"/>
          </a:xfrm>
          <a:prstGeom prst="line">
            <a:avLst/>
          </a:prstGeom>
          <a:noFill/>
          <a:ln w="12700">
            <a:solidFill>
              <a:srgbClr val="EEDDEE"/>
            </a:solidFill>
            <a:prstDash val="solid"/>
          </a:ln>
        </p:spPr>
      </p:sp>
      <p:pic>
        <p:nvPicPr>
          <p:cNvPr id="9" name="Image 1" descr="A professional counsellor providing remote suppo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560320"/>
            <a:ext cx="4791456" cy="354787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14400" y="5376672"/>
            <a:ext cx="4279392" cy="512064"/>
          </a:xfrm>
          <a:prstGeom prst="roundRect">
            <a:avLst>
              <a:gd name="adj" fmla="val 25000"/>
            </a:avLst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97280" y="5376672"/>
            <a:ext cx="3913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Verified human care is part of the product.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5788152" y="2578608"/>
            <a:ext cx="2487168" cy="914400"/>
          </a:xfrm>
          <a:prstGeom prst="roundRect">
            <a:avLst>
              <a:gd name="adj" fmla="val 15000"/>
            </a:avLst>
          </a:prstGeom>
          <a:solidFill>
            <a:srgbClr val="FFF7FF"/>
          </a:solidFill>
          <a:ln w="12700">
            <a:solidFill>
              <a:srgbClr val="FFF7F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952744" y="2697480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00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218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5952744" y="3108960"/>
            <a:ext cx="21579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7166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automated tests passing</a:t>
            </a:r>
            <a:endParaRPr lang="en-US" sz="920" dirty="0"/>
          </a:p>
        </p:txBody>
      </p:sp>
      <p:sp>
        <p:nvSpPr>
          <p:cNvPr id="15" name="Shape 11"/>
          <p:cNvSpPr/>
          <p:nvPr/>
        </p:nvSpPr>
        <p:spPr>
          <a:xfrm>
            <a:off x="8558784" y="2578608"/>
            <a:ext cx="2487168" cy="914400"/>
          </a:xfrm>
          <a:prstGeom prst="roundRect">
            <a:avLst>
              <a:gd name="adj" fmla="val 15000"/>
            </a:avLst>
          </a:prstGeom>
          <a:solidFill>
            <a:srgbClr val="FFE8FF"/>
          </a:solidFill>
          <a:ln w="12700">
            <a:solidFill>
              <a:srgbClr val="FFE8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723376" y="2697480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00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44</a:t>
            </a:r>
            <a:endParaRPr lang="en-US" sz="2200" dirty="0"/>
          </a:p>
        </p:txBody>
      </p:sp>
      <p:sp>
        <p:nvSpPr>
          <p:cNvPr id="17" name="Text 13"/>
          <p:cNvSpPr txBox="1"/>
          <p:nvPr/>
        </p:nvSpPr>
        <p:spPr>
          <a:xfrm>
            <a:off x="8723376" y="3108960"/>
            <a:ext cx="21579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7166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files passing</a:t>
            </a:r>
            <a:endParaRPr lang="en-US" sz="920" dirty="0"/>
          </a:p>
        </p:txBody>
      </p:sp>
      <p:sp>
        <p:nvSpPr>
          <p:cNvPr id="18" name="Shape 14"/>
          <p:cNvSpPr/>
          <p:nvPr/>
        </p:nvSpPr>
        <p:spPr>
          <a:xfrm>
            <a:off x="5788152" y="3712464"/>
            <a:ext cx="2487168" cy="914400"/>
          </a:xfrm>
          <a:prstGeom prst="roundRect">
            <a:avLst>
              <a:gd name="adj" fmla="val 15000"/>
            </a:avLst>
          </a:prstGeom>
          <a:solidFill>
            <a:srgbClr val="E5F4EF"/>
          </a:solidFill>
          <a:ln w="12700">
            <a:solidFill>
              <a:srgbClr val="E5F4E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952744" y="3831336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37A6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6"/>
          <p:cNvSpPr txBox="1"/>
          <p:nvPr/>
        </p:nvSpPr>
        <p:spPr>
          <a:xfrm>
            <a:off x="5952744" y="4242816"/>
            <a:ext cx="21579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7166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member, counsellor and admin workspaces</a:t>
            </a:r>
            <a:endParaRPr lang="en-US" sz="920" dirty="0"/>
          </a:p>
        </p:txBody>
      </p:sp>
      <p:sp>
        <p:nvSpPr>
          <p:cNvPr id="21" name="Shape 17"/>
          <p:cNvSpPr/>
          <p:nvPr/>
        </p:nvSpPr>
        <p:spPr>
          <a:xfrm>
            <a:off x="8558784" y="3712464"/>
            <a:ext cx="2487168" cy="914400"/>
          </a:xfrm>
          <a:prstGeom prst="roundRect">
            <a:avLst>
              <a:gd name="adj" fmla="val 15000"/>
            </a:avLst>
          </a:prstGeom>
          <a:solidFill>
            <a:srgbClr val="FBEDE6"/>
          </a:solidFill>
          <a:ln w="12700">
            <a:solidFill>
              <a:srgbClr val="FBED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8723376" y="3831336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D86E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2200" dirty="0"/>
          </a:p>
        </p:txBody>
      </p:sp>
      <p:sp>
        <p:nvSpPr>
          <p:cNvPr id="23" name="Text 19"/>
          <p:cNvSpPr txBox="1"/>
          <p:nvPr/>
        </p:nvSpPr>
        <p:spPr>
          <a:xfrm>
            <a:off x="8723376" y="4242816"/>
            <a:ext cx="21579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7166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connected support platform</a:t>
            </a:r>
            <a:endParaRPr lang="en-US" sz="920" dirty="0"/>
          </a:p>
        </p:txBody>
      </p:sp>
      <p:sp>
        <p:nvSpPr>
          <p:cNvPr id="24" name="Shape 20"/>
          <p:cNvSpPr/>
          <p:nvPr/>
        </p:nvSpPr>
        <p:spPr>
          <a:xfrm>
            <a:off x="5788152" y="4983480"/>
            <a:ext cx="5257800" cy="1124712"/>
          </a:xfrm>
          <a:prstGeom prst="roundRect">
            <a:avLst>
              <a:gd name="adj" fmla="val 13008"/>
            </a:avLst>
          </a:prstGeom>
          <a:solidFill>
            <a:srgbClr val="FFFFFF"/>
          </a:solidFill>
          <a:ln w="12700">
            <a:solidFill>
              <a:srgbClr val="EEDDEE"/>
            </a:solidFill>
            <a:prstDash val="solid"/>
          </a:ln>
          <a:effectLst>
            <a:outerShdw sx="100000" sy="100000" kx="0" ky="0" algn="bl" rotWithShape="0" blurRad="20320" dist="50800" dir="2700000">
              <a:srgbClr val="4A1748">
                <a:alpha val="10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6016752" y="5212080"/>
            <a:ext cx="1261872" cy="310896"/>
          </a:xfrm>
          <a:prstGeom prst="roundRect">
            <a:avLst>
              <a:gd name="adj" fmla="val 50000"/>
            </a:avLst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089904" y="5212080"/>
            <a:ext cx="1115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STAGE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7498080" y="5166360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519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Pre-production hardening</a:t>
            </a:r>
            <a:endParaRPr lang="en-US" sz="1400" dirty="0"/>
          </a:p>
        </p:txBody>
      </p:sp>
      <p:sp>
        <p:nvSpPr>
          <p:cNvPr id="28" name="Text 24"/>
          <p:cNvSpPr txBox="1"/>
          <p:nvPr/>
        </p:nvSpPr>
        <p:spPr>
          <a:xfrm>
            <a:off x="7498080" y="5522976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7166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Next: supervised pilot, safety review and proof of user value.</a:t>
            </a:r>
            <a:endParaRPr lang="en-US" sz="960" dirty="0"/>
          </a:p>
        </p:txBody>
      </p:sp>
      <p:sp>
        <p:nvSpPr>
          <p:cNvPr id="29" name="Text 25"/>
          <p:cNvSpPr txBox="1"/>
          <p:nvPr/>
        </p:nvSpPr>
        <p:spPr>
          <a:xfrm>
            <a:off x="658368" y="6510528"/>
            <a:ext cx="10012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70" dirty="0">
                <a:solidFill>
                  <a:srgbClr val="A594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SisterCare repository test run, 3 Aug 2026. No user or revenue traction is claimed before pilots.</a:t>
            </a:r>
            <a:endParaRPr lang="en-US" sz="67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310896"/>
            <a:ext cx="310896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33272" y="30175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A17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SisterCare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11018520" y="32004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spc="120" kern="0" dirty="0">
                <a:solidFill>
                  <a:srgbClr val="FF0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58368" y="9601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70" kern="0" dirty="0">
                <a:solidFill>
                  <a:srgbClr val="FF0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MODEL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658368" y="1243584"/>
            <a:ext cx="10835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192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Free tracking brings users in. Premium support creates revenue.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58368" y="1901952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7166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Users can pay directly, or a partner can sponsor premium access.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58368" y="6473952"/>
            <a:ext cx="10835640" cy="0"/>
          </a:xfrm>
          <a:prstGeom prst="line">
            <a:avLst/>
          </a:prstGeom>
          <a:noFill/>
          <a:ln w="12700">
            <a:solidFill>
              <a:srgbClr val="EEDDE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58368" y="2624328"/>
            <a:ext cx="3401568" cy="2852928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EEDDEE"/>
            </a:solidFill>
            <a:prstDash val="solid"/>
          </a:ln>
          <a:effectLst>
            <a:outerShdw sx="100000" sy="100000" kx="0" ky="0" algn="bl" rotWithShape="0" blurRad="20320" dist="50800" dir="2700000">
              <a:srgbClr val="4A1748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05256" y="2907792"/>
            <a:ext cx="1078992" cy="310896"/>
          </a:xfrm>
          <a:prstGeom prst="roundRect">
            <a:avLst>
              <a:gd name="adj" fmla="val 50000"/>
            </a:avLst>
          </a:prstGeom>
          <a:solidFill>
            <a:srgbClr val="FFE8FF"/>
          </a:solidFill>
          <a:ln w="12700">
            <a:solidFill>
              <a:srgbClr val="FFE8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78408" y="2907792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17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FREE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905256" y="3511296"/>
            <a:ext cx="28529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519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Cycle tracking only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905256" y="4114800"/>
            <a:ext cx="28529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7166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Users record and follow their menstrual cycle at no cost.</a:t>
            </a:r>
            <a:endParaRPr lang="en-US" sz="1020" dirty="0"/>
          </a:p>
        </p:txBody>
      </p:sp>
      <p:sp>
        <p:nvSpPr>
          <p:cNvPr id="14" name="Shape 11"/>
          <p:cNvSpPr/>
          <p:nvPr/>
        </p:nvSpPr>
        <p:spPr>
          <a:xfrm>
            <a:off x="905256" y="4910328"/>
            <a:ext cx="2834640" cy="0"/>
          </a:xfrm>
          <a:prstGeom prst="line">
            <a:avLst/>
          </a:prstGeom>
          <a:noFill/>
          <a:ln w="15240">
            <a:solidFill>
              <a:srgbClr val="EEDDE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05256" y="5038344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4A17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 trust and reach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4343400" y="2624328"/>
            <a:ext cx="3401568" cy="2852928"/>
          </a:xfrm>
          <a:prstGeom prst="roundRect">
            <a:avLst>
              <a:gd name="adj" fmla="val 5769"/>
            </a:avLst>
          </a:prstGeom>
          <a:solidFill>
            <a:srgbClr val="4A1748"/>
          </a:solidFill>
          <a:ln w="12700">
            <a:solidFill>
              <a:srgbClr val="4A1748"/>
            </a:solidFill>
            <a:prstDash val="solid"/>
          </a:ln>
          <a:effectLst>
            <a:outerShdw sx="100000" sy="100000" kx="0" ky="0" algn="bl" rotWithShape="0" blurRad="20320" dist="50800" dir="2700000">
              <a:srgbClr val="4A1748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590288" y="2907792"/>
            <a:ext cx="1078992" cy="310896"/>
          </a:xfrm>
          <a:prstGeom prst="roundRect">
            <a:avLst>
              <a:gd name="adj" fmla="val 50000"/>
            </a:avLst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663440" y="2907792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PREMIUM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4590288" y="3511296"/>
            <a:ext cx="28529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+ counsellor access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4590288" y="4114800"/>
            <a:ext cx="28529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EEDD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monthly or yearly plan unlocks the AI agent and verified counsellors.</a:t>
            </a:r>
            <a:endParaRPr lang="en-US" sz="1020" dirty="0"/>
          </a:p>
        </p:txBody>
      </p:sp>
      <p:sp>
        <p:nvSpPr>
          <p:cNvPr id="21" name="Shape 18"/>
          <p:cNvSpPr/>
          <p:nvPr/>
        </p:nvSpPr>
        <p:spPr>
          <a:xfrm>
            <a:off x="4590288" y="4910328"/>
            <a:ext cx="2834640" cy="0"/>
          </a:xfrm>
          <a:prstGeom prst="line">
            <a:avLst/>
          </a:prstGeom>
          <a:noFill/>
          <a:ln w="15240">
            <a:solidFill>
              <a:srgbClr val="FF00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590288" y="5038344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FF0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 revenue</a:t>
            </a:r>
            <a:endParaRPr lang="en-US" sz="940" dirty="0"/>
          </a:p>
        </p:txBody>
      </p:sp>
      <p:sp>
        <p:nvSpPr>
          <p:cNvPr id="23" name="Shape 20"/>
          <p:cNvSpPr/>
          <p:nvPr/>
        </p:nvSpPr>
        <p:spPr>
          <a:xfrm>
            <a:off x="8028432" y="2624328"/>
            <a:ext cx="3401568" cy="2852928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EEDDEE"/>
            </a:solidFill>
            <a:prstDash val="solid"/>
          </a:ln>
          <a:effectLst>
            <a:outerShdw sx="100000" sy="100000" kx="0" ky="0" algn="bl" rotWithShape="0" blurRad="20320" dist="50800" dir="2700000">
              <a:srgbClr val="4A1748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275320" y="2907792"/>
            <a:ext cx="1078992" cy="310896"/>
          </a:xfrm>
          <a:prstGeom prst="roundRect">
            <a:avLst>
              <a:gd name="adj" fmla="val 50000"/>
            </a:avLst>
          </a:prstGeom>
          <a:solidFill>
            <a:srgbClr val="FFE8FF"/>
          </a:solidFill>
          <a:ln w="12700">
            <a:solidFill>
              <a:srgbClr val="FFE8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348472" y="2907792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17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SPONSORED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8275320" y="3511296"/>
            <a:ext cx="28529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519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Premium for groups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8275320" y="4114800"/>
            <a:ext cx="28529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7166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Schools, NGOs and funders pay for premium access for selected users.</a:t>
            </a:r>
            <a:endParaRPr lang="en-US" sz="1020" dirty="0"/>
          </a:p>
        </p:txBody>
      </p:sp>
      <p:sp>
        <p:nvSpPr>
          <p:cNvPr id="28" name="Shape 25"/>
          <p:cNvSpPr/>
          <p:nvPr/>
        </p:nvSpPr>
        <p:spPr>
          <a:xfrm>
            <a:off x="8275320" y="4910328"/>
            <a:ext cx="2834640" cy="0"/>
          </a:xfrm>
          <a:prstGeom prst="line">
            <a:avLst/>
          </a:prstGeom>
          <a:noFill/>
          <a:ln w="15240">
            <a:solidFill>
              <a:srgbClr val="EEDDEE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275320" y="5038344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4A17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Partner revenue</a:t>
            </a:r>
            <a:endParaRPr lang="en-US" sz="940" dirty="0"/>
          </a:p>
        </p:txBody>
      </p:sp>
      <p:sp>
        <p:nvSpPr>
          <p:cNvPr id="30" name="Shape 27"/>
          <p:cNvSpPr/>
          <p:nvPr/>
        </p:nvSpPr>
        <p:spPr>
          <a:xfrm>
            <a:off x="658368" y="5769864"/>
            <a:ext cx="10826496" cy="393192"/>
          </a:xfrm>
          <a:prstGeom prst="roundRect">
            <a:avLst>
              <a:gd name="adj" fmla="val 27907"/>
            </a:avLst>
          </a:prstGeom>
          <a:solidFill>
            <a:srgbClr val="FFF7FF"/>
          </a:solidFill>
          <a:ln w="12700">
            <a:solidFill>
              <a:srgbClr val="FFF7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96112" y="5769864"/>
            <a:ext cx="103510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4A17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ads. No sale of private health data. Pilot pricing will be tested for affordability.</a:t>
            </a:r>
            <a:endParaRPr lang="en-US" sz="10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310896"/>
            <a:ext cx="310896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33272" y="30175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A17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SisterCare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11018520" y="32004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spc="120" kern="0" dirty="0">
                <a:solidFill>
                  <a:srgbClr val="FF0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58368" y="9601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70" kern="0" dirty="0">
                <a:solidFill>
                  <a:srgbClr val="FF0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 TO MARKET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658368" y="1243584"/>
            <a:ext cx="10835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192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Start small, prove trust, then grow.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58368" y="1901952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7166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Our first growth comes through trusted partners, not expensive mass advertising.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58368" y="6473952"/>
            <a:ext cx="10835640" cy="0"/>
          </a:xfrm>
          <a:prstGeom prst="line">
            <a:avLst/>
          </a:prstGeom>
          <a:noFill/>
          <a:ln w="12700">
            <a:solidFill>
              <a:srgbClr val="EEDDE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97280" y="3666744"/>
            <a:ext cx="9902952" cy="0"/>
          </a:xfrm>
          <a:prstGeom prst="line">
            <a:avLst/>
          </a:prstGeom>
          <a:noFill/>
          <a:ln w="33020">
            <a:solidFill>
              <a:srgbClr val="FF00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266090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19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1252728" y="3099816"/>
            <a:ext cx="1170432" cy="310896"/>
          </a:xfrm>
          <a:prstGeom prst="roundRect">
            <a:avLst>
              <a:gd name="adj" fmla="val 50000"/>
            </a:avLst>
          </a:prstGeom>
          <a:solidFill>
            <a:srgbClr val="FFE8FF"/>
          </a:solidFill>
          <a:ln w="12700">
            <a:solidFill>
              <a:srgbClr val="FFE8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325880" y="3099816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17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0–3 MONTHS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618488" y="3456432"/>
            <a:ext cx="429768" cy="42976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618488" y="3456432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4160520"/>
            <a:ext cx="2395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80" dirty="0">
                <a:solidFill>
                  <a:srgbClr val="7166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 with 2–3 schools, NGOs or community programmes.</a:t>
            </a:r>
            <a:endParaRPr lang="en-US" sz="980" dirty="0"/>
          </a:p>
        </p:txBody>
      </p:sp>
      <p:sp>
        <p:nvSpPr>
          <p:cNvPr id="16" name="Text 13"/>
          <p:cNvSpPr txBox="1"/>
          <p:nvPr/>
        </p:nvSpPr>
        <p:spPr>
          <a:xfrm>
            <a:off x="3456432" y="266090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19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4023360" y="3099816"/>
            <a:ext cx="1170432" cy="310896"/>
          </a:xfrm>
          <a:prstGeom prst="roundRect">
            <a:avLst>
              <a:gd name="adj" fmla="val 50000"/>
            </a:avLst>
          </a:prstGeom>
          <a:solidFill>
            <a:srgbClr val="FFE8FF"/>
          </a:solidFill>
          <a:ln w="12700">
            <a:solidFill>
              <a:srgbClr val="FFE8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096512" y="3099816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17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3–6 MONTHS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4389120" y="3456432"/>
            <a:ext cx="429768" cy="42976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89120" y="3456432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3502152" y="4160520"/>
            <a:ext cx="2395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80" dirty="0">
                <a:solidFill>
                  <a:srgbClr val="7166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 safe disclosure, premium use and successful support handoffs.</a:t>
            </a:r>
            <a:endParaRPr lang="en-US" sz="980" dirty="0"/>
          </a:p>
        </p:txBody>
      </p:sp>
      <p:sp>
        <p:nvSpPr>
          <p:cNvPr id="22" name="Text 19"/>
          <p:cNvSpPr txBox="1"/>
          <p:nvPr/>
        </p:nvSpPr>
        <p:spPr>
          <a:xfrm>
            <a:off x="6227064" y="266090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19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Prove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793992" y="3099816"/>
            <a:ext cx="1170432" cy="310896"/>
          </a:xfrm>
          <a:prstGeom prst="roundRect">
            <a:avLst>
              <a:gd name="adj" fmla="val 50000"/>
            </a:avLst>
          </a:prstGeom>
          <a:solidFill>
            <a:srgbClr val="FFE8FF"/>
          </a:solidFill>
          <a:ln w="12700">
            <a:solidFill>
              <a:srgbClr val="FFE8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867144" y="3099816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17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6–9 MONTHS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7159752" y="3456432"/>
            <a:ext cx="429768" cy="42976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159752" y="3456432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6272784" y="4160520"/>
            <a:ext cx="2395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80" dirty="0">
                <a:solidFill>
                  <a:srgbClr val="7166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Share clear results and improve pricing, safety and operations.</a:t>
            </a:r>
            <a:endParaRPr lang="en-US" sz="980" dirty="0"/>
          </a:p>
        </p:txBody>
      </p:sp>
      <p:sp>
        <p:nvSpPr>
          <p:cNvPr id="28" name="Text 25"/>
          <p:cNvSpPr txBox="1"/>
          <p:nvPr/>
        </p:nvSpPr>
        <p:spPr>
          <a:xfrm>
            <a:off x="8997696" y="266090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19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9564624" y="3099816"/>
            <a:ext cx="1170432" cy="310896"/>
          </a:xfrm>
          <a:prstGeom prst="roundRect">
            <a:avLst>
              <a:gd name="adj" fmla="val 50000"/>
            </a:avLst>
          </a:prstGeom>
          <a:solidFill>
            <a:srgbClr val="FFE8FF"/>
          </a:solidFill>
          <a:ln w="12700">
            <a:solidFill>
              <a:srgbClr val="FFE8F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637776" y="3099816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17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9–12 MONTHS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9930384" y="3456432"/>
            <a:ext cx="429768" cy="429768"/>
          </a:xfrm>
          <a:prstGeom prst="ellipse">
            <a:avLst/>
          </a:prstGeom>
          <a:solidFill>
            <a:srgbClr val="137A65"/>
          </a:solidFill>
          <a:ln w="12700">
            <a:solidFill>
              <a:srgbClr val="137A65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930384" y="3456432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9043416" y="4160520"/>
            <a:ext cx="2395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80" dirty="0">
                <a:solidFill>
                  <a:srgbClr val="7166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Repeat the model with more partners and enter new communities.</a:t>
            </a:r>
            <a:endParaRPr lang="en-US" sz="980" dirty="0"/>
          </a:p>
        </p:txBody>
      </p:sp>
      <p:sp>
        <p:nvSpPr>
          <p:cNvPr id="34" name="Shape 31"/>
          <p:cNvSpPr/>
          <p:nvPr/>
        </p:nvSpPr>
        <p:spPr>
          <a:xfrm>
            <a:off x="658368" y="5440680"/>
            <a:ext cx="10826496" cy="621792"/>
          </a:xfrm>
          <a:prstGeom prst="roundRect">
            <a:avLst>
              <a:gd name="adj" fmla="val 22059"/>
            </a:avLst>
          </a:prstGeom>
          <a:solidFill>
            <a:srgbClr val="4A1748"/>
          </a:solidFill>
          <a:ln w="12700">
            <a:solidFill>
              <a:srgbClr val="4A1748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96112" y="5440680"/>
            <a:ext cx="1097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0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result</a:t>
            </a:r>
            <a:endParaRPr lang="en-US" sz="1050" dirty="0"/>
          </a:p>
        </p:txBody>
      </p:sp>
      <p:sp>
        <p:nvSpPr>
          <p:cNvPr id="36" name="Text 33"/>
          <p:cNvSpPr txBox="1"/>
          <p:nvPr/>
        </p:nvSpPr>
        <p:spPr>
          <a:xfrm>
            <a:off x="1874520" y="5440680"/>
            <a:ext cx="92537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Users say SisterCare helped them ask a difficult question and take a safe next step.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310896"/>
            <a:ext cx="310896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33272" y="30175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A17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SisterCare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11018520" y="32004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spc="120" kern="0" dirty="0">
                <a:solidFill>
                  <a:srgbClr val="FF0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58368" y="9601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70" kern="0" dirty="0">
                <a:solidFill>
                  <a:srgbClr val="FF0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TRUST AND FUNDING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658368" y="1243584"/>
            <a:ext cx="10835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192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Trust is the product—not an extra feature.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58368" y="1901952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7166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use Stellar only to prove counsellor credentials cannot be quietly changed.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58368" y="6473952"/>
            <a:ext cx="10835640" cy="0"/>
          </a:xfrm>
          <a:prstGeom prst="line">
            <a:avLst/>
          </a:prstGeom>
          <a:noFill/>
          <a:ln w="12700">
            <a:solidFill>
              <a:srgbClr val="EEDDE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8368" y="261518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40" kern="0" dirty="0">
                <a:solidFill>
                  <a:srgbClr val="FF0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STAYS PRIVATE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694944" y="3054096"/>
            <a:ext cx="192024" cy="192024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24128" y="2980944"/>
            <a:ext cx="3611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519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Names and identity details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94944" y="3593592"/>
            <a:ext cx="192024" cy="192024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24128" y="3520440"/>
            <a:ext cx="3611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519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Counsellor documents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94944" y="4133088"/>
            <a:ext cx="192024" cy="192024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24128" y="4059936"/>
            <a:ext cx="3611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519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Health records and cycle data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94944" y="4672584"/>
            <a:ext cx="192024" cy="192024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24128" y="4599432"/>
            <a:ext cx="3611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519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Chats and audio sessions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58368" y="5276088"/>
            <a:ext cx="4151376" cy="658368"/>
          </a:xfrm>
          <a:prstGeom prst="roundRect">
            <a:avLst>
              <a:gd name="adj" fmla="val 19444"/>
            </a:avLst>
          </a:prstGeom>
          <a:solidFill>
            <a:srgbClr val="FFF7FF"/>
          </a:solidFill>
          <a:ln w="12700">
            <a:solidFill>
              <a:srgbClr val="FFF7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96112" y="5276088"/>
            <a:ext cx="36758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4A17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a proof of credential status goes on Stellar. No wallets, tokens or payments.</a:t>
            </a:r>
            <a:endParaRPr lang="en-US" sz="1030" dirty="0"/>
          </a:p>
        </p:txBody>
      </p:sp>
      <p:sp>
        <p:nvSpPr>
          <p:cNvPr id="20" name="Shape 17"/>
          <p:cNvSpPr/>
          <p:nvPr/>
        </p:nvSpPr>
        <p:spPr>
          <a:xfrm>
            <a:off x="5230368" y="2551176"/>
            <a:ext cx="0" cy="3520440"/>
          </a:xfrm>
          <a:prstGeom prst="line">
            <a:avLst/>
          </a:prstGeom>
          <a:noFill/>
          <a:ln w="15240">
            <a:solidFill>
              <a:srgbClr val="EEDDE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596128" y="2596896"/>
            <a:ext cx="1024128" cy="310896"/>
          </a:xfrm>
          <a:prstGeom prst="roundRect">
            <a:avLst>
              <a:gd name="adj" fmla="val 50000"/>
            </a:avLst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669280" y="2596896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GRANT ASK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5596128" y="3090672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4A174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US$150k</a:t>
            </a:r>
            <a:endParaRPr lang="en-US" sz="2900" dirty="0"/>
          </a:p>
        </p:txBody>
      </p:sp>
      <p:sp>
        <p:nvSpPr>
          <p:cNvPr id="24" name="Text 21"/>
          <p:cNvSpPr txBox="1"/>
          <p:nvPr/>
        </p:nvSpPr>
        <p:spPr>
          <a:xfrm>
            <a:off x="5596128" y="3675888"/>
            <a:ext cx="257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7166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Milestone-based funding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8275320" y="278892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0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40%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8887968" y="2770632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70" dirty="0">
                <a:solidFill>
                  <a:srgbClr val="7166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 and Stellar proof</a:t>
            </a:r>
            <a:endParaRPr lang="en-US" sz="970" dirty="0"/>
          </a:p>
        </p:txBody>
      </p:sp>
      <p:sp>
        <p:nvSpPr>
          <p:cNvPr id="27" name="Text 24"/>
          <p:cNvSpPr txBox="1"/>
          <p:nvPr/>
        </p:nvSpPr>
        <p:spPr>
          <a:xfrm>
            <a:off x="8275320" y="335584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0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25%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8887968" y="333756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70" dirty="0">
                <a:solidFill>
                  <a:srgbClr val="7166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Counsellors and safety</a:t>
            </a:r>
            <a:endParaRPr lang="en-US" sz="970" dirty="0"/>
          </a:p>
        </p:txBody>
      </p:sp>
      <p:sp>
        <p:nvSpPr>
          <p:cNvPr id="29" name="Text 26"/>
          <p:cNvSpPr txBox="1"/>
          <p:nvPr/>
        </p:nvSpPr>
        <p:spPr>
          <a:xfrm>
            <a:off x="8275320" y="392277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0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20%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8887968" y="3904488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70" dirty="0">
                <a:solidFill>
                  <a:srgbClr val="7166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Pilots and evaluation</a:t>
            </a:r>
            <a:endParaRPr lang="en-US" sz="970" dirty="0"/>
          </a:p>
        </p:txBody>
      </p:sp>
      <p:sp>
        <p:nvSpPr>
          <p:cNvPr id="31" name="Text 28"/>
          <p:cNvSpPr txBox="1"/>
          <p:nvPr/>
        </p:nvSpPr>
        <p:spPr>
          <a:xfrm>
            <a:off x="8275320" y="448970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0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10%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8887968" y="4471416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70" dirty="0">
                <a:solidFill>
                  <a:srgbClr val="7166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Security review</a:t>
            </a:r>
            <a:endParaRPr lang="en-US" sz="970" dirty="0"/>
          </a:p>
        </p:txBody>
      </p:sp>
      <p:sp>
        <p:nvSpPr>
          <p:cNvPr id="33" name="Text 30"/>
          <p:cNvSpPr txBox="1"/>
          <p:nvPr/>
        </p:nvSpPr>
        <p:spPr>
          <a:xfrm>
            <a:off x="8275320" y="50566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0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5%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8887968" y="503834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70" dirty="0">
                <a:solidFill>
                  <a:srgbClr val="7166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Legal and operations</a:t>
            </a:r>
            <a:endParaRPr lang="en-US" sz="970" dirty="0"/>
          </a:p>
        </p:txBody>
      </p:sp>
      <p:sp>
        <p:nvSpPr>
          <p:cNvPr id="35" name="Shape 32"/>
          <p:cNvSpPr/>
          <p:nvPr/>
        </p:nvSpPr>
        <p:spPr>
          <a:xfrm>
            <a:off x="5596128" y="5340096"/>
            <a:ext cx="5431536" cy="594360"/>
          </a:xfrm>
          <a:prstGeom prst="roundRect">
            <a:avLst>
              <a:gd name="adj" fmla="val 21538"/>
            </a:avLst>
          </a:prstGeom>
          <a:solidFill>
            <a:srgbClr val="4A1748"/>
          </a:solidFill>
          <a:ln w="12700">
            <a:solidFill>
              <a:srgbClr val="4A1748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52160" y="5340096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Result: a safe pilot, verified counsellor trust and clear proof of user value.</a:t>
            </a:r>
            <a:endParaRPr lang="en-US" sz="1080" dirty="0"/>
          </a:p>
        </p:txBody>
      </p:sp>
      <p:sp>
        <p:nvSpPr>
          <p:cNvPr id="37" name="Text 34"/>
          <p:cNvSpPr txBox="1"/>
          <p:nvPr/>
        </p:nvSpPr>
        <p:spPr>
          <a:xfrm>
            <a:off x="658368" y="6510528"/>
            <a:ext cx="10012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70" dirty="0">
                <a:solidFill>
                  <a:srgbClr val="A594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Stellar Community Fund Build awards currently support milestone-based projects with awards up to US$150k equivalent in XLM.</a:t>
            </a:r>
            <a:endParaRPr lang="en-US" sz="67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310896"/>
            <a:ext cx="310896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33272" y="30175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A17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SisterCare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11018520" y="32004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0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658368" y="1060704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060704"/>
            <a:ext cx="768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TEAM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658368" y="1572768"/>
            <a:ext cx="76078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5192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Three people building one trusted place to ask for help.</a:t>
            </a:r>
            <a:endParaRPr lang="en-US" sz="2900" dirty="0"/>
          </a:p>
        </p:txBody>
      </p:sp>
      <p:sp>
        <p:nvSpPr>
          <p:cNvPr id="8" name="Shape 5"/>
          <p:cNvSpPr/>
          <p:nvPr/>
        </p:nvSpPr>
        <p:spPr>
          <a:xfrm>
            <a:off x="658368" y="2816352"/>
            <a:ext cx="2487168" cy="1417320"/>
          </a:xfrm>
          <a:prstGeom prst="roundRect">
            <a:avLst>
              <a:gd name="adj" fmla="val 10323"/>
            </a:avLst>
          </a:prstGeom>
          <a:solidFill>
            <a:srgbClr val="4A1748"/>
          </a:solidFill>
          <a:ln w="12700">
            <a:solidFill>
              <a:srgbClr val="4A1748"/>
            </a:solidFill>
            <a:prstDash val="solid"/>
          </a:ln>
          <a:effectLst>
            <a:outerShdw sx="100000" sy="100000" kx="0" ky="0" algn="bl" rotWithShape="0" blurRad="20320" dist="50800" dir="2700000">
              <a:srgbClr val="4A1748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14400" y="3072384"/>
            <a:ext cx="420624" cy="420624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14400" y="30723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3639312"/>
            <a:ext cx="19751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Kamwanga Raheem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410712" y="2816352"/>
            <a:ext cx="2487168" cy="1417320"/>
          </a:xfrm>
          <a:prstGeom prst="roundRect">
            <a:avLst>
              <a:gd name="adj" fmla="val 10323"/>
            </a:avLst>
          </a:prstGeom>
          <a:solidFill>
            <a:srgbClr val="FFF7FF"/>
          </a:solidFill>
          <a:ln w="12700">
            <a:solidFill>
              <a:srgbClr val="EEDDEE"/>
            </a:solidFill>
            <a:prstDash val="solid"/>
          </a:ln>
          <a:effectLst>
            <a:outerShdw sx="100000" sy="100000" kx="0" ky="0" algn="bl" rotWithShape="0" blurRad="20320" dist="50800" dir="2700000">
              <a:srgbClr val="4A1748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666744" y="3072384"/>
            <a:ext cx="420624" cy="420624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666744" y="30723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666744" y="3639312"/>
            <a:ext cx="19751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17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Kisakye Abigail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63056" y="2816352"/>
            <a:ext cx="2487168" cy="1417320"/>
          </a:xfrm>
          <a:prstGeom prst="roundRect">
            <a:avLst>
              <a:gd name="adj" fmla="val 10323"/>
            </a:avLst>
          </a:prstGeom>
          <a:solidFill>
            <a:srgbClr val="FFF7FF"/>
          </a:solidFill>
          <a:ln w="12700">
            <a:solidFill>
              <a:srgbClr val="EEDDEE"/>
            </a:solidFill>
            <a:prstDash val="solid"/>
          </a:ln>
          <a:effectLst>
            <a:outerShdw sx="100000" sy="100000" kx="0" ky="0" algn="bl" rotWithShape="0" blurRad="20320" dist="50800" dir="2700000">
              <a:srgbClr val="4A1748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419088" y="3072384"/>
            <a:ext cx="420624" cy="420624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19088" y="30723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KI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6419088" y="3639312"/>
            <a:ext cx="19751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17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Kaboggoza Ivan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8979408" y="1069848"/>
            <a:ext cx="2523744" cy="4736592"/>
          </a:xfrm>
          <a:prstGeom prst="roundRect">
            <a:avLst>
              <a:gd name="adj" fmla="val 6522"/>
            </a:avLst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53728" y="1417320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are asking for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9253728" y="1874520"/>
            <a:ext cx="1975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US$150k</a:t>
            </a:r>
            <a:endParaRPr lang="en-US" sz="2500" dirty="0"/>
          </a:p>
        </p:txBody>
      </p:sp>
      <p:sp>
        <p:nvSpPr>
          <p:cNvPr id="23" name="Text 20"/>
          <p:cNvSpPr txBox="1"/>
          <p:nvPr/>
        </p:nvSpPr>
        <p:spPr>
          <a:xfrm>
            <a:off x="9253728" y="2761488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pilot partners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9253728" y="3493008"/>
            <a:ext cx="1975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Clinical and Stellar advisors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9253728" y="4370832"/>
            <a:ext cx="1975104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253728" y="4599432"/>
            <a:ext cx="197510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Help make the first difficult question easier to ask.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658368" y="5074920"/>
            <a:ext cx="7863840" cy="713232"/>
          </a:xfrm>
          <a:prstGeom prst="roundRect">
            <a:avLst>
              <a:gd name="adj" fmla="val 17949"/>
            </a:avLst>
          </a:prstGeom>
          <a:solidFill>
            <a:srgbClr val="FFF7FF"/>
          </a:solidFill>
          <a:ln w="12700">
            <a:solidFill>
              <a:srgbClr val="FFF7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50976" y="5074920"/>
            <a:ext cx="72786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17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Ask privately. Track simply. Reach trusted support.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658368" y="6099048"/>
            <a:ext cx="2157984" cy="310896"/>
          </a:xfrm>
          <a:prstGeom prst="roundRect">
            <a:avLst>
              <a:gd name="adj" fmla="val 50000"/>
            </a:avLst>
          </a:prstGeom>
          <a:solidFill>
            <a:srgbClr val="4A1748"/>
          </a:solidFill>
          <a:ln w="12700">
            <a:solidFill>
              <a:srgbClr val="4A174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31520" y="609904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sister-care.vercel.app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SisterCare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SisterCare Pitch Deck</dc:title>
  <dc:subject>Private support for sensitive questions</dc:subject>
  <dc:creator>SisterCare</dc:creator>
  <cp:lastModifiedBy>SisterCare</cp:lastModifiedBy>
  <cp:revision>1</cp:revision>
  <dcterms:created xsi:type="dcterms:W3CDTF">2026-08-03T12:01:54Z</dcterms:created>
  <dcterms:modified xsi:type="dcterms:W3CDTF">2026-08-03T12:01:54Z</dcterms:modified>
</cp:coreProperties>
</file>