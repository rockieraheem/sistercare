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Sources: WHO Mental health of adolescents, 1 September 2025; UNICEF Menstrual hygiene. Global context only. These figures are not SisterCare traction.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EAN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sister-care.vercel.app/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4" Type="http://schemas.openxmlformats.org/officeDocument/2006/relationships/slideLayout" Target="../slideLayouts/slideLayout2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who.int/news-room/fact-sheets/detail/adolescent-mental-health" TargetMode="External"/><Relationship Id="rId4" Type="http://schemas.openxmlformats.org/officeDocument/2006/relationships/hyperlink" Target="https://www.unicef.org/wash/menstrual-hygiene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5" Type="http://schemas.openxmlformats.org/officeDocument/2006/relationships/slideLayout" Target="../slideLayouts/slideLayout2.xml"/><Relationship Id="rId6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hyperlink" Target="https://sister-care.vercel.app/" TargetMode="External"/><Relationship Id="rId1" Type="http://schemas.openxmlformats.org/officeDocument/2006/relationships/image" Target="../media/image-10-1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Young woman seeking private support on her phone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56832" y="0"/>
            <a:ext cx="5534863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6327648" y="0"/>
            <a:ext cx="658368" cy="6858000"/>
          </a:xfrm>
          <a:prstGeom prst="rect">
            <a:avLst/>
          </a:prstGeom>
          <a:solidFill>
            <a:srgbClr val="FFFFFF">
              <a:alpha val="9600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pic>
        <p:nvPicPr>
          <p:cNvPr id="4" name="Image 1" descr="SisterCare pink heart logo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1792" y="530352"/>
            <a:ext cx="475488" cy="475488"/>
          </a:xfrm>
          <a:prstGeom prst="rect">
            <a:avLst/>
          </a:prstGeom>
        </p:spPr>
      </p:pic>
      <p:sp>
        <p:nvSpPr>
          <p:cNvPr id="5" name="Text 1"/>
          <p:cNvSpPr/>
          <p:nvPr/>
        </p:nvSpPr>
        <p:spPr>
          <a:xfrm>
            <a:off x="1207008" y="521208"/>
            <a:ext cx="2194560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6" name="Shape 2"/>
          <p:cNvSpPr/>
          <p:nvPr/>
        </p:nvSpPr>
        <p:spPr>
          <a:xfrm>
            <a:off x="658368" y="1417320"/>
            <a:ext cx="1664208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7" name="Text 3"/>
          <p:cNvSpPr/>
          <p:nvPr/>
        </p:nvSpPr>
        <p:spPr>
          <a:xfrm>
            <a:off x="768096" y="1426464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 PITCH · 2026</a:t>
            </a:r>
            <a:endParaRPr lang="en-US" sz="900" dirty="0"/>
          </a:p>
        </p:txBody>
      </p:sp>
      <p:sp>
        <p:nvSpPr>
          <p:cNvPr id="8" name="Text 4"/>
          <p:cNvSpPr/>
          <p:nvPr/>
        </p:nvSpPr>
        <p:spPr>
          <a:xfrm>
            <a:off x="658368" y="1965960"/>
            <a:ext cx="544068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32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 private first step when a question feels too hard to ask.</a:t>
            </a:r>
            <a:endParaRPr lang="en-US" sz="3200" dirty="0"/>
          </a:p>
        </p:txBody>
      </p:sp>
      <p:sp>
        <p:nvSpPr>
          <p:cNvPr id="9" name="Text 5"/>
          <p:cNvSpPr/>
          <p:nvPr/>
        </p:nvSpPr>
        <p:spPr>
          <a:xfrm>
            <a:off x="658368" y="3730752"/>
            <a:ext cx="523036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5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 helps girls and women speak privately, keep useful body context and reach verified human support without shame.</a:t>
            </a:r>
            <a:endParaRPr lang="en-US" sz="1500" dirty="0"/>
          </a:p>
        </p:txBody>
      </p:sp>
      <p:sp>
        <p:nvSpPr>
          <p:cNvPr id="10" name="Shape 6"/>
          <p:cNvSpPr/>
          <p:nvPr/>
        </p:nvSpPr>
        <p:spPr>
          <a:xfrm>
            <a:off x="658368" y="4983480"/>
            <a:ext cx="1664208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1" name="Text 7"/>
          <p:cNvSpPr/>
          <p:nvPr/>
        </p:nvSpPr>
        <p:spPr>
          <a:xfrm>
            <a:off x="768096" y="4992624"/>
            <a:ext cx="144475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CONVERSATION</a:t>
            </a:r>
            <a:endParaRPr lang="en-US" sz="900" dirty="0"/>
          </a:p>
        </p:txBody>
      </p:sp>
      <p:sp>
        <p:nvSpPr>
          <p:cNvPr id="12" name="Shape 8"/>
          <p:cNvSpPr/>
          <p:nvPr/>
        </p:nvSpPr>
        <p:spPr>
          <a:xfrm>
            <a:off x="2450592" y="4983480"/>
            <a:ext cx="1335024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2560320" y="4992624"/>
            <a:ext cx="11155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CYCLE CONTEXT</a:t>
            </a:r>
            <a:endParaRPr lang="en-US" sz="900" dirty="0"/>
          </a:p>
        </p:txBody>
      </p:sp>
      <p:sp>
        <p:nvSpPr>
          <p:cNvPr id="14" name="Shape 10"/>
          <p:cNvSpPr/>
          <p:nvPr/>
        </p:nvSpPr>
        <p:spPr>
          <a:xfrm>
            <a:off x="3913632" y="4983480"/>
            <a:ext cx="1417320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5" name="Text 11"/>
          <p:cNvSpPr/>
          <p:nvPr/>
        </p:nvSpPr>
        <p:spPr>
          <a:xfrm>
            <a:off x="4023360" y="4992624"/>
            <a:ext cx="119786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SUPPORT</a:t>
            </a:r>
            <a:endParaRPr lang="en-US" sz="900" dirty="0"/>
          </a:p>
        </p:txBody>
      </p:sp>
      <p:sp>
        <p:nvSpPr>
          <p:cNvPr id="16" name="Text 12">
            <a:hlinkClick r:id="rId3" tooltip=""/>
          </p:cNvPr>
          <p:cNvSpPr/>
          <p:nvPr/>
        </p:nvSpPr>
        <p:spPr>
          <a:xfrm>
            <a:off x="658368" y="6089904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u="sng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sister-care.vercel.app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02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PROBLEM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Many important questions are never asked.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Stigma, fear of exposure and uncertainty about where to turn can delay support until a situation becomes harder.</a:t>
            </a:r>
            <a:endParaRPr lang="en-US" sz="1400" dirty="0"/>
          </a:p>
        </p:txBody>
      </p:sp>
      <p:pic>
        <p:nvPicPr>
          <p:cNvPr id="10" name="Image 1" descr="Young woman sitting alone while distressed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2743200"/>
            <a:ext cx="4919472" cy="327355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5806440" y="2743200"/>
            <a:ext cx="18288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6007608" y="294436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6007608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6519672" y="292608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Silence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6035040" y="34930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Fear of judgment keeps sensitive questions private.</a:t>
            </a:r>
            <a:endParaRPr lang="en-US" sz="1050" dirty="0"/>
          </a:p>
        </p:txBody>
      </p:sp>
      <p:sp>
        <p:nvSpPr>
          <p:cNvPr id="16" name="Shape 12"/>
          <p:cNvSpPr/>
          <p:nvPr/>
        </p:nvSpPr>
        <p:spPr>
          <a:xfrm>
            <a:off x="7818120" y="2743200"/>
            <a:ext cx="1828800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8019288" y="294436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8019288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8531352" y="2926080"/>
            <a:ext cx="914400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Confusion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8046720" y="3493008"/>
            <a:ext cx="1371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Search offers information without context or accountability.</a:t>
            </a:r>
            <a:endParaRPr lang="en-US" sz="1050" dirty="0"/>
          </a:p>
        </p:txBody>
      </p:sp>
      <p:sp>
        <p:nvSpPr>
          <p:cNvPr id="21" name="Shape 17"/>
          <p:cNvSpPr/>
          <p:nvPr/>
        </p:nvSpPr>
        <p:spPr>
          <a:xfrm>
            <a:off x="9829800" y="2743200"/>
            <a:ext cx="1773936" cy="1389888"/>
          </a:xfrm>
          <a:prstGeom prst="roundRect">
            <a:avLst>
              <a:gd name="adj" fmla="val 526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10030968" y="294436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10030968" y="294436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10543032" y="2926080"/>
            <a:ext cx="859536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Delay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10058400" y="3493008"/>
            <a:ext cx="1316736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Concerns grow while professional support is delayed.</a:t>
            </a:r>
            <a:endParaRPr lang="en-US" sz="1050" dirty="0"/>
          </a:p>
        </p:txBody>
      </p:sp>
      <p:sp>
        <p:nvSpPr>
          <p:cNvPr id="26" name="Shape 22"/>
          <p:cNvSpPr/>
          <p:nvPr/>
        </p:nvSpPr>
        <p:spPr>
          <a:xfrm>
            <a:off x="5806440" y="4407408"/>
            <a:ext cx="2743200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27" name="Text 23"/>
          <p:cNvSpPr/>
          <p:nvPr/>
        </p:nvSpPr>
        <p:spPr>
          <a:xfrm>
            <a:off x="5971032" y="4535424"/>
            <a:ext cx="2414016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 in 7</a:t>
            </a:r>
            <a:endParaRPr lang="en-US" sz="2300" dirty="0"/>
          </a:p>
        </p:txBody>
      </p:sp>
      <p:sp>
        <p:nvSpPr>
          <p:cNvPr id="28" name="Text 24"/>
          <p:cNvSpPr/>
          <p:nvPr/>
        </p:nvSpPr>
        <p:spPr>
          <a:xfrm>
            <a:off x="5971032" y="4919472"/>
            <a:ext cx="2414016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10–19-year-olds experience a mental health condition</a:t>
            </a:r>
            <a:endParaRPr lang="en-US" sz="1050" dirty="0"/>
          </a:p>
        </p:txBody>
      </p:sp>
      <p:sp>
        <p:nvSpPr>
          <p:cNvPr id="29" name="Text 25"/>
          <p:cNvSpPr/>
          <p:nvPr/>
        </p:nvSpPr>
        <p:spPr>
          <a:xfrm>
            <a:off x="5971032" y="5157216"/>
            <a:ext cx="2414016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WHO, 2025</a:t>
            </a:r>
            <a:endParaRPr lang="en-US" sz="680" dirty="0"/>
          </a:p>
        </p:txBody>
      </p:sp>
      <p:sp>
        <p:nvSpPr>
          <p:cNvPr id="30" name="Shape 26"/>
          <p:cNvSpPr/>
          <p:nvPr/>
        </p:nvSpPr>
        <p:spPr>
          <a:xfrm>
            <a:off x="8759952" y="4407408"/>
            <a:ext cx="2843784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31" name="Text 27"/>
          <p:cNvSpPr/>
          <p:nvPr/>
        </p:nvSpPr>
        <p:spPr>
          <a:xfrm>
            <a:off x="8924544" y="4535424"/>
            <a:ext cx="2514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1.8B</a:t>
            </a:r>
            <a:endParaRPr lang="en-US" sz="2300" dirty="0"/>
          </a:p>
        </p:txBody>
      </p:sp>
      <p:sp>
        <p:nvSpPr>
          <p:cNvPr id="32" name="Text 28"/>
          <p:cNvSpPr/>
          <p:nvPr/>
        </p:nvSpPr>
        <p:spPr>
          <a:xfrm>
            <a:off x="8924544" y="4919472"/>
            <a:ext cx="25146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menstruate every month worldwide</a:t>
            </a:r>
            <a:endParaRPr lang="en-US" sz="1050" dirty="0"/>
          </a:p>
        </p:txBody>
      </p:sp>
      <p:sp>
        <p:nvSpPr>
          <p:cNvPr id="33" name="Text 29"/>
          <p:cNvSpPr/>
          <p:nvPr/>
        </p:nvSpPr>
        <p:spPr>
          <a:xfrm>
            <a:off x="8924544" y="5157216"/>
            <a:ext cx="2514600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UNICEF</a:t>
            </a:r>
            <a:endParaRPr lang="en-US" sz="680" dirty="0"/>
          </a:p>
        </p:txBody>
      </p:sp>
      <p:sp>
        <p:nvSpPr>
          <p:cNvPr id="34" name="Text 30"/>
          <p:cNvSpPr/>
          <p:nvPr/>
        </p:nvSpPr>
        <p:spPr>
          <a:xfrm>
            <a:off x="5806440" y="5715000"/>
            <a:ext cx="274320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pPr indent="0" marL="0">
              <a:buNone/>
            </a:pPr>
            <a:r>
              <a:rPr lang="en-US" sz="720" u="sng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WHO, Mental health of adolescents (2025)</a:t>
            </a:r>
            <a:endParaRPr lang="en-US" sz="720" dirty="0"/>
          </a:p>
        </p:txBody>
      </p:sp>
      <p:sp>
        <p:nvSpPr>
          <p:cNvPr id="35" name="Text 31"/>
          <p:cNvSpPr/>
          <p:nvPr/>
        </p:nvSpPr>
        <p:spPr>
          <a:xfrm>
            <a:off x="8759952" y="5715000"/>
            <a:ext cx="2834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720" b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Source: </a:t>
            </a:r>
            <a:pPr indent="0" marL="0">
              <a:buNone/>
            </a:pPr>
            <a:r>
              <a:rPr lang="en-US" sz="720" u="sng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UNICEF, Menstrual hygiene</a:t>
            </a:r>
            <a:endParaRPr lang="en-US" sz="72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03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SOLUTION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From silence to a safe next step.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member can begin with one sentence, keep control of what is shared, and involve a real counsellor when ready.</a:t>
            </a:r>
            <a:endParaRPr lang="en-US" sz="1400" dirty="0"/>
          </a:p>
        </p:txBody>
      </p:sp>
      <p:pic>
        <p:nvPicPr>
          <p:cNvPr id="10" name="Image 1" descr="Woman receiving support through her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552944" y="2679192"/>
            <a:ext cx="4050792" cy="2697480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76656" y="2907792"/>
            <a:ext cx="341680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77824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77824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389888" y="3090672"/>
            <a:ext cx="2502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Begin privately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905256" y="3657600"/>
            <a:ext cx="2959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Talk to Sister without first finding the perfect words.</a:t>
            </a:r>
            <a:endParaRPr lang="en-US" sz="1150" dirty="0"/>
          </a:p>
        </p:txBody>
      </p:sp>
      <p:sp>
        <p:nvSpPr>
          <p:cNvPr id="16" name="Text 12"/>
          <p:cNvSpPr/>
          <p:nvPr/>
        </p:nvSpPr>
        <p:spPr>
          <a:xfrm>
            <a:off x="4120896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7" name="Shape 13"/>
          <p:cNvSpPr/>
          <p:nvPr/>
        </p:nvSpPr>
        <p:spPr>
          <a:xfrm>
            <a:off x="4386072" y="2907792"/>
            <a:ext cx="3416808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587240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9" name="Text 15"/>
          <p:cNvSpPr/>
          <p:nvPr/>
        </p:nvSpPr>
        <p:spPr>
          <a:xfrm>
            <a:off x="458724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0" name="Text 16"/>
          <p:cNvSpPr/>
          <p:nvPr/>
        </p:nvSpPr>
        <p:spPr>
          <a:xfrm>
            <a:off x="5099304" y="3090672"/>
            <a:ext cx="2502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Keep context</a:t>
            </a:r>
            <a:endParaRPr lang="en-US" sz="1600" dirty="0"/>
          </a:p>
        </p:txBody>
      </p:sp>
      <p:sp>
        <p:nvSpPr>
          <p:cNvPr id="21" name="Text 17"/>
          <p:cNvSpPr/>
          <p:nvPr/>
        </p:nvSpPr>
        <p:spPr>
          <a:xfrm>
            <a:off x="4614672" y="3657600"/>
            <a:ext cx="2959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 saved conversation, wellbeing and cycle context where consent allows.</a:t>
            </a:r>
            <a:endParaRPr lang="en-US" sz="1150" dirty="0"/>
          </a:p>
        </p:txBody>
      </p:sp>
      <p:sp>
        <p:nvSpPr>
          <p:cNvPr id="22" name="Text 18"/>
          <p:cNvSpPr/>
          <p:nvPr/>
        </p:nvSpPr>
        <p:spPr>
          <a:xfrm>
            <a:off x="7830312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3" name="Shape 19"/>
          <p:cNvSpPr/>
          <p:nvPr/>
        </p:nvSpPr>
        <p:spPr>
          <a:xfrm>
            <a:off x="8095488" y="2907792"/>
            <a:ext cx="3416808" cy="1371600"/>
          </a:xfrm>
          <a:prstGeom prst="roundRect">
            <a:avLst>
              <a:gd name="adj" fmla="val 5333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4" name="Shape 20"/>
          <p:cNvSpPr/>
          <p:nvPr/>
        </p:nvSpPr>
        <p:spPr>
          <a:xfrm>
            <a:off x="8296656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5" name="Text 21"/>
          <p:cNvSpPr/>
          <p:nvPr/>
        </p:nvSpPr>
        <p:spPr>
          <a:xfrm>
            <a:off x="829665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6" name="Text 22"/>
          <p:cNvSpPr/>
          <p:nvPr/>
        </p:nvSpPr>
        <p:spPr>
          <a:xfrm>
            <a:off x="8808720" y="3090672"/>
            <a:ext cx="25024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Choose human help</a:t>
            </a:r>
            <a:endParaRPr lang="en-US" sz="1600" dirty="0"/>
          </a:p>
        </p:txBody>
      </p:sp>
      <p:sp>
        <p:nvSpPr>
          <p:cNvPr id="27" name="Text 23"/>
          <p:cNvSpPr/>
          <p:nvPr/>
        </p:nvSpPr>
        <p:spPr>
          <a:xfrm>
            <a:off x="8324088" y="3657600"/>
            <a:ext cx="295960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Request a verified available counsellor by text or private audio.</a:t>
            </a:r>
            <a:endParaRPr lang="en-US" sz="1150" dirty="0"/>
          </a:p>
        </p:txBody>
      </p:sp>
      <p:sp>
        <p:nvSpPr>
          <p:cNvPr id="28" name="Shape 24"/>
          <p:cNvSpPr/>
          <p:nvPr/>
        </p:nvSpPr>
        <p:spPr>
          <a:xfrm>
            <a:off x="685800" y="4736592"/>
            <a:ext cx="6455664" cy="640080"/>
          </a:xfrm>
          <a:prstGeom prst="roundRect">
            <a:avLst>
              <a:gd name="adj" fmla="val 11429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29" name="Text 25"/>
          <p:cNvSpPr/>
          <p:nvPr/>
        </p:nvSpPr>
        <p:spPr>
          <a:xfrm>
            <a:off x="914400" y="4855464"/>
            <a:ext cx="5998464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 does not diagnose. It helps the user ask, understand and reach the right next step.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04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PRODUCT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One app, three connected forms of support.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Mental wellbeing leads the experience. Menstrual tracking remains useful context rather than the identity of the product.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" y="2852928"/>
            <a:ext cx="2761488" cy="2514600"/>
          </a:xfrm>
          <a:prstGeom prst="roundRect">
            <a:avLst>
              <a:gd name="adj" fmla="val 2909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59536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59536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71600" y="3035808"/>
            <a:ext cx="184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Private conversation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886968" y="3602736"/>
            <a:ext cx="2304288" cy="1581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Text or speak in supported languages. Sister remembers the current conversation, explains uncertainty and can carry out safe in-app actions.</a:t>
            </a:r>
            <a:endParaRPr lang="en-US" sz="1150" dirty="0"/>
          </a:p>
        </p:txBody>
      </p:sp>
      <p:sp>
        <p:nvSpPr>
          <p:cNvPr id="15" name="Shape 12"/>
          <p:cNvSpPr/>
          <p:nvPr/>
        </p:nvSpPr>
        <p:spPr>
          <a:xfrm>
            <a:off x="3794760" y="2706624"/>
            <a:ext cx="4343400" cy="3054096"/>
          </a:xfrm>
          <a:prstGeom prst="roundRect">
            <a:avLst>
              <a:gd name="adj" fmla="val 4790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  <a:effectLst>
            <a:outerShdw sx="100000" sy="100000" kx="0" ky="0" algn="bl" rotWithShape="0" blurRad="38100" dist="50800" dir="2700000">
              <a:srgbClr val="000000">
                <a:alpha val="22000"/>
              </a:srgbClr>
            </a:outerShdw>
          </a:effectLst>
        </p:spPr>
      </p:sp>
      <p:sp>
        <p:nvSpPr>
          <p:cNvPr id="16" name="Shape 13"/>
          <p:cNvSpPr/>
          <p:nvPr/>
        </p:nvSpPr>
        <p:spPr>
          <a:xfrm>
            <a:off x="3931920" y="2852928"/>
            <a:ext cx="4069080" cy="2761488"/>
          </a:xfrm>
          <a:prstGeom prst="roundRect">
            <a:avLst>
              <a:gd name="adj" fmla="val 3642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4123944" y="3017520"/>
            <a:ext cx="36850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conversation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4142232" y="3557016"/>
            <a:ext cx="3383280" cy="658368"/>
          </a:xfrm>
          <a:prstGeom prst="roundRect">
            <a:avLst>
              <a:gd name="adj" fmla="val 11111"/>
            </a:avLst>
          </a:prstGeom>
          <a:solidFill>
            <a:srgbClr val="FAF7FA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4297680" y="3639312"/>
            <a:ext cx="3072384" cy="493776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50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Something happened and I do not know who I can tell.</a:t>
            </a:r>
            <a:endParaRPr lang="en-US" sz="1050" dirty="0"/>
          </a:p>
        </p:txBody>
      </p:sp>
      <p:sp>
        <p:nvSpPr>
          <p:cNvPr id="20" name="Shape 17"/>
          <p:cNvSpPr/>
          <p:nvPr/>
        </p:nvSpPr>
        <p:spPr>
          <a:xfrm>
            <a:off x="4544568" y="4416552"/>
            <a:ext cx="3246120" cy="841248"/>
          </a:xfrm>
          <a:prstGeom prst="roundRect">
            <a:avLst>
              <a:gd name="adj" fmla="val 8696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21" name="Text 18"/>
          <p:cNvSpPr/>
          <p:nvPr/>
        </p:nvSpPr>
        <p:spPr>
          <a:xfrm>
            <a:off x="4718304" y="4517136"/>
            <a:ext cx="2898648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20" dirty="0">
                <a:solidFill>
                  <a:srgbClr val="7500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You can begin with one sentence. We can take the next step together.</a:t>
            </a:r>
            <a:endParaRPr lang="en-US" sz="1020" dirty="0"/>
          </a:p>
        </p:txBody>
      </p:sp>
      <p:sp>
        <p:nvSpPr>
          <p:cNvPr id="22" name="Shape 19"/>
          <p:cNvSpPr/>
          <p:nvPr/>
        </p:nvSpPr>
        <p:spPr>
          <a:xfrm>
            <a:off x="4142232" y="5065776"/>
            <a:ext cx="3648456" cy="384048"/>
          </a:xfrm>
          <a:prstGeom prst="roundRect">
            <a:avLst>
              <a:gd name="adj" fmla="val 19048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4306824" y="5111496"/>
            <a:ext cx="331927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938A93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Message Sister</a:t>
            </a:r>
            <a:endParaRPr lang="en-US" sz="950" dirty="0"/>
          </a:p>
        </p:txBody>
      </p:sp>
      <p:sp>
        <p:nvSpPr>
          <p:cNvPr id="24" name="Shape 21"/>
          <p:cNvSpPr/>
          <p:nvPr/>
        </p:nvSpPr>
        <p:spPr>
          <a:xfrm>
            <a:off x="8503920" y="2852928"/>
            <a:ext cx="2761488" cy="1170432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5" name="Shape 22"/>
          <p:cNvSpPr/>
          <p:nvPr/>
        </p:nvSpPr>
        <p:spPr>
          <a:xfrm>
            <a:off x="8705088" y="3054096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6" name="Text 23"/>
          <p:cNvSpPr/>
          <p:nvPr/>
        </p:nvSpPr>
        <p:spPr>
          <a:xfrm>
            <a:off x="8705088" y="305409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27" name="Text 24"/>
          <p:cNvSpPr/>
          <p:nvPr/>
        </p:nvSpPr>
        <p:spPr>
          <a:xfrm>
            <a:off x="9217152" y="3035808"/>
            <a:ext cx="184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Body context</a:t>
            </a:r>
            <a:endParaRPr lang="en-US" sz="1600" dirty="0"/>
          </a:p>
        </p:txBody>
      </p:sp>
      <p:sp>
        <p:nvSpPr>
          <p:cNvPr id="28" name="Text 25"/>
          <p:cNvSpPr/>
          <p:nvPr/>
        </p:nvSpPr>
        <p:spPr>
          <a:xfrm>
            <a:off x="8732520" y="3602736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Accurate cycle dates and symptoms remain separate, transparent and optional to share.</a:t>
            </a:r>
            <a:endParaRPr lang="en-US" sz="1040" dirty="0"/>
          </a:p>
        </p:txBody>
      </p:sp>
      <p:sp>
        <p:nvSpPr>
          <p:cNvPr id="29" name="Shape 26"/>
          <p:cNvSpPr/>
          <p:nvPr/>
        </p:nvSpPr>
        <p:spPr>
          <a:xfrm>
            <a:off x="8503920" y="4197096"/>
            <a:ext cx="2761488" cy="1170432"/>
          </a:xfrm>
          <a:prstGeom prst="roundRect">
            <a:avLst>
              <a:gd name="adj" fmla="val 6250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30" name="Shape 27"/>
          <p:cNvSpPr/>
          <p:nvPr/>
        </p:nvSpPr>
        <p:spPr>
          <a:xfrm>
            <a:off x="8705088" y="4398264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1" name="Text 28"/>
          <p:cNvSpPr/>
          <p:nvPr/>
        </p:nvSpPr>
        <p:spPr>
          <a:xfrm>
            <a:off x="8705088" y="439826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32" name="Text 29"/>
          <p:cNvSpPr/>
          <p:nvPr/>
        </p:nvSpPr>
        <p:spPr>
          <a:xfrm>
            <a:off x="9217152" y="4379976"/>
            <a:ext cx="1847088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Human support</a:t>
            </a:r>
            <a:endParaRPr lang="en-US" sz="1600" dirty="0"/>
          </a:p>
        </p:txBody>
      </p:sp>
      <p:sp>
        <p:nvSpPr>
          <p:cNvPr id="33" name="Text 30"/>
          <p:cNvSpPr/>
          <p:nvPr/>
        </p:nvSpPr>
        <p:spPr>
          <a:xfrm>
            <a:off x="8732520" y="4946904"/>
            <a:ext cx="2304288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4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See verified counsellors, request one person, message in real time or join private audio.</a:t>
            </a:r>
            <a:endParaRPr lang="en-US" sz="1040" dirty="0"/>
          </a:p>
        </p:txBody>
      </p:sp>
      <p:sp>
        <p:nvSpPr>
          <p:cNvPr id="34" name="Text 31"/>
          <p:cNvSpPr/>
          <p:nvPr/>
        </p:nvSpPr>
        <p:spPr>
          <a:xfrm>
            <a:off x="3794760" y="5925312"/>
            <a:ext cx="43434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Designed for mobile, low bandwidth and private use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HANDOFF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05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HANDOFF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product stays responsible after someone asks for help.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 does not treat a button tap as a completed support outcome.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6656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77824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877824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3" name="Text 10"/>
          <p:cNvSpPr/>
          <p:nvPr/>
        </p:nvSpPr>
        <p:spPr>
          <a:xfrm>
            <a:off x="1389888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Requested</a:t>
            </a:r>
            <a:endParaRPr lang="en-US" sz="1600" dirty="0"/>
          </a:p>
        </p:txBody>
      </p:sp>
      <p:sp>
        <p:nvSpPr>
          <p:cNvPr id="14" name="Text 11"/>
          <p:cNvSpPr/>
          <p:nvPr/>
        </p:nvSpPr>
        <p:spPr>
          <a:xfrm>
            <a:off x="905256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member is waiting. No claim of connection.</a:t>
            </a:r>
            <a:endParaRPr lang="en-US" sz="1150" dirty="0"/>
          </a:p>
        </p:txBody>
      </p:sp>
      <p:sp>
        <p:nvSpPr>
          <p:cNvPr id="15" name="Text 12"/>
          <p:cNvSpPr/>
          <p:nvPr/>
        </p:nvSpPr>
        <p:spPr>
          <a:xfrm>
            <a:off x="3193542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16" name="Shape 13"/>
          <p:cNvSpPr/>
          <p:nvPr/>
        </p:nvSpPr>
        <p:spPr>
          <a:xfrm>
            <a:off x="3458718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3659886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3659886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6"/>
          <p:cNvSpPr/>
          <p:nvPr/>
        </p:nvSpPr>
        <p:spPr>
          <a:xfrm>
            <a:off x="4171950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Assigned</a:t>
            </a:r>
            <a:endParaRPr lang="en-US" sz="1600" dirty="0"/>
          </a:p>
        </p:txBody>
      </p:sp>
      <p:sp>
        <p:nvSpPr>
          <p:cNvPr id="20" name="Text 17"/>
          <p:cNvSpPr/>
          <p:nvPr/>
        </p:nvSpPr>
        <p:spPr>
          <a:xfrm>
            <a:off x="3687318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One eligible counsellor is notified and accountable.</a:t>
            </a:r>
            <a:endParaRPr lang="en-US" sz="1150" dirty="0"/>
          </a:p>
        </p:txBody>
      </p:sp>
      <p:sp>
        <p:nvSpPr>
          <p:cNvPr id="21" name="Text 18"/>
          <p:cNvSpPr/>
          <p:nvPr/>
        </p:nvSpPr>
        <p:spPr>
          <a:xfrm>
            <a:off x="5975604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2" name="Shape 19"/>
          <p:cNvSpPr/>
          <p:nvPr/>
        </p:nvSpPr>
        <p:spPr>
          <a:xfrm>
            <a:off x="6240780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6441948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6441948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5" name="Text 22"/>
          <p:cNvSpPr/>
          <p:nvPr/>
        </p:nvSpPr>
        <p:spPr>
          <a:xfrm>
            <a:off x="6954012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Accepted</a:t>
            </a:r>
            <a:endParaRPr lang="en-US" sz="1600" dirty="0"/>
          </a:p>
        </p:txBody>
      </p:sp>
      <p:sp>
        <p:nvSpPr>
          <p:cNvPr id="26" name="Text 23"/>
          <p:cNvSpPr/>
          <p:nvPr/>
        </p:nvSpPr>
        <p:spPr>
          <a:xfrm>
            <a:off x="6469380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Both people are told that human contact is ready.</a:t>
            </a:r>
            <a:endParaRPr lang="en-US" sz="1150" dirty="0"/>
          </a:p>
        </p:txBody>
      </p:sp>
      <p:sp>
        <p:nvSpPr>
          <p:cNvPr id="27" name="Text 24"/>
          <p:cNvSpPr/>
          <p:nvPr/>
        </p:nvSpPr>
        <p:spPr>
          <a:xfrm>
            <a:off x="8757666" y="3392424"/>
            <a:ext cx="237744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7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→</a:t>
            </a:r>
            <a:endParaRPr lang="en-US" sz="1700" dirty="0"/>
          </a:p>
        </p:txBody>
      </p:sp>
      <p:sp>
        <p:nvSpPr>
          <p:cNvPr id="28" name="Shape 25"/>
          <p:cNvSpPr/>
          <p:nvPr/>
        </p:nvSpPr>
        <p:spPr>
          <a:xfrm>
            <a:off x="9022842" y="2907792"/>
            <a:ext cx="2489454" cy="1371600"/>
          </a:xfrm>
          <a:prstGeom prst="roundRect">
            <a:avLst>
              <a:gd name="adj" fmla="val 5333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9" name="Shape 26"/>
          <p:cNvSpPr/>
          <p:nvPr/>
        </p:nvSpPr>
        <p:spPr>
          <a:xfrm>
            <a:off x="9224010" y="310896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0" name="Text 27"/>
          <p:cNvSpPr/>
          <p:nvPr/>
        </p:nvSpPr>
        <p:spPr>
          <a:xfrm>
            <a:off x="9224010" y="310896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31" name="Text 28"/>
          <p:cNvSpPr/>
          <p:nvPr/>
        </p:nvSpPr>
        <p:spPr>
          <a:xfrm>
            <a:off x="9736074" y="3090672"/>
            <a:ext cx="15750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Followed up</a:t>
            </a:r>
            <a:endParaRPr lang="en-US" sz="1600" dirty="0"/>
          </a:p>
        </p:txBody>
      </p:sp>
      <p:sp>
        <p:nvSpPr>
          <p:cNvPr id="32" name="Text 29"/>
          <p:cNvSpPr/>
          <p:nvPr/>
        </p:nvSpPr>
        <p:spPr>
          <a:xfrm>
            <a:off x="9251442" y="3657600"/>
            <a:ext cx="2032254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 next step, referral or interrupted session remains visible.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704088" y="4681728"/>
            <a:ext cx="3401568" cy="914400"/>
          </a:xfrm>
          <a:prstGeom prst="roundRect">
            <a:avLst>
              <a:gd name="adj" fmla="val 6000"/>
            </a:avLst>
          </a:prstGeom>
          <a:solidFill>
            <a:srgbClr val="EAF8F2"/>
          </a:solidFill>
          <a:ln w="12700">
            <a:solidFill>
              <a:srgbClr val="B8E8D7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868680" y="4782312"/>
            <a:ext cx="3072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3795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Truthful states</a:t>
            </a:r>
            <a:endParaRPr lang="en-US" sz="1100" dirty="0"/>
          </a:p>
        </p:txBody>
      </p:sp>
      <p:sp>
        <p:nvSpPr>
          <p:cNvPr id="35" name="Text 32"/>
          <p:cNvSpPr/>
          <p:nvPr/>
        </p:nvSpPr>
        <p:spPr>
          <a:xfrm>
            <a:off x="868680" y="5047488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“Connected” appears only after acceptance.</a:t>
            </a:r>
            <a:endParaRPr lang="en-US" sz="930" dirty="0"/>
          </a:p>
        </p:txBody>
      </p:sp>
      <p:sp>
        <p:nvSpPr>
          <p:cNvPr id="36" name="Shape 33"/>
          <p:cNvSpPr/>
          <p:nvPr/>
        </p:nvSpPr>
        <p:spPr>
          <a:xfrm>
            <a:off x="4471416" y="4681728"/>
            <a:ext cx="3401568" cy="914400"/>
          </a:xfrm>
          <a:prstGeom prst="roundRect">
            <a:avLst>
              <a:gd name="adj" fmla="val 6000"/>
            </a:avLst>
          </a:prstGeom>
          <a:solidFill>
            <a:srgbClr val="FAF7FA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37" name="Text 34"/>
          <p:cNvSpPr/>
          <p:nvPr/>
        </p:nvSpPr>
        <p:spPr>
          <a:xfrm>
            <a:off x="4636008" y="4782312"/>
            <a:ext cx="3072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Durable updates</a:t>
            </a:r>
            <a:endParaRPr lang="en-US" sz="1100" dirty="0"/>
          </a:p>
        </p:txBody>
      </p:sp>
      <p:sp>
        <p:nvSpPr>
          <p:cNvPr id="38" name="Text 35"/>
          <p:cNvSpPr/>
          <p:nvPr/>
        </p:nvSpPr>
        <p:spPr>
          <a:xfrm>
            <a:off x="4636008" y="5047488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Acceptance, decline, messages and completion survive refreshes.</a:t>
            </a:r>
            <a:endParaRPr lang="en-US" sz="930" dirty="0"/>
          </a:p>
        </p:txBody>
      </p:sp>
      <p:sp>
        <p:nvSpPr>
          <p:cNvPr id="39" name="Shape 36"/>
          <p:cNvSpPr/>
          <p:nvPr/>
        </p:nvSpPr>
        <p:spPr>
          <a:xfrm>
            <a:off x="8238744" y="4681728"/>
            <a:ext cx="3401568" cy="914400"/>
          </a:xfrm>
          <a:prstGeom prst="roundRect">
            <a:avLst>
              <a:gd name="adj" fmla="val 6000"/>
            </a:avLst>
          </a:prstGeom>
          <a:solidFill>
            <a:srgbClr val="FAF7FA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40" name="Text 37"/>
          <p:cNvSpPr/>
          <p:nvPr/>
        </p:nvSpPr>
        <p:spPr>
          <a:xfrm>
            <a:off x="8403336" y="4782312"/>
            <a:ext cx="3072384" cy="2468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Low-bandwidth fallback</a:t>
            </a:r>
            <a:endParaRPr lang="en-US" sz="1100" dirty="0"/>
          </a:p>
        </p:txBody>
      </p:sp>
      <p:sp>
        <p:nvSpPr>
          <p:cNvPr id="41" name="Text 38"/>
          <p:cNvSpPr/>
          <p:nvPr/>
        </p:nvSpPr>
        <p:spPr>
          <a:xfrm>
            <a:off x="8403336" y="5047488"/>
            <a:ext cx="3072384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3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text remains available when audio cannot connect.</a:t>
            </a:r>
            <a:endParaRPr lang="en-US" sz="93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WE SERVE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06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WHO WE SERVE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Start where privacy and trust are hardest to find.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first software pilot is supervised and adult-only. Access for minors requires a separate safeguarding, consent and legal pathway.</a:t>
            </a:r>
            <a:endParaRPr lang="en-US" sz="1400" dirty="0"/>
          </a:p>
        </p:txBody>
      </p:sp>
      <p:pic>
        <p:nvPicPr>
          <p:cNvPr id="10" name="Image 1" descr="Woman using SisterCare privately on a phone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821424" y="2651760"/>
            <a:ext cx="4782312" cy="31912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58368" y="2770632"/>
            <a:ext cx="28163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859536" y="297180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3" name="Text 9"/>
          <p:cNvSpPr/>
          <p:nvPr/>
        </p:nvSpPr>
        <p:spPr>
          <a:xfrm>
            <a:off x="859536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000" dirty="0"/>
          </a:p>
        </p:txBody>
      </p:sp>
      <p:sp>
        <p:nvSpPr>
          <p:cNvPr id="14" name="Text 10"/>
          <p:cNvSpPr/>
          <p:nvPr/>
        </p:nvSpPr>
        <p:spPr>
          <a:xfrm>
            <a:off x="1371600" y="2953512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Young women</a:t>
            </a:r>
            <a:endParaRPr lang="en-US" sz="1600" dirty="0"/>
          </a:p>
        </p:txBody>
      </p:sp>
      <p:sp>
        <p:nvSpPr>
          <p:cNvPr id="15" name="Text 11"/>
          <p:cNvSpPr/>
          <p:nvPr/>
        </p:nvSpPr>
        <p:spPr>
          <a:xfrm>
            <a:off x="886968" y="35204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navigating anxiety, relationships, loss, harassment or private health questions.</a:t>
            </a:r>
            <a:endParaRPr lang="en-US" sz="1150" dirty="0"/>
          </a:p>
        </p:txBody>
      </p:sp>
      <p:sp>
        <p:nvSpPr>
          <p:cNvPr id="16" name="Shape 12"/>
          <p:cNvSpPr/>
          <p:nvPr/>
        </p:nvSpPr>
        <p:spPr>
          <a:xfrm>
            <a:off x="3675888" y="2770632"/>
            <a:ext cx="28163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3877056" y="2971800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4"/>
          <p:cNvSpPr/>
          <p:nvPr/>
        </p:nvSpPr>
        <p:spPr>
          <a:xfrm>
            <a:off x="3877056" y="2971800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000" dirty="0"/>
          </a:p>
        </p:txBody>
      </p:sp>
      <p:sp>
        <p:nvSpPr>
          <p:cNvPr id="19" name="Text 15"/>
          <p:cNvSpPr/>
          <p:nvPr/>
        </p:nvSpPr>
        <p:spPr>
          <a:xfrm>
            <a:off x="4389120" y="2953512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Underserved communities</a:t>
            </a:r>
            <a:endParaRPr lang="en-US" sz="1600" dirty="0"/>
          </a:p>
        </p:txBody>
      </p:sp>
      <p:sp>
        <p:nvSpPr>
          <p:cNvPr id="20" name="Text 16"/>
          <p:cNvSpPr/>
          <p:nvPr/>
        </p:nvSpPr>
        <p:spPr>
          <a:xfrm>
            <a:off x="3904488" y="3520440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People facing stigma, limited trusted information or few accessible support options.</a:t>
            </a:r>
            <a:endParaRPr lang="en-US" sz="1150" dirty="0"/>
          </a:p>
        </p:txBody>
      </p:sp>
      <p:sp>
        <p:nvSpPr>
          <p:cNvPr id="21" name="Shape 17"/>
          <p:cNvSpPr/>
          <p:nvPr/>
        </p:nvSpPr>
        <p:spPr>
          <a:xfrm>
            <a:off x="658368" y="4297680"/>
            <a:ext cx="28163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2" name="Shape 18"/>
          <p:cNvSpPr/>
          <p:nvPr/>
        </p:nvSpPr>
        <p:spPr>
          <a:xfrm>
            <a:off x="859536" y="449884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3" name="Text 19"/>
          <p:cNvSpPr/>
          <p:nvPr/>
        </p:nvSpPr>
        <p:spPr>
          <a:xfrm>
            <a:off x="859536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000" dirty="0"/>
          </a:p>
        </p:txBody>
      </p:sp>
      <p:sp>
        <p:nvSpPr>
          <p:cNvPr id="24" name="Text 20"/>
          <p:cNvSpPr/>
          <p:nvPr/>
        </p:nvSpPr>
        <p:spPr>
          <a:xfrm>
            <a:off x="1371600" y="448056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Support partners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86968" y="504748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Universities, NGOs, clinics and community programmes seeking a safer first contact.</a:t>
            </a:r>
            <a:endParaRPr lang="en-US" sz="1150" dirty="0"/>
          </a:p>
        </p:txBody>
      </p:sp>
      <p:sp>
        <p:nvSpPr>
          <p:cNvPr id="26" name="Shape 22"/>
          <p:cNvSpPr/>
          <p:nvPr/>
        </p:nvSpPr>
        <p:spPr>
          <a:xfrm>
            <a:off x="3675888" y="4297680"/>
            <a:ext cx="2816352" cy="1298448"/>
          </a:xfrm>
          <a:prstGeom prst="roundRect">
            <a:avLst>
              <a:gd name="adj" fmla="val 5634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7" name="Shape 23"/>
          <p:cNvSpPr/>
          <p:nvPr/>
        </p:nvSpPr>
        <p:spPr>
          <a:xfrm>
            <a:off x="3877056" y="4498848"/>
            <a:ext cx="384048" cy="384048"/>
          </a:xfrm>
          <a:prstGeom prst="ellipse">
            <a:avLst/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8" name="Text 24"/>
          <p:cNvSpPr/>
          <p:nvPr/>
        </p:nvSpPr>
        <p:spPr>
          <a:xfrm>
            <a:off x="3877056" y="449884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4</a:t>
            </a:r>
            <a:endParaRPr lang="en-US" sz="1000" dirty="0"/>
          </a:p>
        </p:txBody>
      </p:sp>
      <p:sp>
        <p:nvSpPr>
          <p:cNvPr id="29" name="Text 25"/>
          <p:cNvSpPr/>
          <p:nvPr/>
        </p:nvSpPr>
        <p:spPr>
          <a:xfrm>
            <a:off x="4389120" y="4480560"/>
            <a:ext cx="190195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Verified counsellors</a:t>
            </a:r>
            <a:endParaRPr lang="en-US" sz="1600" dirty="0"/>
          </a:p>
        </p:txBody>
      </p:sp>
      <p:sp>
        <p:nvSpPr>
          <p:cNvPr id="30" name="Text 26"/>
          <p:cNvSpPr/>
          <p:nvPr/>
        </p:nvSpPr>
        <p:spPr>
          <a:xfrm>
            <a:off x="3904488" y="5047488"/>
            <a:ext cx="2359152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5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Professionals who need clear assignments, consented context and accountable follow-up.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07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BUSINESS MODEL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Free tracking builds trust. Premium support funds care.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Users can pay directly, while institutions and funders can sponsor access for people who cannot.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" y="2788920"/>
            <a:ext cx="3063240" cy="2633472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7780" dist="50800" dir="2700000">
              <a:srgbClr val="B8AEB8">
                <a:alpha val="14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886968" y="3017520"/>
            <a:ext cx="932688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96696" y="30266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FREE</a:t>
            </a:r>
            <a:endParaRPr lang="en-US" sz="900" dirty="0"/>
          </a:p>
        </p:txBody>
      </p:sp>
      <p:sp>
        <p:nvSpPr>
          <p:cNvPr id="13" name="Text 10"/>
          <p:cNvSpPr/>
          <p:nvPr/>
        </p:nvSpPr>
        <p:spPr>
          <a:xfrm>
            <a:off x="886968" y="35935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Cycle tracking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886968" y="41605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Record period dates, understand the current cycle and receive useful reminders.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886968" y="5056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Entry and trust</a:t>
            </a:r>
            <a:endParaRPr lang="en-US" sz="940" dirty="0"/>
          </a:p>
        </p:txBody>
      </p:sp>
      <p:sp>
        <p:nvSpPr>
          <p:cNvPr id="16" name="Shape 13"/>
          <p:cNvSpPr/>
          <p:nvPr/>
        </p:nvSpPr>
        <p:spPr>
          <a:xfrm>
            <a:off x="4096512" y="2788920"/>
            <a:ext cx="3063240" cy="2633472"/>
          </a:xfrm>
          <a:prstGeom prst="roundRect">
            <a:avLst>
              <a:gd name="adj" fmla="val 2778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  <a:effectLst>
            <a:outerShdw sx="100000" sy="100000" kx="0" ky="0" algn="bl" rotWithShape="0" blurRad="17780" dist="50800" dir="2700000">
              <a:srgbClr val="B8AEB8">
                <a:alpha val="14000"/>
              </a:srgbClr>
            </a:outerShdw>
          </a:effectLst>
        </p:spPr>
      </p:sp>
      <p:sp>
        <p:nvSpPr>
          <p:cNvPr id="17" name="Shape 14"/>
          <p:cNvSpPr/>
          <p:nvPr/>
        </p:nvSpPr>
        <p:spPr>
          <a:xfrm>
            <a:off x="4325112" y="3017520"/>
            <a:ext cx="932688" cy="310896"/>
          </a:xfrm>
          <a:prstGeom prst="roundRect">
            <a:avLst>
              <a:gd name="adj" fmla="val 23529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4434840" y="30266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PREMIUM</a:t>
            </a:r>
            <a:endParaRPr lang="en-US" sz="900" dirty="0"/>
          </a:p>
        </p:txBody>
      </p:sp>
      <p:sp>
        <p:nvSpPr>
          <p:cNvPr id="19" name="Text 16"/>
          <p:cNvSpPr/>
          <p:nvPr/>
        </p:nvSpPr>
        <p:spPr>
          <a:xfrm>
            <a:off x="4325112" y="35935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AI + counsellor access</a:t>
            </a:r>
            <a:endParaRPr lang="en-US" sz="1800" dirty="0"/>
          </a:p>
        </p:txBody>
      </p:sp>
      <p:sp>
        <p:nvSpPr>
          <p:cNvPr id="20" name="Text 17"/>
          <p:cNvSpPr/>
          <p:nvPr/>
        </p:nvSpPr>
        <p:spPr>
          <a:xfrm>
            <a:off x="4325112" y="41605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E6E0E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Private AI support, verified counsellor messaging and in-app audio during staffed hours.</a:t>
            </a:r>
            <a:endParaRPr lang="en-US" sz="1100" dirty="0"/>
          </a:p>
        </p:txBody>
      </p:sp>
      <p:sp>
        <p:nvSpPr>
          <p:cNvPr id="21" name="Text 18"/>
          <p:cNvSpPr/>
          <p:nvPr/>
        </p:nvSpPr>
        <p:spPr>
          <a:xfrm>
            <a:off x="4325112" y="5056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revenue</a:t>
            </a:r>
            <a:endParaRPr lang="en-US" sz="940" dirty="0"/>
          </a:p>
        </p:txBody>
      </p:sp>
      <p:sp>
        <p:nvSpPr>
          <p:cNvPr id="22" name="Shape 19"/>
          <p:cNvSpPr/>
          <p:nvPr/>
        </p:nvSpPr>
        <p:spPr>
          <a:xfrm>
            <a:off x="7534656" y="2788920"/>
            <a:ext cx="3063240" cy="2633472"/>
          </a:xfrm>
          <a:prstGeom prst="roundRect">
            <a:avLst>
              <a:gd name="adj" fmla="val 2778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  <a:effectLst>
            <a:outerShdw sx="100000" sy="100000" kx="0" ky="0" algn="bl" rotWithShape="0" blurRad="17780" dist="50800" dir="2700000">
              <a:srgbClr val="B8AEB8">
                <a:alpha val="14000"/>
              </a:srgbClr>
            </a:outerShdw>
          </a:effectLst>
        </p:spPr>
      </p:sp>
      <p:sp>
        <p:nvSpPr>
          <p:cNvPr id="23" name="Shape 20"/>
          <p:cNvSpPr/>
          <p:nvPr/>
        </p:nvSpPr>
        <p:spPr>
          <a:xfrm>
            <a:off x="7763256" y="3017520"/>
            <a:ext cx="932688" cy="310896"/>
          </a:xfrm>
          <a:prstGeom prst="roundRect">
            <a:avLst>
              <a:gd name="adj" fmla="val 23529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7872984" y="3026664"/>
            <a:ext cx="71323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SPONSORED</a:t>
            </a:r>
            <a:endParaRPr lang="en-US" sz="900" dirty="0"/>
          </a:p>
        </p:txBody>
      </p:sp>
      <p:sp>
        <p:nvSpPr>
          <p:cNvPr id="25" name="Text 22"/>
          <p:cNvSpPr/>
          <p:nvPr/>
        </p:nvSpPr>
        <p:spPr>
          <a:xfrm>
            <a:off x="7763256" y="3593592"/>
            <a:ext cx="26060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Partner access</a:t>
            </a:r>
            <a:endParaRPr lang="en-US" sz="1800" dirty="0"/>
          </a:p>
        </p:txBody>
      </p:sp>
      <p:sp>
        <p:nvSpPr>
          <p:cNvPr id="26" name="Text 23"/>
          <p:cNvSpPr/>
          <p:nvPr/>
        </p:nvSpPr>
        <p:spPr>
          <a:xfrm>
            <a:off x="7763256" y="4160520"/>
            <a:ext cx="260604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1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Universities, NGOs, clinics and funders cover premium access for defined groups.</a:t>
            </a:r>
            <a:endParaRPr lang="en-US" sz="1100" dirty="0"/>
          </a:p>
        </p:txBody>
      </p:sp>
      <p:sp>
        <p:nvSpPr>
          <p:cNvPr id="27" name="Text 24"/>
          <p:cNvSpPr/>
          <p:nvPr/>
        </p:nvSpPr>
        <p:spPr>
          <a:xfrm>
            <a:off x="7763256" y="5056632"/>
            <a:ext cx="2606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4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Institutional revenue</a:t>
            </a:r>
            <a:endParaRPr lang="en-US" sz="940" dirty="0"/>
          </a:p>
        </p:txBody>
      </p:sp>
      <p:sp>
        <p:nvSpPr>
          <p:cNvPr id="28" name="Text 25"/>
          <p:cNvSpPr/>
          <p:nvPr/>
        </p:nvSpPr>
        <p:spPr>
          <a:xfrm>
            <a:off x="658368" y="5760720"/>
            <a:ext cx="993952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advertising. No sale of private health data. Pilot pricing will be tested for affordability and service capacity.</a:t>
            </a:r>
            <a:endParaRPr lang="en-US" sz="10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AND EVIDENCE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08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STAGE AND EVIDENCE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The working platform is ready for supervised learning, not inflated claims.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Engineering evidence is strong for an early product. User value, pricing and support operations must now be proven through a controlled pilot.</a:t>
            </a:r>
            <a:endParaRPr lang="en-US" sz="1400" dirty="0"/>
          </a:p>
        </p:txBody>
      </p:sp>
      <p:pic>
        <p:nvPicPr>
          <p:cNvPr id="10" name="Image 1" descr="Counsellor providing private remote support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986016" y="2706624"/>
            <a:ext cx="4617720" cy="3081528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658368" y="2770632"/>
            <a:ext cx="1719072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12" name="Text 8"/>
          <p:cNvSpPr/>
          <p:nvPr/>
        </p:nvSpPr>
        <p:spPr>
          <a:xfrm>
            <a:off x="822960" y="2898648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528</a:t>
            </a:r>
            <a:endParaRPr lang="en-US" sz="2300" dirty="0"/>
          </a:p>
        </p:txBody>
      </p:sp>
      <p:sp>
        <p:nvSpPr>
          <p:cNvPr id="13" name="Text 9"/>
          <p:cNvSpPr/>
          <p:nvPr/>
        </p:nvSpPr>
        <p:spPr>
          <a:xfrm>
            <a:off x="822960" y="3282696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automated tests passed</a:t>
            </a:r>
            <a:endParaRPr lang="en-US" sz="1050" dirty="0"/>
          </a:p>
        </p:txBody>
      </p:sp>
      <p:sp>
        <p:nvSpPr>
          <p:cNvPr id="14" name="Text 10"/>
          <p:cNvSpPr/>
          <p:nvPr/>
        </p:nvSpPr>
        <p:spPr>
          <a:xfrm>
            <a:off x="822960" y="3520440"/>
            <a:ext cx="1389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22 Aug 2026</a:t>
            </a:r>
            <a:endParaRPr lang="en-US" sz="680" dirty="0"/>
          </a:p>
        </p:txBody>
      </p:sp>
      <p:sp>
        <p:nvSpPr>
          <p:cNvPr id="15" name="Shape 11"/>
          <p:cNvSpPr/>
          <p:nvPr/>
        </p:nvSpPr>
        <p:spPr>
          <a:xfrm>
            <a:off x="2587752" y="2770632"/>
            <a:ext cx="1719072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16" name="Text 12"/>
          <p:cNvSpPr/>
          <p:nvPr/>
        </p:nvSpPr>
        <p:spPr>
          <a:xfrm>
            <a:off x="2752344" y="2898648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3</a:t>
            </a:r>
            <a:endParaRPr lang="en-US" sz="2300" dirty="0"/>
          </a:p>
        </p:txBody>
      </p:sp>
      <p:sp>
        <p:nvSpPr>
          <p:cNvPr id="17" name="Text 13"/>
          <p:cNvSpPr/>
          <p:nvPr/>
        </p:nvSpPr>
        <p:spPr>
          <a:xfrm>
            <a:off x="2752344" y="3282696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role-specific workspaces</a:t>
            </a:r>
            <a:endParaRPr lang="en-US" sz="1050" dirty="0"/>
          </a:p>
        </p:txBody>
      </p:sp>
      <p:sp>
        <p:nvSpPr>
          <p:cNvPr id="18" name="Text 14"/>
          <p:cNvSpPr/>
          <p:nvPr/>
        </p:nvSpPr>
        <p:spPr>
          <a:xfrm>
            <a:off x="2752344" y="3520440"/>
            <a:ext cx="1389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member · counsellor · admin</a:t>
            </a:r>
            <a:endParaRPr lang="en-US" sz="680" dirty="0"/>
          </a:p>
        </p:txBody>
      </p:sp>
      <p:sp>
        <p:nvSpPr>
          <p:cNvPr id="19" name="Shape 15"/>
          <p:cNvSpPr/>
          <p:nvPr/>
        </p:nvSpPr>
        <p:spPr>
          <a:xfrm>
            <a:off x="4517136" y="2770632"/>
            <a:ext cx="1719072" cy="969264"/>
          </a:xfrm>
          <a:prstGeom prst="roundRect">
            <a:avLst>
              <a:gd name="adj" fmla="val 7547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20" name="Text 16"/>
          <p:cNvSpPr/>
          <p:nvPr/>
        </p:nvSpPr>
        <p:spPr>
          <a:xfrm>
            <a:off x="4681728" y="2898648"/>
            <a:ext cx="138988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300" b="1" dirty="0">
                <a:solidFill>
                  <a:srgbClr val="A600A6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1</a:t>
            </a:r>
            <a:endParaRPr lang="en-US" sz="2300" dirty="0"/>
          </a:p>
        </p:txBody>
      </p:sp>
      <p:sp>
        <p:nvSpPr>
          <p:cNvPr id="21" name="Text 17"/>
          <p:cNvSpPr/>
          <p:nvPr/>
        </p:nvSpPr>
        <p:spPr>
          <a:xfrm>
            <a:off x="4681728" y="3282696"/>
            <a:ext cx="138988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connected care platform</a:t>
            </a:r>
            <a:endParaRPr lang="en-US" sz="1050" dirty="0"/>
          </a:p>
        </p:txBody>
      </p:sp>
      <p:sp>
        <p:nvSpPr>
          <p:cNvPr id="22" name="Text 18"/>
          <p:cNvSpPr/>
          <p:nvPr/>
        </p:nvSpPr>
        <p:spPr>
          <a:xfrm>
            <a:off x="4681728" y="3520440"/>
            <a:ext cx="1389888" cy="1280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68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web application</a:t>
            </a:r>
            <a:endParaRPr lang="en-US" sz="680" dirty="0"/>
          </a:p>
        </p:txBody>
      </p:sp>
      <p:sp>
        <p:nvSpPr>
          <p:cNvPr id="23" name="Shape 19"/>
          <p:cNvSpPr/>
          <p:nvPr/>
        </p:nvSpPr>
        <p:spPr>
          <a:xfrm>
            <a:off x="658368" y="3986784"/>
            <a:ext cx="5577840" cy="1801368"/>
          </a:xfrm>
          <a:prstGeom prst="roundRect">
            <a:avLst>
              <a:gd name="adj" fmla="val 4061"/>
            </a:avLst>
          </a:prstGeom>
          <a:solidFill>
            <a:srgbClr val="FFF1FD"/>
          </a:solidFill>
          <a:ln w="12700">
            <a:solidFill>
              <a:srgbClr val="FFF1FD"/>
            </a:solidFill>
            <a:prstDash val="solid"/>
          </a:ln>
          <a:effectLst>
            <a:outerShdw sx="100000" sy="100000" kx="0" ky="0" algn="bl" rotWithShape="0" blurRad="19050" dist="50800" dir="2700000">
              <a:srgbClr val="B8AEB8">
                <a:alpha val="12000"/>
              </a:srgbClr>
            </a:outerShdw>
          </a:effectLst>
        </p:spPr>
      </p:sp>
      <p:sp>
        <p:nvSpPr>
          <p:cNvPr id="24" name="Text 20"/>
          <p:cNvSpPr/>
          <p:nvPr/>
        </p:nvSpPr>
        <p:spPr>
          <a:xfrm>
            <a:off x="886968" y="4169664"/>
            <a:ext cx="51480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6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What the pilot must prove</a:t>
            </a:r>
            <a:endParaRPr lang="en-US" sz="1600" dirty="0"/>
          </a:p>
        </p:txBody>
      </p:sp>
      <p:sp>
        <p:nvSpPr>
          <p:cNvPr id="25" name="Text 21"/>
          <p:cNvSpPr/>
          <p:nvPr/>
        </p:nvSpPr>
        <p:spPr>
          <a:xfrm>
            <a:off x="886968" y="4736592"/>
            <a:ext cx="51206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2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Can a user ask a difficult question? Does a requested counsellor actually respond? Does the user feel heard and leave with a clear next step? Can the team safely operate the service every day?</a:t>
            </a:r>
            <a:endParaRPr lang="en-US" sz="1200" dirty="0"/>
          </a:p>
        </p:txBody>
      </p:sp>
      <p:sp>
        <p:nvSpPr>
          <p:cNvPr id="26" name="Text 22"/>
          <p:cNvSpPr/>
          <p:nvPr/>
        </p:nvSpPr>
        <p:spPr>
          <a:xfrm>
            <a:off x="6986016" y="5907024"/>
            <a:ext cx="4617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40" i="1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registration, revenue or health-outcome traction is claimed before the pilot.</a:t>
            </a:r>
            <a:endParaRPr lang="en-US" sz="94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FUTURE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09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FUTURE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trust in Uganda, then grow with the same discipline.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SisterCare's future is a trusted private front door to emotional and menstrual support across underserved communities.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76656" y="2852928"/>
            <a:ext cx="3401568" cy="1993392"/>
          </a:xfrm>
          <a:prstGeom prst="roundRect">
            <a:avLst>
              <a:gd name="adj" fmla="val 3670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905256" y="30540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1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905256" y="344728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Prove safe value</a:t>
            </a:r>
            <a:endParaRPr lang="en-US" sz="1800" dirty="0"/>
          </a:p>
        </p:txBody>
      </p:sp>
      <p:sp>
        <p:nvSpPr>
          <p:cNvPr id="13" name="Text 10"/>
          <p:cNvSpPr/>
          <p:nvPr/>
        </p:nvSpPr>
        <p:spPr>
          <a:xfrm>
            <a:off x="905256" y="394106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E7E1E7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Run a supervised adult pilot in Uganda. Validate human handoffs, user outcomes, pricing and daily care operations.</a:t>
            </a:r>
            <a:endParaRPr lang="en-US" sz="1010" dirty="0"/>
          </a:p>
        </p:txBody>
      </p:sp>
      <p:sp>
        <p:nvSpPr>
          <p:cNvPr id="14" name="Shape 11"/>
          <p:cNvSpPr/>
          <p:nvPr/>
        </p:nvSpPr>
        <p:spPr>
          <a:xfrm>
            <a:off x="4443984" y="2852928"/>
            <a:ext cx="3401568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4672584" y="30540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2</a:t>
            </a:r>
            <a:endParaRPr lang="en-US" sz="1000" dirty="0"/>
          </a:p>
        </p:txBody>
      </p:sp>
      <p:sp>
        <p:nvSpPr>
          <p:cNvPr id="16" name="Text 13"/>
          <p:cNvSpPr/>
          <p:nvPr/>
        </p:nvSpPr>
        <p:spPr>
          <a:xfrm>
            <a:off x="4672584" y="344728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Grow through partners</a:t>
            </a:r>
            <a:endParaRPr lang="en-US" sz="1800" dirty="0"/>
          </a:p>
        </p:txBody>
      </p:sp>
      <p:sp>
        <p:nvSpPr>
          <p:cNvPr id="17" name="Text 14"/>
          <p:cNvSpPr/>
          <p:nvPr/>
        </p:nvSpPr>
        <p:spPr>
          <a:xfrm>
            <a:off x="4672584" y="394106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Expand through universities, NGOs and clinics. Improve local-language quality and funded counsellor coverage.</a:t>
            </a:r>
            <a:endParaRPr lang="en-US" sz="1010" dirty="0"/>
          </a:p>
        </p:txBody>
      </p:sp>
      <p:sp>
        <p:nvSpPr>
          <p:cNvPr id="18" name="Shape 15"/>
          <p:cNvSpPr/>
          <p:nvPr/>
        </p:nvSpPr>
        <p:spPr>
          <a:xfrm>
            <a:off x="8211312" y="2852928"/>
            <a:ext cx="3401568" cy="1993392"/>
          </a:xfrm>
          <a:prstGeom prst="roundRect">
            <a:avLst>
              <a:gd name="adj" fmla="val 3670"/>
            </a:avLst>
          </a:prstGeom>
          <a:solidFill>
            <a:srgbClr val="FFFFFF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8439912" y="3054096"/>
            <a:ext cx="29260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YEAR 3</a:t>
            </a:r>
            <a:endParaRPr lang="en-US" sz="1000" dirty="0"/>
          </a:p>
        </p:txBody>
      </p:sp>
      <p:sp>
        <p:nvSpPr>
          <p:cNvPr id="20" name="Text 17"/>
          <p:cNvSpPr/>
          <p:nvPr/>
        </p:nvSpPr>
        <p:spPr>
          <a:xfrm>
            <a:off x="8439912" y="3447288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Replicate responsibly</a:t>
            </a:r>
            <a:endParaRPr lang="en-US" sz="1800" dirty="0"/>
          </a:p>
        </p:txBody>
      </p:sp>
      <p:sp>
        <p:nvSpPr>
          <p:cNvPr id="21" name="Text 18"/>
          <p:cNvSpPr/>
          <p:nvPr/>
        </p:nvSpPr>
        <p:spPr>
          <a:xfrm>
            <a:off x="8439912" y="3941064"/>
            <a:ext cx="2926080" cy="676656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01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Prepare for new markets only after country-specific clinical, legal, language and emergency-resource approval.</a:t>
            </a:r>
            <a:endParaRPr lang="en-US" sz="1010" dirty="0"/>
          </a:p>
        </p:txBody>
      </p:sp>
      <p:sp>
        <p:nvSpPr>
          <p:cNvPr id="22" name="Shape 19"/>
          <p:cNvSpPr/>
          <p:nvPr/>
        </p:nvSpPr>
        <p:spPr>
          <a:xfrm>
            <a:off x="676656" y="5138928"/>
            <a:ext cx="10972800" cy="749808"/>
          </a:xfrm>
          <a:prstGeom prst="roundRect">
            <a:avLst>
              <a:gd name="adj" fmla="val 9756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23" name="Text 20"/>
          <p:cNvSpPr/>
          <p:nvPr/>
        </p:nvSpPr>
        <p:spPr>
          <a:xfrm>
            <a:off x="932688" y="5294376"/>
            <a:ext cx="15087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What never changes</a:t>
            </a:r>
            <a:endParaRPr lang="en-US" sz="1000" dirty="0"/>
          </a:p>
        </p:txBody>
      </p:sp>
      <p:sp>
        <p:nvSpPr>
          <p:cNvPr id="24" name="Text 21"/>
          <p:cNvSpPr/>
          <p:nvPr/>
        </p:nvSpPr>
        <p:spPr>
          <a:xfrm>
            <a:off x="2578608" y="5239512"/>
            <a:ext cx="8549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4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Privacy, truthful availability, accountable human ownership and a clear next step after every serious request.</a:t>
            </a:r>
            <a:endParaRPr lang="en-US" sz="14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SisterCare pink heart logo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237744"/>
            <a:ext cx="310896" cy="310896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877824" y="228600"/>
            <a:ext cx="219456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SisterCare</a:t>
            </a:r>
            <a:endParaRPr lang="en-US" sz="1700" dirty="0"/>
          </a:p>
        </p:txBody>
      </p:sp>
      <p:sp>
        <p:nvSpPr>
          <p:cNvPr id="4" name="Text 1"/>
          <p:cNvSpPr/>
          <p:nvPr/>
        </p:nvSpPr>
        <p:spPr>
          <a:xfrm>
            <a:off x="8229600" y="256032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b="1" spc="18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FUNDING ASK</a:t>
            </a:r>
            <a:endParaRPr lang="en-US" sz="900" dirty="0"/>
          </a:p>
        </p:txBody>
      </p:sp>
      <p:sp>
        <p:nvSpPr>
          <p:cNvPr id="5" name="Shape 2"/>
          <p:cNvSpPr/>
          <p:nvPr/>
        </p:nvSpPr>
        <p:spPr>
          <a:xfrm>
            <a:off x="457200" y="713232"/>
            <a:ext cx="11247120" cy="0"/>
          </a:xfrm>
          <a:prstGeom prst="line">
            <a:avLst/>
          </a:prstGeom>
          <a:noFill/>
          <a:ln w="12700">
            <a:solidFill>
              <a:srgbClr val="E9DDE8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11137392" y="6446520"/>
            <a:ext cx="47548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98E9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</a:t>
            </a:r>
            <a:endParaRPr lang="en-US" sz="800" dirty="0"/>
          </a:p>
        </p:txBody>
      </p:sp>
      <p:sp>
        <p:nvSpPr>
          <p:cNvPr id="7" name="Text 4"/>
          <p:cNvSpPr/>
          <p:nvPr/>
        </p:nvSpPr>
        <p:spPr>
          <a:xfrm>
            <a:off x="566928" y="93268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90" kern="0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FUNDING ASK</a:t>
            </a:r>
            <a:endParaRPr lang="en-US" sz="1000" dirty="0"/>
          </a:p>
        </p:txBody>
      </p:sp>
      <p:sp>
        <p:nvSpPr>
          <p:cNvPr id="8" name="Text 5"/>
          <p:cNvSpPr/>
          <p:nvPr/>
        </p:nvSpPr>
        <p:spPr>
          <a:xfrm>
            <a:off x="566928" y="1225296"/>
            <a:ext cx="10789920" cy="841248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2800" b="1" dirty="0">
                <a:solidFill>
                  <a:srgbClr val="19151B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US$75,000 to prove a safe, repeatable service in 12 months.</a:t>
            </a:r>
            <a:endParaRPr lang="en-US" sz="2800" dirty="0"/>
          </a:p>
        </p:txBody>
      </p:sp>
      <p:sp>
        <p:nvSpPr>
          <p:cNvPr id="9" name="Text 6"/>
          <p:cNvSpPr/>
          <p:nvPr/>
        </p:nvSpPr>
        <p:spPr>
          <a:xfrm>
            <a:off x="566928" y="2066544"/>
            <a:ext cx="1046988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indent="0" marL="0">
              <a:buNone/>
            </a:pPr>
            <a:r>
              <a:rPr lang="en-US" sz="1400" dirty="0">
                <a:solidFill>
                  <a:srgbClr val="675F6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Milestone-based seed funding will turn the working platform into a supervised pilot with staffed care, independent review and measurable evidence.</a:t>
            </a:r>
            <a:endParaRPr lang="en-US" sz="1400" dirty="0"/>
          </a:p>
        </p:txBody>
      </p:sp>
      <p:sp>
        <p:nvSpPr>
          <p:cNvPr id="10" name="Shape 7"/>
          <p:cNvSpPr/>
          <p:nvPr/>
        </p:nvSpPr>
        <p:spPr>
          <a:xfrm>
            <a:off x="658368" y="2743200"/>
            <a:ext cx="2788920" cy="2542032"/>
          </a:xfrm>
          <a:prstGeom prst="roundRect">
            <a:avLst>
              <a:gd name="adj" fmla="val 2878"/>
            </a:avLst>
          </a:prstGeom>
          <a:solidFill>
            <a:srgbClr val="19151B"/>
          </a:solidFill>
          <a:ln w="12700">
            <a:solidFill>
              <a:srgbClr val="19151B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96112" y="2999232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b="1" spc="150" kern="0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ASK</a:t>
            </a:r>
            <a:endParaRPr lang="en-US" sz="1000" dirty="0"/>
          </a:p>
        </p:txBody>
      </p:sp>
      <p:sp>
        <p:nvSpPr>
          <p:cNvPr id="12" name="Text 9"/>
          <p:cNvSpPr/>
          <p:nvPr/>
        </p:nvSpPr>
        <p:spPr>
          <a:xfrm>
            <a:off x="896112" y="3383280"/>
            <a:ext cx="2304288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US$75,000</a:t>
            </a:r>
            <a:endParaRPr lang="en-US" sz="2800" dirty="0"/>
          </a:p>
        </p:txBody>
      </p:sp>
      <p:sp>
        <p:nvSpPr>
          <p:cNvPr id="13" name="Text 10"/>
          <p:cNvSpPr/>
          <p:nvPr/>
        </p:nvSpPr>
        <p:spPr>
          <a:xfrm>
            <a:off x="896112" y="3977640"/>
            <a:ext cx="230428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12-month runway</a:t>
            </a:r>
            <a:endParaRPr lang="en-US" sz="1100" dirty="0"/>
          </a:p>
        </p:txBody>
      </p:sp>
      <p:sp>
        <p:nvSpPr>
          <p:cNvPr id="14" name="Text 11"/>
          <p:cNvSpPr/>
          <p:nvPr/>
        </p:nvSpPr>
        <p:spPr>
          <a:xfrm>
            <a:off x="896112" y="4361688"/>
            <a:ext cx="2304288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1000" dirty="0">
                <a:solidFill>
                  <a:srgbClr val="DCD5D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Released against pilot, safety and evidence milestones.</a:t>
            </a:r>
            <a:endParaRPr lang="en-US" sz="1000" dirty="0"/>
          </a:p>
        </p:txBody>
      </p:sp>
      <p:sp>
        <p:nvSpPr>
          <p:cNvPr id="15" name="Text 12"/>
          <p:cNvSpPr/>
          <p:nvPr/>
        </p:nvSpPr>
        <p:spPr>
          <a:xfrm>
            <a:off x="896112" y="4928616"/>
            <a:ext cx="2304288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FF00FF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 ads. No sale of private data.</a:t>
            </a:r>
            <a:endParaRPr lang="en-US" sz="920" dirty="0"/>
          </a:p>
        </p:txBody>
      </p:sp>
      <p:sp>
        <p:nvSpPr>
          <p:cNvPr id="16" name="Text 13"/>
          <p:cNvSpPr/>
          <p:nvPr/>
        </p:nvSpPr>
        <p:spPr>
          <a:xfrm>
            <a:off x="3749040" y="28620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Product, security and reliability</a:t>
            </a:r>
            <a:endParaRPr lang="en-US" sz="950" dirty="0"/>
          </a:p>
        </p:txBody>
      </p:sp>
      <p:sp>
        <p:nvSpPr>
          <p:cNvPr id="17" name="Shape 14"/>
          <p:cNvSpPr/>
          <p:nvPr/>
        </p:nvSpPr>
        <p:spPr>
          <a:xfrm>
            <a:off x="6108192" y="2926080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6108192" y="2926080"/>
            <a:ext cx="1078078" cy="128016"/>
          </a:xfrm>
          <a:prstGeom prst="roundRect">
            <a:avLst>
              <a:gd name="adj" fmla="val 28571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19" name="Text 16"/>
          <p:cNvSpPr/>
          <p:nvPr/>
        </p:nvSpPr>
        <p:spPr>
          <a:xfrm>
            <a:off x="9802368" y="28620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30%</a:t>
            </a:r>
            <a:endParaRPr lang="en-US" sz="950" dirty="0"/>
          </a:p>
        </p:txBody>
      </p:sp>
      <p:sp>
        <p:nvSpPr>
          <p:cNvPr id="20" name="Text 17"/>
          <p:cNvSpPr/>
          <p:nvPr/>
        </p:nvSpPr>
        <p:spPr>
          <a:xfrm>
            <a:off x="10305288" y="2862072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$22,500</a:t>
            </a:r>
            <a:endParaRPr lang="en-US" sz="950" dirty="0"/>
          </a:p>
        </p:txBody>
      </p:sp>
      <p:sp>
        <p:nvSpPr>
          <p:cNvPr id="21" name="Text 18"/>
          <p:cNvSpPr/>
          <p:nvPr/>
        </p:nvSpPr>
        <p:spPr>
          <a:xfrm>
            <a:off x="3749040" y="33192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Care operations and safeguarding</a:t>
            </a:r>
            <a:endParaRPr lang="en-US" sz="950" dirty="0"/>
          </a:p>
        </p:txBody>
      </p:sp>
      <p:sp>
        <p:nvSpPr>
          <p:cNvPr id="22" name="Shape 19"/>
          <p:cNvSpPr/>
          <p:nvPr/>
        </p:nvSpPr>
        <p:spPr>
          <a:xfrm>
            <a:off x="6108192" y="3383280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23" name="Shape 20"/>
          <p:cNvSpPr/>
          <p:nvPr/>
        </p:nvSpPr>
        <p:spPr>
          <a:xfrm>
            <a:off x="6108192" y="3383280"/>
            <a:ext cx="898398" cy="128016"/>
          </a:xfrm>
          <a:prstGeom prst="roundRect">
            <a:avLst>
              <a:gd name="adj" fmla="val 28571"/>
            </a:avLst>
          </a:prstGeom>
          <a:solidFill>
            <a:srgbClr val="A600A6"/>
          </a:solidFill>
          <a:ln w="12700">
            <a:solidFill>
              <a:srgbClr val="A600A6"/>
            </a:solidFill>
            <a:prstDash val="solid"/>
          </a:ln>
        </p:spPr>
      </p:sp>
      <p:sp>
        <p:nvSpPr>
          <p:cNvPr id="24" name="Text 21"/>
          <p:cNvSpPr/>
          <p:nvPr/>
        </p:nvSpPr>
        <p:spPr>
          <a:xfrm>
            <a:off x="9802368" y="33192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25%</a:t>
            </a:r>
            <a:endParaRPr lang="en-US" sz="950" dirty="0"/>
          </a:p>
        </p:txBody>
      </p:sp>
      <p:sp>
        <p:nvSpPr>
          <p:cNvPr id="25" name="Text 22"/>
          <p:cNvSpPr/>
          <p:nvPr/>
        </p:nvSpPr>
        <p:spPr>
          <a:xfrm>
            <a:off x="10305288" y="3319272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$18,750</a:t>
            </a:r>
            <a:endParaRPr lang="en-US" sz="950" dirty="0"/>
          </a:p>
        </p:txBody>
      </p:sp>
      <p:sp>
        <p:nvSpPr>
          <p:cNvPr id="26" name="Text 23"/>
          <p:cNvSpPr/>
          <p:nvPr/>
        </p:nvSpPr>
        <p:spPr>
          <a:xfrm>
            <a:off x="3749040" y="37764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Supervised pilot and evaluation</a:t>
            </a:r>
            <a:endParaRPr lang="en-US" sz="950" dirty="0"/>
          </a:p>
        </p:txBody>
      </p:sp>
      <p:sp>
        <p:nvSpPr>
          <p:cNvPr id="27" name="Shape 24"/>
          <p:cNvSpPr/>
          <p:nvPr/>
        </p:nvSpPr>
        <p:spPr>
          <a:xfrm>
            <a:off x="6108192" y="3840480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28" name="Shape 25"/>
          <p:cNvSpPr/>
          <p:nvPr/>
        </p:nvSpPr>
        <p:spPr>
          <a:xfrm>
            <a:off x="6108192" y="3840480"/>
            <a:ext cx="718718" cy="128016"/>
          </a:xfrm>
          <a:prstGeom prst="roundRect">
            <a:avLst>
              <a:gd name="adj" fmla="val 28571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29" name="Text 26"/>
          <p:cNvSpPr/>
          <p:nvPr/>
        </p:nvSpPr>
        <p:spPr>
          <a:xfrm>
            <a:off x="9802368" y="37764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20%</a:t>
            </a:r>
            <a:endParaRPr lang="en-US" sz="950" dirty="0"/>
          </a:p>
        </p:txBody>
      </p:sp>
      <p:sp>
        <p:nvSpPr>
          <p:cNvPr id="30" name="Text 27"/>
          <p:cNvSpPr/>
          <p:nvPr/>
        </p:nvSpPr>
        <p:spPr>
          <a:xfrm>
            <a:off x="10305288" y="3776472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$15,000</a:t>
            </a:r>
            <a:endParaRPr lang="en-US" sz="950" dirty="0"/>
          </a:p>
        </p:txBody>
      </p:sp>
      <p:sp>
        <p:nvSpPr>
          <p:cNvPr id="31" name="Text 28"/>
          <p:cNvSpPr/>
          <p:nvPr/>
        </p:nvSpPr>
        <p:spPr>
          <a:xfrm>
            <a:off x="3749040" y="42336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Clinical and language validation</a:t>
            </a:r>
            <a:endParaRPr lang="en-US" sz="950" dirty="0"/>
          </a:p>
        </p:txBody>
      </p:sp>
      <p:sp>
        <p:nvSpPr>
          <p:cNvPr id="32" name="Shape 29"/>
          <p:cNvSpPr/>
          <p:nvPr/>
        </p:nvSpPr>
        <p:spPr>
          <a:xfrm>
            <a:off x="6108192" y="4297680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33" name="Shape 30"/>
          <p:cNvSpPr/>
          <p:nvPr/>
        </p:nvSpPr>
        <p:spPr>
          <a:xfrm>
            <a:off x="6108192" y="4297680"/>
            <a:ext cx="539039" cy="128016"/>
          </a:xfrm>
          <a:prstGeom prst="roundRect">
            <a:avLst>
              <a:gd name="adj" fmla="val 28571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4" name="Text 31"/>
          <p:cNvSpPr/>
          <p:nvPr/>
        </p:nvSpPr>
        <p:spPr>
          <a:xfrm>
            <a:off x="9802368" y="42336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15%</a:t>
            </a:r>
            <a:endParaRPr lang="en-US" sz="950" dirty="0"/>
          </a:p>
        </p:txBody>
      </p:sp>
      <p:sp>
        <p:nvSpPr>
          <p:cNvPr id="35" name="Text 32"/>
          <p:cNvSpPr/>
          <p:nvPr/>
        </p:nvSpPr>
        <p:spPr>
          <a:xfrm>
            <a:off x="10305288" y="4233672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$11,250</a:t>
            </a:r>
            <a:endParaRPr lang="en-US" sz="950" dirty="0"/>
          </a:p>
        </p:txBody>
      </p:sp>
      <p:sp>
        <p:nvSpPr>
          <p:cNvPr id="36" name="Text 33"/>
          <p:cNvSpPr/>
          <p:nvPr/>
        </p:nvSpPr>
        <p:spPr>
          <a:xfrm>
            <a:off x="3749040" y="46908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Legal, data protection and contingency</a:t>
            </a:r>
            <a:endParaRPr lang="en-US" sz="950" dirty="0"/>
          </a:p>
        </p:txBody>
      </p:sp>
      <p:sp>
        <p:nvSpPr>
          <p:cNvPr id="37" name="Shape 34"/>
          <p:cNvSpPr/>
          <p:nvPr/>
        </p:nvSpPr>
        <p:spPr>
          <a:xfrm>
            <a:off x="6108192" y="4754880"/>
            <a:ext cx="3593592" cy="128016"/>
          </a:xfrm>
          <a:prstGeom prst="roundRect">
            <a:avLst>
              <a:gd name="adj" fmla="val 28571"/>
            </a:avLst>
          </a:prstGeom>
          <a:solidFill>
            <a:srgbClr val="E9DDE8"/>
          </a:solidFill>
          <a:ln w="12700">
            <a:solidFill>
              <a:srgbClr val="E9DDE8"/>
            </a:solidFill>
            <a:prstDash val="solid"/>
          </a:ln>
        </p:spPr>
      </p:sp>
      <p:sp>
        <p:nvSpPr>
          <p:cNvPr id="38" name="Shape 35"/>
          <p:cNvSpPr/>
          <p:nvPr/>
        </p:nvSpPr>
        <p:spPr>
          <a:xfrm>
            <a:off x="6108192" y="4754880"/>
            <a:ext cx="359359" cy="128016"/>
          </a:xfrm>
          <a:prstGeom prst="roundRect">
            <a:avLst>
              <a:gd name="adj" fmla="val 28571"/>
            </a:avLst>
          </a:prstGeom>
          <a:solidFill>
            <a:srgbClr val="FF00FF"/>
          </a:solidFill>
          <a:ln w="12700">
            <a:solidFill>
              <a:srgbClr val="FF00FF"/>
            </a:solidFill>
            <a:prstDash val="solid"/>
          </a:ln>
        </p:spPr>
      </p:sp>
      <p:sp>
        <p:nvSpPr>
          <p:cNvPr id="39" name="Text 36"/>
          <p:cNvSpPr/>
          <p:nvPr/>
        </p:nvSpPr>
        <p:spPr>
          <a:xfrm>
            <a:off x="9802368" y="4690872"/>
            <a:ext cx="43891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10%</a:t>
            </a:r>
            <a:endParaRPr lang="en-US" sz="950" dirty="0"/>
          </a:p>
        </p:txBody>
      </p:sp>
      <p:sp>
        <p:nvSpPr>
          <p:cNvPr id="40" name="Text 37"/>
          <p:cNvSpPr/>
          <p:nvPr/>
        </p:nvSpPr>
        <p:spPr>
          <a:xfrm>
            <a:off x="10305288" y="4690872"/>
            <a:ext cx="85039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5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$7,500</a:t>
            </a:r>
            <a:endParaRPr lang="en-US" sz="950" dirty="0"/>
          </a:p>
        </p:txBody>
      </p:sp>
      <p:sp>
        <p:nvSpPr>
          <p:cNvPr id="41" name="Shape 38"/>
          <p:cNvSpPr/>
          <p:nvPr/>
        </p:nvSpPr>
        <p:spPr>
          <a:xfrm>
            <a:off x="3749040" y="5248656"/>
            <a:ext cx="7406640" cy="530352"/>
          </a:xfrm>
          <a:prstGeom prst="roundRect">
            <a:avLst>
              <a:gd name="adj" fmla="val 10345"/>
            </a:avLst>
          </a:prstGeom>
          <a:solidFill>
            <a:srgbClr val="FFF1FD"/>
          </a:solidFill>
          <a:ln w="12700">
            <a:solidFill>
              <a:srgbClr val="FCE3F8"/>
            </a:solidFill>
            <a:prstDash val="solid"/>
          </a:ln>
        </p:spPr>
      </p:sp>
      <p:sp>
        <p:nvSpPr>
          <p:cNvPr id="42" name="Text 39"/>
          <p:cNvSpPr/>
          <p:nvPr/>
        </p:nvSpPr>
        <p:spPr>
          <a:xfrm>
            <a:off x="3968496" y="5358384"/>
            <a:ext cx="69677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>
            <a:normAutofit/>
          </a:bodyPr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750075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Funds unlock: audited pilot release · staffed coverage · validated guidance · credible pilot evidence</a:t>
            </a:r>
            <a:endParaRPr lang="en-US" sz="1000" dirty="0"/>
          </a:p>
        </p:txBody>
      </p:sp>
      <p:sp>
        <p:nvSpPr>
          <p:cNvPr id="43" name="Text 40"/>
          <p:cNvSpPr/>
          <p:nvPr/>
        </p:nvSpPr>
        <p:spPr>
          <a:xfrm>
            <a:off x="658368" y="6007608"/>
            <a:ext cx="49834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20" b="1" dirty="0">
                <a:solidFill>
                  <a:srgbClr val="19151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Founding team: Kamwanga Raheem · Kisakye Abigail · Kaboggoza Ivan</a:t>
            </a:r>
            <a:endParaRPr lang="en-US" sz="920" dirty="0"/>
          </a:p>
        </p:txBody>
      </p:sp>
      <p:sp>
        <p:nvSpPr>
          <p:cNvPr id="44" name="Text 41">
            <a:hlinkClick r:id="rId2" tooltip=""/>
          </p:cNvPr>
          <p:cNvSpPr/>
          <p:nvPr/>
        </p:nvSpPr>
        <p:spPr>
          <a:xfrm>
            <a:off x="5760720" y="6007608"/>
            <a:ext cx="54864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20" u="sng" dirty="0">
                <a:solidFill>
                  <a:srgbClr val="A600A6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2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kamwangaraheem2050@gmail.com  ·  +256 704 057 370  ·  sister-care.vercel.app</a:t>
            </a:r>
            <a:endParaRPr lang="en-US" sz="92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SisterCares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SisterCare App Pitch Deck</dc:title>
  <dc:subject>The SisterCare private support application</dc:subject>
  <dc:creator>SisterCare founding team</dc:creator>
  <cp:lastModifiedBy>SisterCare founding team</cp:lastModifiedBy>
  <cp:revision>1</cp:revision>
  <dcterms:created xsi:type="dcterms:W3CDTF">2026-08-25T05:09:39Z</dcterms:created>
  <dcterms:modified xsi:type="dcterms:W3CDTF">2026-08-25T05:09:39Z</dcterms:modified>
</cp:coreProperties>
</file>