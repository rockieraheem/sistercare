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WHO Mental health of adolescents, 1 September 2025; UNICEF Menstrual hygiene. Global context only. These figures are not SisterCare 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E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ister-care.vercel.app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adolescent-mental-health" TargetMode="External"/><Relationship Id="rId4" Type="http://schemas.openxmlformats.org/officeDocument/2006/relationships/hyperlink" Target="https://www.unicef.org/wash/menstrual-hygiene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ister-care.vercel.app/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mailto:kamwangaraheem2050@gmail.com" TargetMode="External"/><Relationship Id="rId3" Type="http://schemas.openxmlformats.org/officeDocument/2006/relationships/hyperlink" Target="https://sister-care.vercel.app/" TargetMode="Externa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Young woman seeking private support on her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6832" y="0"/>
            <a:ext cx="5534863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27648" y="0"/>
            <a:ext cx="658368" cy="6858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1" descr="SisterCare pink hear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30352"/>
            <a:ext cx="475488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07008" y="521208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658368" y="1417320"/>
            <a:ext cx="166420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68096" y="142646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PITCH ·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58368" y="1965960"/>
            <a:ext cx="5440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private first step when a question feels too hard to ask.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58368" y="3730752"/>
            <a:ext cx="5230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helps girls and women speak privately, keep useful body context and reach verified human support without shame.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4983480"/>
            <a:ext cx="166420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99262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450592" y="498348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560320" y="4992624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CONTEXT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913632" y="49834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023360" y="4992624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SUPPORT</a:t>
            </a:r>
            <a:endParaRPr lang="en-US" sz="900" dirty="0"/>
          </a:p>
        </p:txBody>
      </p:sp>
      <p:sp>
        <p:nvSpPr>
          <p:cNvPr id="16" name="Text 12">
            <a:hlinkClick r:id="rId3" tooltip=""/>
          </p:cNvPr>
          <p:cNvSpPr/>
          <p:nvPr/>
        </p:nvSpPr>
        <p:spPr>
          <a:xfrm>
            <a:off x="658368" y="60899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sister-care.vercel.app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Many important questions are never asked.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Stigma, fear of exposure and uncertainty about where to turn can delay support until a situation becomes harder.</a:t>
            </a:r>
            <a:endParaRPr lang="en-US" sz="1400" dirty="0"/>
          </a:p>
        </p:txBody>
      </p:sp>
      <p:pic>
        <p:nvPicPr>
          <p:cNvPr id="10" name="Image 1" descr="Young woman sitting alone while distress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743200"/>
            <a:ext cx="4919472" cy="32735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806440" y="2743200"/>
            <a:ext cx="18288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00760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00760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519672" y="29260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Silence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035040" y="3493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 of judgment keeps sensitive questions private.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818120" y="2743200"/>
            <a:ext cx="18288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01928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531352" y="29260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Confusion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046720" y="3493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offers information without context or accountability.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9829800" y="2743200"/>
            <a:ext cx="1773936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1003096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003096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0543032" y="2926080"/>
            <a:ext cx="859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Delay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10058400" y="349300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Concerns grow while professional support is delayed.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806440" y="4407408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971032" y="4535424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300" dirty="0"/>
          </a:p>
        </p:txBody>
      </p:sp>
      <p:sp>
        <p:nvSpPr>
          <p:cNvPr id="28" name="Text 24"/>
          <p:cNvSpPr/>
          <p:nvPr/>
        </p:nvSpPr>
        <p:spPr>
          <a:xfrm>
            <a:off x="5971032" y="4919472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10–19-year-olds experience a mental health condition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5971032" y="5157216"/>
            <a:ext cx="2414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WHO, 2025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8759952" y="4407408"/>
            <a:ext cx="2843784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924544" y="453542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1.8B</a:t>
            </a:r>
            <a:endParaRPr lang="en-US" sz="2300" dirty="0"/>
          </a:p>
        </p:txBody>
      </p:sp>
      <p:sp>
        <p:nvSpPr>
          <p:cNvPr id="32" name="Text 28"/>
          <p:cNvSpPr/>
          <p:nvPr/>
        </p:nvSpPr>
        <p:spPr>
          <a:xfrm>
            <a:off x="8924544" y="491947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menstruate every month worldwide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8924544" y="5157216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UNICEF</a:t>
            </a:r>
            <a:endParaRPr lang="en-US" sz="680" dirty="0"/>
          </a:p>
        </p:txBody>
      </p:sp>
      <p:sp>
        <p:nvSpPr>
          <p:cNvPr id="34" name="Text 30"/>
          <p:cNvSpPr/>
          <p:nvPr/>
        </p:nvSpPr>
        <p:spPr>
          <a:xfrm>
            <a:off x="5806440" y="57150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Mental health of adolescents (2025)</a:t>
            </a:r>
            <a:endParaRPr lang="en-US" sz="720" dirty="0"/>
          </a:p>
        </p:txBody>
      </p:sp>
      <p:sp>
        <p:nvSpPr>
          <p:cNvPr id="35" name="Text 31"/>
          <p:cNvSpPr/>
          <p:nvPr/>
        </p:nvSpPr>
        <p:spPr>
          <a:xfrm>
            <a:off x="8759952" y="5715000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UNICEF, Menstrual hygiene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silence to a safe next step.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member can begin with one sentence, keep control of what is shared, and involve a real counsellor when ready.</a:t>
            </a:r>
            <a:endParaRPr lang="en-US" sz="1400" dirty="0"/>
          </a:p>
        </p:txBody>
      </p:sp>
      <p:pic>
        <p:nvPicPr>
          <p:cNvPr id="10" name="Image 1" descr="Woman receiving support through her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4" y="2679192"/>
            <a:ext cx="4050792" cy="2697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76656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77824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77824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389888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Begin privately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905256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Talk to Sister without first finding the perfect words.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120896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386072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87240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58724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99304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context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614672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saved conversation, wellbeing and cycle context where consent allows.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830312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095488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96656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9665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8808720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Choose human help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324088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a verified available counsellor by text or private audio.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85800" y="4736592"/>
            <a:ext cx="6455664" cy="640080"/>
          </a:xfrm>
          <a:prstGeom prst="roundRect">
            <a:avLst>
              <a:gd name="adj" fmla="val 11429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914400" y="4855464"/>
            <a:ext cx="5998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does not diagnose. It helps the user ask, understand and reach the right next step.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app, three connected forms of support.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Mental wellbeing leads the experience. Menstrual tracking remains useful context rather than the identity of the product.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852928"/>
            <a:ext cx="276148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59536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71600" y="303580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 conversation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86968" y="3602736"/>
            <a:ext cx="230428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or speak in supported languages. Sister remembers the current conversation, explains uncertainty and can carry out safe in-app actions.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794760" y="2706624"/>
            <a:ext cx="4343400" cy="3054096"/>
          </a:xfrm>
          <a:prstGeom prst="roundRect">
            <a:avLst>
              <a:gd name="adj" fmla="val 4790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931920" y="2852928"/>
            <a:ext cx="4069080" cy="2761488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23944" y="301752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142232" y="3557016"/>
            <a:ext cx="3383280" cy="658368"/>
          </a:xfrm>
          <a:prstGeom prst="roundRect">
            <a:avLst>
              <a:gd name="adj" fmla="val 11111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97680" y="3639312"/>
            <a:ext cx="3072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happened and I do not know who I can tell.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44568" y="4416552"/>
            <a:ext cx="3246120" cy="841248"/>
          </a:xfrm>
          <a:prstGeom prst="roundRect">
            <a:avLst>
              <a:gd name="adj" fmla="val 8696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18304" y="4517136"/>
            <a:ext cx="2898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7500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begin with one sentence. We can take the next step together.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4142232" y="5065776"/>
            <a:ext cx="3648456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06824" y="5111496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8A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 Sister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503920" y="2852928"/>
            <a:ext cx="276148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705088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705088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217152" y="303580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Body context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732520" y="360273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Accurate cycle dates and symptoms remain separate, transparent and optional to share.</a:t>
            </a:r>
            <a:endParaRPr lang="en-US" sz="1040" dirty="0"/>
          </a:p>
        </p:txBody>
      </p:sp>
      <p:sp>
        <p:nvSpPr>
          <p:cNvPr id="29" name="Shape 26"/>
          <p:cNvSpPr/>
          <p:nvPr/>
        </p:nvSpPr>
        <p:spPr>
          <a:xfrm>
            <a:off x="8503920" y="4197096"/>
            <a:ext cx="2761488" cy="1170432"/>
          </a:xfrm>
          <a:prstGeom prst="roundRect">
            <a:avLst>
              <a:gd name="adj" fmla="val 6250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705088" y="439826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705088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217152" y="4379976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support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732520" y="494690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verified counsellors, request one person, message in real time or join private audio.</a:t>
            </a:r>
            <a:endParaRPr lang="en-US" sz="1040" dirty="0"/>
          </a:p>
        </p:txBody>
      </p:sp>
      <p:sp>
        <p:nvSpPr>
          <p:cNvPr id="34" name="Text 31"/>
          <p:cNvSpPr/>
          <p:nvPr/>
        </p:nvSpPr>
        <p:spPr>
          <a:xfrm>
            <a:off x="3794760" y="5925312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for mobile, low bandwidth and private use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HANDOFF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HANDOFF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product stays responsible after someone asks for help.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does not treat a button tap as a completed support outcome.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05256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member is waiting. No claim of connection.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193542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3458718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659886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988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171950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Assigned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687318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eligible counsellor is notified and accountable.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975604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240780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41948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194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954012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Accepted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469380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people are told that human contact is ready.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757666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022842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224010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22401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736074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Followed up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251442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next step, referral or interrupted session remains visible.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EAF8F2"/>
          </a:solidFill>
          <a:ln w="12700">
            <a:solidFill>
              <a:srgbClr val="B8E8D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68680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79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Truthful states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68680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“Connected” appears only after acceptance.</a:t>
            </a:r>
            <a:endParaRPr lang="en-US" sz="930" dirty="0"/>
          </a:p>
        </p:txBody>
      </p:sp>
      <p:sp>
        <p:nvSpPr>
          <p:cNvPr id="36" name="Shape 33"/>
          <p:cNvSpPr/>
          <p:nvPr/>
        </p:nvSpPr>
        <p:spPr>
          <a:xfrm>
            <a:off x="4471416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636008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updates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4636008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Acceptance, decline, messages and completion survive refreshes.</a:t>
            </a:r>
            <a:endParaRPr lang="en-US" sz="930" dirty="0"/>
          </a:p>
        </p:txBody>
      </p:sp>
      <p:sp>
        <p:nvSpPr>
          <p:cNvPr id="39" name="Shape 36"/>
          <p:cNvSpPr/>
          <p:nvPr/>
        </p:nvSpPr>
        <p:spPr>
          <a:xfrm>
            <a:off x="8238744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03336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Low-bandwidth fallback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403336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text remains available when audio cannot connect.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WE SERVE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WE SERVE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where privacy and trust are hardest to find.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software pilot is supervised and adult-only. Access for minors requires a separate safeguarding, consent and legal pathway.</a:t>
            </a:r>
            <a:endParaRPr lang="en-US" sz="1400" dirty="0"/>
          </a:p>
        </p:txBody>
      </p:sp>
      <p:pic>
        <p:nvPicPr>
          <p:cNvPr id="10" name="Image 1" descr="Woman using SisterCare privately on a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424" y="2651760"/>
            <a:ext cx="4782312" cy="31912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2770632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953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953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371600" y="295351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Young women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86968" y="35204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navigating anxiety, relationships, loss, harassment or private health questions.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675888" y="2770632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87705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87705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389120" y="295351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Underserved communities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904488" y="35204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facing stigma, limited trusted information or few accessible support options.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58368" y="4297680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59536" y="449884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59536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371600" y="44805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partners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86968" y="504748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Universities, NGOs, clinics and community programmes seeking a safer first contact.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675888" y="4297680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3877056" y="449884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3877056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389120" y="44805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Verified counsellors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3904488" y="504748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Professionals who need clear assignments, consented context and accountable follow-up.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tracking builds trust. Premium support funds care.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can pay directly, while institutions and funders can sponsor access for people who cannot.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6968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96696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86968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Cycle tracking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86968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period dates, understand the current cycle and receive useful reminders.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86968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and trust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4096512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25112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34840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325112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+ counsellor access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325112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6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AI support, verified counsellor messaging and in-app audio during staffed hours.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325112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revenue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7534656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763256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72984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SPONSORED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763256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access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763256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Universities, NGOs, clinics and funders cover premium access for defined groups.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763256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revenue</a:t>
            </a:r>
            <a:endParaRPr lang="en-US" sz="940" dirty="0"/>
          </a:p>
        </p:txBody>
      </p:sp>
      <p:sp>
        <p:nvSpPr>
          <p:cNvPr id="28" name="Text 25"/>
          <p:cNvSpPr/>
          <p:nvPr/>
        </p:nvSpPr>
        <p:spPr>
          <a:xfrm>
            <a:off x="658368" y="5760720"/>
            <a:ext cx="9939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advertising. No sale of private health data. Pilot pricing will be tested for affordability and service capacity.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AND EVIDENCE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AND EVIDENCE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working platform is ready for supervised learning, not inflated claims.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evidence is strong for an early product. User value, pricing and support operations must now be proven through a controlled pilot.</a:t>
            </a:r>
            <a:endParaRPr lang="en-US" sz="1400" dirty="0"/>
          </a:p>
        </p:txBody>
      </p:sp>
      <p:pic>
        <p:nvPicPr>
          <p:cNvPr id="10" name="Image 1" descr="Counsellor providing private remote sup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016" y="2706624"/>
            <a:ext cx="4617720" cy="30815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528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822960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tests passed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2960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 Aug 2026</a:t>
            </a:r>
            <a:endParaRPr lang="en-US" sz="680" dirty="0"/>
          </a:p>
        </p:txBody>
      </p:sp>
      <p:sp>
        <p:nvSpPr>
          <p:cNvPr id="15" name="Shape 11"/>
          <p:cNvSpPr/>
          <p:nvPr/>
        </p:nvSpPr>
        <p:spPr>
          <a:xfrm>
            <a:off x="2587752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52344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300" dirty="0"/>
          </a:p>
        </p:txBody>
      </p:sp>
      <p:sp>
        <p:nvSpPr>
          <p:cNvPr id="17" name="Text 13"/>
          <p:cNvSpPr/>
          <p:nvPr/>
        </p:nvSpPr>
        <p:spPr>
          <a:xfrm>
            <a:off x="2752344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role-specific workspaces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52344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 · counsellor · admin</a:t>
            </a:r>
            <a:endParaRPr lang="en-US" sz="680" dirty="0"/>
          </a:p>
        </p:txBody>
      </p:sp>
      <p:sp>
        <p:nvSpPr>
          <p:cNvPr id="19" name="Shape 15"/>
          <p:cNvSpPr/>
          <p:nvPr/>
        </p:nvSpPr>
        <p:spPr>
          <a:xfrm>
            <a:off x="4517136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81728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300" dirty="0"/>
          </a:p>
        </p:txBody>
      </p:sp>
      <p:sp>
        <p:nvSpPr>
          <p:cNvPr id="21" name="Text 17"/>
          <p:cNvSpPr/>
          <p:nvPr/>
        </p:nvSpPr>
        <p:spPr>
          <a:xfrm>
            <a:off x="4681728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care platform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4681728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application</a:t>
            </a:r>
            <a:endParaRPr lang="en-US" sz="680" dirty="0"/>
          </a:p>
        </p:txBody>
      </p:sp>
      <p:sp>
        <p:nvSpPr>
          <p:cNvPr id="23" name="Shape 19"/>
          <p:cNvSpPr/>
          <p:nvPr/>
        </p:nvSpPr>
        <p:spPr>
          <a:xfrm>
            <a:off x="658368" y="3986784"/>
            <a:ext cx="5577840" cy="1801368"/>
          </a:xfrm>
          <a:prstGeom prst="roundRect">
            <a:avLst>
              <a:gd name="adj" fmla="val 4061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886968" y="4169664"/>
            <a:ext cx="5148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pilot must prove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86968" y="473659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a user ask a difficult question? Does a requested counsellor actually respond? Does the user feel heard and leave with a clear next step? Can the team safely operate the service every day?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986016" y="5907024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i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registration, revenue or health-outcome traction is claimed before the pilot.</a:t>
            </a:r>
            <a:endParaRPr lang="en-US" sz="9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FUTURE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FUTURE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trust in Uganda, then grow with the same discipline.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SisterCare's future is a trusted private front door to emotional and menstrual support across underserved communities.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852928"/>
            <a:ext cx="3401568" cy="1993392"/>
          </a:xfrm>
          <a:prstGeom prst="roundRect">
            <a:avLst>
              <a:gd name="adj" fmla="val 3670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5256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05256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safe value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5256" y="394106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E7E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a supervised adult pilot in Uganda. Validate human handoffs, user outcomes, pricing and daily care operations.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4443984" y="2852928"/>
            <a:ext cx="3401568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72584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72584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 through partners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672584" y="394106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through universities, NGOs and clinics. Improve local-language quality and funded counsellor coverage.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8211312" y="2852928"/>
            <a:ext cx="3401568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9912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439912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Replicate responsibly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439912" y="394106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for new markets only after country-specific clinical, legal, language and emergency-resource approval.</a:t>
            </a:r>
            <a:endParaRPr lang="en-US" sz="1010" dirty="0"/>
          </a:p>
        </p:txBody>
      </p:sp>
      <p:sp>
        <p:nvSpPr>
          <p:cNvPr id="22" name="Shape 19"/>
          <p:cNvSpPr/>
          <p:nvPr/>
        </p:nvSpPr>
        <p:spPr>
          <a:xfrm>
            <a:off x="676656" y="5138928"/>
            <a:ext cx="10972800" cy="749808"/>
          </a:xfrm>
          <a:prstGeom prst="roundRect">
            <a:avLst>
              <a:gd name="adj" fmla="val 9756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" y="5294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never changes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578608" y="5239512"/>
            <a:ext cx="8549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Privacy, truthful availability, accountable human ownership and a clear next step after every serious request.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ASK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ASK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US$75,000 to prove a safe, repeatable service in 12 months.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Milestone-based seed funding will turn the working platform into a supervised pilot with staffed care, independent review and measurable evidence.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743200"/>
            <a:ext cx="2788920" cy="2542032"/>
          </a:xfrm>
          <a:prstGeom prst="roundRect">
            <a:avLst>
              <a:gd name="adj" fmla="val 2878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29992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ASK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96112" y="338328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US$75,000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96112" y="3977640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runway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96112" y="436168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D5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Released against pilot, safety and evidence milestones.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96112" y="4928616"/>
            <a:ext cx="2304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ads. No sale of private data.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3749040" y="2862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Product, security and reliability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08192" y="29260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08192" y="2926080"/>
            <a:ext cx="1078078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02368" y="28620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30%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305288" y="28620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$22,500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749040" y="3319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Care operations and safeguarding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08192" y="33832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08192" y="3383280"/>
            <a:ext cx="898398" cy="128016"/>
          </a:xfrm>
          <a:prstGeom prst="roundRect">
            <a:avLst>
              <a:gd name="adj" fmla="val 28571"/>
            </a:avLst>
          </a:prstGeom>
          <a:solidFill>
            <a:srgbClr val="A600A6"/>
          </a:solidFill>
          <a:ln w="12700">
            <a:solidFill>
              <a:srgbClr val="A600A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02368" y="33192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305288" y="33192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$18,750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3749040" y="3776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 pilot and evaluation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108192" y="38404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08192" y="3840480"/>
            <a:ext cx="718718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02368" y="37764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0305288" y="37764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$15,000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749040" y="4233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and language validation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108192" y="42976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108192" y="4297680"/>
            <a:ext cx="539039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802368" y="42336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15%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0305288" y="42336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$11,250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3749040" y="4690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Legal, data protection and contingency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108192" y="47548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108192" y="4754880"/>
            <a:ext cx="359359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802368" y="46908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0305288" y="46908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$7,500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3749040" y="5248656"/>
            <a:ext cx="7406640" cy="530352"/>
          </a:xfrm>
          <a:prstGeom prst="roundRect">
            <a:avLst>
              <a:gd name="adj" fmla="val 10345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968496" y="5358384"/>
            <a:ext cx="6967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500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Funds unlock: audited pilot release · staffed coverage · validated guidance · credible pilot evidence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" y="600760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Milestone-based seed ask · detailed pilot budget available for diligence</a:t>
            </a:r>
            <a:endParaRPr lang="en-US" sz="920" dirty="0"/>
          </a:p>
        </p:txBody>
      </p:sp>
      <p:sp>
        <p:nvSpPr>
          <p:cNvPr id="44" name="Text 41">
            <a:hlinkClick r:id="rId2" tooltip=""/>
          </p:cNvPr>
          <p:cNvSpPr/>
          <p:nvPr/>
        </p:nvSpPr>
        <p:spPr>
          <a:xfrm>
            <a:off x="5760720" y="60076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kamwangaraheem2050@gmail.com  ·  +256 704 057 370  ·  sister-care.vercel.app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TEAM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TEAM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builders creating one trusted place to ask for help.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combine product execution with a mission rooted in the questions girls and women often feel unable to ask openly.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2798064"/>
            <a:ext cx="749808" cy="74980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798064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618488" y="2816352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Kamwanga Raheem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618488" y="31546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and engineering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2798064"/>
            <a:ext cx="749808" cy="749808"/>
          </a:xfrm>
          <a:prstGeom prst="ellipse">
            <a:avLst/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97680" y="2798064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230368" y="2816352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Kisakye Abigail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230368" y="31546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team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909560" y="2798064"/>
            <a:ext cx="749808" cy="749808"/>
          </a:xfrm>
          <a:prstGeom prst="ellipse">
            <a:avLst/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09560" y="2798064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KI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842248" y="2816352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Kaboggoza Ivan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842248" y="31546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team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85800" y="4087368"/>
            <a:ext cx="10835640" cy="1024128"/>
          </a:xfrm>
          <a:prstGeom prst="roundRect">
            <a:avLst>
              <a:gd name="adj" fmla="val 7143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41832" y="42611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need now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578608" y="4206240"/>
            <a:ext cx="8366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US$75,000 · pilot partners · qualified clinical and safeguarding advisors</a:t>
            </a:r>
            <a:endParaRPr lang="en-US" sz="1700" dirty="0"/>
          </a:p>
        </p:txBody>
      </p:sp>
      <p:sp>
        <p:nvSpPr>
          <p:cNvPr id="25" name="Text 22">
            <a:hlinkClick r:id="rId2" tooltip=""/>
          </p:cNvPr>
          <p:cNvSpPr/>
          <p:nvPr/>
        </p:nvSpPr>
        <p:spPr>
          <a:xfrm>
            <a:off x="685800" y="57058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kamwangaraheem2050@gmail.com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096512" y="57058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+256 704 057 370</a:t>
            </a:r>
            <a:endParaRPr lang="en-US" sz="1100" dirty="0"/>
          </a:p>
        </p:txBody>
      </p:sp>
      <p:sp>
        <p:nvSpPr>
          <p:cNvPr id="27" name="Text 24">
            <a:hlinkClick r:id="rId3" tooltip=""/>
          </p:cNvPr>
          <p:cNvSpPr/>
          <p:nvPr/>
        </p:nvSpPr>
        <p:spPr>
          <a:xfrm>
            <a:off x="7498080" y="57058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sister-care.vercel.app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SisterCares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SisterCare App Pitch Deck</dc:title>
  <dc:subject>The SisterCare private support application</dc:subject>
  <dc:creator>SisterCare founding team</dc:creator>
  <cp:lastModifiedBy>SisterCare founding team</cp:lastModifiedBy>
  <cp:revision>1</cp:revision>
  <dcterms:created xsi:type="dcterms:W3CDTF">2026-08-25T05:55:31Z</dcterms:created>
  <dcterms:modified xsi:type="dcterms:W3CDTF">2026-08-25T05:55:31Z</dcterms:modified>
</cp:coreProperties>
</file>