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ster-care.vercel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 thoughtful adolescent girl in a private ro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0"/>
            <a:ext cx="522122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22008" y="0"/>
            <a:ext cx="118872" cy="68580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pic>
        <p:nvPicPr>
          <p:cNvPr id="4" name="Image 1" descr="SisterCar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10896"/>
            <a:ext cx="310896" cy="31089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33272" y="301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658368" y="12984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1298448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FUNDER PITCH · 2026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1874520"/>
            <a:ext cx="56235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519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Private support for questions people are afraid to ask.</a:t>
            </a:r>
            <a:endParaRPr lang="en-US" sz="3100" dirty="0"/>
          </a:p>
        </p:txBody>
      </p:sp>
      <p:sp>
        <p:nvSpPr>
          <p:cNvPr id="9" name="Text 5"/>
          <p:cNvSpPr txBox="1"/>
          <p:nvPr/>
        </p:nvSpPr>
        <p:spPr>
          <a:xfrm>
            <a:off x="658368" y="3730752"/>
            <a:ext cx="5440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 helps girls and women track their periods, speak privately and reach trusted support without shame.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58368" y="5138928"/>
            <a:ext cx="5376672" cy="749808"/>
          </a:xfrm>
          <a:prstGeom prst="roundRect">
            <a:avLst>
              <a:gd name="adj" fmla="val 17073"/>
            </a:avLst>
          </a:prstGeom>
          <a:solidFill>
            <a:srgbClr val="FFF7FF"/>
          </a:solidFill>
          <a:ln w="12700">
            <a:solidFill>
              <a:srgbClr val="FFF7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96112" y="5138928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 tracking  ·  Private AI support  ·  Verified counsellors</a:t>
            </a:r>
            <a:endParaRPr lang="en-US" sz="1150" dirty="0"/>
          </a:p>
        </p:txBody>
      </p:sp>
      <p:sp>
        <p:nvSpPr>
          <p:cNvPr id="12" name="Text 8">
            <a:hlinkClick r:id="rId3" tooltip=""/>
          </p:cNvPr>
          <p:cNvSpPr txBox="1"/>
          <p:nvPr/>
        </p:nvSpPr>
        <p:spPr>
          <a:xfrm>
            <a:off x="658368" y="630936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u="sng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sister-care.vercel.app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0896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33272" y="301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7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243584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19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Many important questions are never asked.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9019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Fear, shame and lack of privacy stop people from seeking help early.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EEDDEE"/>
            </a:solidFill>
            <a:prstDash val="solid"/>
          </a:ln>
        </p:spPr>
      </p:sp>
      <p:pic>
        <p:nvPicPr>
          <p:cNvPr id="9" name="Image 1" descr="A young woman privately seeking information on her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78608"/>
            <a:ext cx="4700016" cy="34930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96112" y="5349240"/>
            <a:ext cx="4224528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78992" y="5349240"/>
            <a:ext cx="3858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“Who can I ask without being judged?”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650992" y="2578608"/>
            <a:ext cx="5632704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52160" y="2852928"/>
            <a:ext cx="365760" cy="365760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85216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7066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Silence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3017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questions stay hidden because people fear judgment or exposure.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5650992" y="3657600"/>
            <a:ext cx="5632704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852160" y="3931920"/>
            <a:ext cx="365760" cy="365760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85216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0" y="37856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information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0" y="40965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results and social media may give advice without context or accountability.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5650992" y="4736592"/>
            <a:ext cx="5632704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852160" y="5010912"/>
            <a:ext cx="365760" cy="365760"/>
          </a:xfrm>
          <a:prstGeom prst="ellipse">
            <a:avLst/>
          </a:prstGeom>
          <a:solidFill>
            <a:srgbClr val="D86E3E"/>
          </a:solidFill>
          <a:ln w="12700">
            <a:solidFill>
              <a:srgbClr val="D86E3E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852160" y="5010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0" y="4864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support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400800" y="51755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concern can become fear, unsafe self-care or delayed professional help.</a:t>
            </a:r>
            <a:endParaRPr lang="en-US" sz="880" dirty="0"/>
          </a:p>
        </p:txBody>
      </p:sp>
      <p:sp>
        <p:nvSpPr>
          <p:cNvPr id="27" name="Shape 23"/>
          <p:cNvSpPr/>
          <p:nvPr/>
        </p:nvSpPr>
        <p:spPr>
          <a:xfrm>
            <a:off x="5650992" y="5486400"/>
            <a:ext cx="2670048" cy="914400"/>
          </a:xfrm>
          <a:prstGeom prst="roundRect">
            <a:avLst>
              <a:gd name="adj" fmla="val 15000"/>
            </a:avLst>
          </a:prstGeom>
          <a:solidFill>
            <a:srgbClr val="FFF7FF"/>
          </a:solidFill>
          <a:ln w="12700">
            <a:solidFill>
              <a:srgbClr val="FFF7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815584" y="560527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0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in 7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5815584" y="6016752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adolescents experience a mental health condition</a:t>
            </a:r>
            <a:endParaRPr lang="en-US" sz="920" dirty="0"/>
          </a:p>
        </p:txBody>
      </p:sp>
      <p:sp>
        <p:nvSpPr>
          <p:cNvPr id="30" name="Shape 26"/>
          <p:cNvSpPr/>
          <p:nvPr/>
        </p:nvSpPr>
        <p:spPr>
          <a:xfrm>
            <a:off x="8558784" y="5486400"/>
            <a:ext cx="2724912" cy="914400"/>
          </a:xfrm>
          <a:prstGeom prst="roundRect">
            <a:avLst>
              <a:gd name="adj" fmla="val 15000"/>
            </a:avLst>
          </a:prstGeom>
          <a:solidFill>
            <a:srgbClr val="FFE8FF"/>
          </a:solidFill>
          <a:ln w="12700">
            <a:solidFill>
              <a:srgbClr val="FFE8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723376" y="560527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17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1.8B</a:t>
            </a:r>
            <a:endParaRPr lang="en-US" sz="2200" dirty="0"/>
          </a:p>
        </p:txBody>
      </p:sp>
      <p:sp>
        <p:nvSpPr>
          <p:cNvPr id="32" name="Text 28"/>
          <p:cNvSpPr txBox="1"/>
          <p:nvPr/>
        </p:nvSpPr>
        <p:spPr>
          <a:xfrm>
            <a:off x="8723376" y="6016752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menstruate every month worldwide</a:t>
            </a:r>
            <a:endParaRPr lang="en-US" sz="920" dirty="0"/>
          </a:p>
        </p:txBody>
      </p:sp>
      <p:sp>
        <p:nvSpPr>
          <p:cNvPr id="33" name="Text 29"/>
          <p:cNvSpPr txBox="1"/>
          <p:nvPr/>
        </p:nvSpPr>
        <p:spPr>
          <a:xfrm>
            <a:off x="658368" y="6510528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59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WHO, Adolescent mental health (2025); UNICEF, Menstrual hygiene. Global context, not SisterCare traction.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0896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33272" y="301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7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243584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19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 gives every user a safe first step.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9019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chooses what to share and when to speak with a real person.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EEDDEE"/>
            </a:solidFill>
            <a:prstDash val="solid"/>
          </a:ln>
        </p:spPr>
      </p:sp>
      <p:pic>
        <p:nvPicPr>
          <p:cNvPr id="9" name="Image 1" descr="A young woman feeling calmer while using her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532888"/>
            <a:ext cx="4910328" cy="3611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8368" y="2578608"/>
            <a:ext cx="2487168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41248" y="2761488"/>
            <a:ext cx="365760" cy="365760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41248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2743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41248" y="320954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period dates and understand the cycle.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3419856" y="2578608"/>
            <a:ext cx="2487168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02736" y="2761488"/>
            <a:ext cx="365760" cy="365760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602736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4133088" y="2743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3602736" y="320954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 privately with an AI support agent.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658368" y="4087368"/>
            <a:ext cx="2487168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1248" y="4270248"/>
            <a:ext cx="365760" cy="365760"/>
          </a:xfrm>
          <a:prstGeom prst="ellipse">
            <a:avLst/>
          </a:prstGeom>
          <a:solidFill>
            <a:srgbClr val="137A65"/>
          </a:solidFill>
          <a:ln w="12700">
            <a:solidFill>
              <a:srgbClr val="137A65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41248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371600" y="4251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1248" y="471830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 a verified counsellor by chat or in-app audio.</a:t>
            </a:r>
            <a:endParaRPr lang="en-US" sz="960" dirty="0"/>
          </a:p>
        </p:txBody>
      </p:sp>
      <p:sp>
        <p:nvSpPr>
          <p:cNvPr id="25" name="Shape 21"/>
          <p:cNvSpPr/>
          <p:nvPr/>
        </p:nvSpPr>
        <p:spPr>
          <a:xfrm>
            <a:off x="3419856" y="4087368"/>
            <a:ext cx="2487168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602736" y="4270248"/>
            <a:ext cx="365760" cy="365760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602736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4133088" y="4251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3602736" y="471830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a clear next step when more help is needed.</a:t>
            </a:r>
            <a:endParaRPr lang="en-US" sz="960" dirty="0"/>
          </a:p>
        </p:txBody>
      </p:sp>
      <p:sp>
        <p:nvSpPr>
          <p:cNvPr id="30" name="Shape 26"/>
          <p:cNvSpPr/>
          <p:nvPr/>
        </p:nvSpPr>
        <p:spPr>
          <a:xfrm>
            <a:off x="658368" y="5614416"/>
            <a:ext cx="5248656" cy="530352"/>
          </a:xfrm>
          <a:prstGeom prst="roundRect">
            <a:avLst>
              <a:gd name="adj" fmla="val 24138"/>
            </a:avLst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77824" y="5614416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by design. Human help when it matters.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0896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33272" y="301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7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243584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19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app. Three simple ways to get support.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9019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free plan starts with tracking. Premium unlocks conversation and human care.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EEDD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" y="2606040"/>
            <a:ext cx="3401568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FF00FF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2871216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9264" y="28712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3493008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tracking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" y="4096512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period dates, see cycle days and receive tracking reminders.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4343400" y="2606040"/>
            <a:ext cx="3401568" cy="2487168"/>
          </a:xfrm>
          <a:prstGeom prst="roundRect">
            <a:avLst>
              <a:gd name="adj" fmla="val 6618"/>
            </a:avLst>
          </a:prstGeom>
          <a:solidFill>
            <a:srgbClr val="FFF7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81144" y="2871216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54296" y="28712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81144" y="3493008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support agent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581144" y="4096512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private questions and receive clear, context-aware guidance.</a:t>
            </a:r>
            <a:endParaRPr lang="en-US" sz="1030" dirty="0"/>
          </a:p>
        </p:txBody>
      </p:sp>
      <p:sp>
        <p:nvSpPr>
          <p:cNvPr id="19" name="Shape 16"/>
          <p:cNvSpPr/>
          <p:nvPr/>
        </p:nvSpPr>
        <p:spPr>
          <a:xfrm>
            <a:off x="8028432" y="2606040"/>
            <a:ext cx="3401568" cy="2487168"/>
          </a:xfrm>
          <a:prstGeom prst="roundRect">
            <a:avLst>
              <a:gd name="adj" fmla="val 6618"/>
            </a:avLst>
          </a:prstGeom>
          <a:solidFill>
            <a:srgbClr val="FFE8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6176" y="2871216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39328" y="28712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266176" y="3493008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counsellors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266176" y="4096512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private chat or in-app audio with an available counsellor.</a:t>
            </a:r>
            <a:endParaRPr lang="en-US" sz="1030" dirty="0"/>
          </a:p>
        </p:txBody>
      </p:sp>
      <p:sp>
        <p:nvSpPr>
          <p:cNvPr id="24" name="Shape 21"/>
          <p:cNvSpPr/>
          <p:nvPr/>
        </p:nvSpPr>
        <p:spPr>
          <a:xfrm>
            <a:off x="1097280" y="5660136"/>
            <a:ext cx="9802368" cy="0"/>
          </a:xfrm>
          <a:prstGeom prst="line">
            <a:avLst/>
          </a:prstGeom>
          <a:noFill/>
          <a:ln w="25400">
            <a:solidFill>
              <a:srgbClr val="FF00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1248" y="5532120"/>
            <a:ext cx="265176" cy="265176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243584" y="51846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3090672" y="5184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59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3602736" y="5532120"/>
            <a:ext cx="265176" cy="265176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005072" y="51846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852160" y="5184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59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364224" y="5532120"/>
            <a:ext cx="265176" cy="265176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766560" y="51846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613648" y="5184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59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9125712" y="5532120"/>
            <a:ext cx="265176" cy="265176"/>
          </a:xfrm>
          <a:prstGeom prst="ellipse">
            <a:avLst/>
          </a:prstGeom>
          <a:solidFill>
            <a:srgbClr val="137A65"/>
          </a:solidFill>
          <a:ln w="12700">
            <a:solidFill>
              <a:srgbClr val="137A65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528048" y="51846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the next step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658368" y="6510528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59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 safety information is never blocked by a paywall. SisterCare does not diagnose or replace emergency services.</a:t>
            </a:r>
            <a:endParaRPr lang="en-US" sz="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0896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33272" y="301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7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243584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19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large need with a clear way to reach users.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9019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start through organisations that already support girls and women.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EEDDEE"/>
            </a:solidFill>
            <a:prstDash val="solid"/>
          </a:ln>
        </p:spPr>
      </p:sp>
      <p:pic>
        <p:nvPicPr>
          <p:cNvPr id="9" name="Image 1" descr="A community wellbeing workshop for young wom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523744"/>
            <a:ext cx="5779008" cy="3657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8368" y="2578608"/>
            <a:ext cx="2212848" cy="914400"/>
          </a:xfrm>
          <a:prstGeom prst="roundRect">
            <a:avLst>
              <a:gd name="adj" fmla="val 15000"/>
            </a:avLst>
          </a:prstGeom>
          <a:solidFill>
            <a:srgbClr val="FFE8FF"/>
          </a:solidFill>
          <a:ln w="12700">
            <a:solidFill>
              <a:srgbClr val="FFE8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269748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0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1.8B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108960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menstruate every month</a:t>
            </a:r>
            <a:endParaRPr lang="en-US" sz="920" dirty="0"/>
          </a:p>
        </p:txBody>
      </p:sp>
      <p:sp>
        <p:nvSpPr>
          <p:cNvPr id="13" name="Shape 9"/>
          <p:cNvSpPr/>
          <p:nvPr/>
        </p:nvSpPr>
        <p:spPr>
          <a:xfrm>
            <a:off x="3108960" y="2578608"/>
            <a:ext cx="2212848" cy="914400"/>
          </a:xfrm>
          <a:prstGeom prst="roundRect">
            <a:avLst>
              <a:gd name="adj" fmla="val 15000"/>
            </a:avLst>
          </a:prstGeom>
          <a:solidFill>
            <a:srgbClr val="FFF7FF"/>
          </a:solidFill>
          <a:ln w="12700">
            <a:solidFill>
              <a:srgbClr val="FFF7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273552" y="269748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0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in 7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273552" y="3108960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adolescents face a mental health condition</a:t>
            </a:r>
            <a:endParaRPr lang="en-US" sz="920" dirty="0"/>
          </a:p>
        </p:txBody>
      </p:sp>
      <p:sp>
        <p:nvSpPr>
          <p:cNvPr id="16" name="Text 12"/>
          <p:cNvSpPr txBox="1"/>
          <p:nvPr/>
        </p:nvSpPr>
        <p:spPr>
          <a:xfrm>
            <a:off x="658368" y="3776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first customer groups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58368" y="4270248"/>
            <a:ext cx="365760" cy="365760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8368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88720" y="42245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Schools and universities</a:t>
            </a:r>
            <a:endParaRPr lang="en-US" sz="1080" dirty="0"/>
          </a:p>
        </p:txBody>
      </p:sp>
      <p:sp>
        <p:nvSpPr>
          <p:cNvPr id="20" name="Text 16"/>
          <p:cNvSpPr txBox="1"/>
          <p:nvPr/>
        </p:nvSpPr>
        <p:spPr>
          <a:xfrm>
            <a:off x="3172968" y="418795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private support through existing student services.</a:t>
            </a:r>
            <a:endParaRPr lang="en-US" sz="870" dirty="0"/>
          </a:p>
        </p:txBody>
      </p:sp>
      <p:sp>
        <p:nvSpPr>
          <p:cNvPr id="21" name="Shape 17"/>
          <p:cNvSpPr/>
          <p:nvPr/>
        </p:nvSpPr>
        <p:spPr>
          <a:xfrm>
            <a:off x="658368" y="4873752"/>
            <a:ext cx="365760" cy="365760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8368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188720" y="482803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Youth and women’s NGOs</a:t>
            </a:r>
            <a:endParaRPr lang="en-US" sz="1080" dirty="0"/>
          </a:p>
        </p:txBody>
      </p:sp>
      <p:sp>
        <p:nvSpPr>
          <p:cNvPr id="24" name="Text 20"/>
          <p:cNvSpPr txBox="1"/>
          <p:nvPr/>
        </p:nvSpPr>
        <p:spPr>
          <a:xfrm>
            <a:off x="3172968" y="479145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 access for communities they already serve.</a:t>
            </a:r>
            <a:endParaRPr lang="en-US" sz="870" dirty="0"/>
          </a:p>
        </p:txBody>
      </p:sp>
      <p:sp>
        <p:nvSpPr>
          <p:cNvPr id="25" name="Shape 21"/>
          <p:cNvSpPr/>
          <p:nvPr/>
        </p:nvSpPr>
        <p:spPr>
          <a:xfrm>
            <a:off x="658368" y="5477256"/>
            <a:ext cx="365760" cy="365760"/>
          </a:xfrm>
          <a:prstGeom prst="ellipse">
            <a:avLst/>
          </a:prstGeom>
          <a:solidFill>
            <a:srgbClr val="137A65"/>
          </a:solidFill>
          <a:ln w="12700">
            <a:solidFill>
              <a:srgbClr val="137A65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8368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188720" y="54315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Clinics and community programmes</a:t>
            </a:r>
            <a:endParaRPr lang="en-US" sz="1080" dirty="0"/>
          </a:p>
        </p:txBody>
      </p:sp>
      <p:sp>
        <p:nvSpPr>
          <p:cNvPr id="28" name="Text 24"/>
          <p:cNvSpPr txBox="1"/>
          <p:nvPr/>
        </p:nvSpPr>
        <p:spPr>
          <a:xfrm>
            <a:off x="3172968" y="53949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users an easier path into appropriate care.</a:t>
            </a:r>
            <a:endParaRPr lang="en-US" sz="870" dirty="0"/>
          </a:p>
        </p:txBody>
      </p:sp>
      <p:sp>
        <p:nvSpPr>
          <p:cNvPr id="29" name="Text 25"/>
          <p:cNvSpPr txBox="1"/>
          <p:nvPr/>
        </p:nvSpPr>
        <p:spPr>
          <a:xfrm>
            <a:off x="658368" y="6510528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59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UNICEF and WHO. SisterCare will validate local demand and pricing through supervised pilots.</a:t>
            </a:r>
            <a:endParaRPr lang="en-US" sz="6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0896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33272" y="301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7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243584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19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platform is already working.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9019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now preparing it for supervised pilots and real-world learning.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EEDDEE"/>
            </a:solidFill>
            <a:prstDash val="solid"/>
          </a:ln>
        </p:spPr>
      </p:sp>
      <p:pic>
        <p:nvPicPr>
          <p:cNvPr id="9" name="Image 1" descr="A professional counsellor providing remote supp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0"/>
            <a:ext cx="4791456" cy="35478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" y="5376672"/>
            <a:ext cx="4279392" cy="512064"/>
          </a:xfrm>
          <a:prstGeom prst="roundRect">
            <a:avLst>
              <a:gd name="adj" fmla="val 25000"/>
            </a:avLst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97280" y="5376672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human care is part of the product.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788152" y="2578608"/>
            <a:ext cx="2487168" cy="914400"/>
          </a:xfrm>
          <a:prstGeom prst="roundRect">
            <a:avLst>
              <a:gd name="adj" fmla="val 15000"/>
            </a:avLst>
          </a:prstGeom>
          <a:solidFill>
            <a:srgbClr val="FFF7FF"/>
          </a:solidFill>
          <a:ln w="12700">
            <a:solidFill>
              <a:srgbClr val="FFF7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952744" y="269748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0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218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5952744" y="3108960"/>
            <a:ext cx="2157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tests passing</a:t>
            </a:r>
            <a:endParaRPr lang="en-US" sz="920" dirty="0"/>
          </a:p>
        </p:txBody>
      </p:sp>
      <p:sp>
        <p:nvSpPr>
          <p:cNvPr id="15" name="Shape 11"/>
          <p:cNvSpPr/>
          <p:nvPr/>
        </p:nvSpPr>
        <p:spPr>
          <a:xfrm>
            <a:off x="8558784" y="2578608"/>
            <a:ext cx="2487168" cy="914400"/>
          </a:xfrm>
          <a:prstGeom prst="roundRect">
            <a:avLst>
              <a:gd name="adj" fmla="val 15000"/>
            </a:avLst>
          </a:prstGeom>
          <a:solidFill>
            <a:srgbClr val="FFE8FF"/>
          </a:solidFill>
          <a:ln w="12700">
            <a:solidFill>
              <a:srgbClr val="FFE8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723376" y="269748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0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8723376" y="3108960"/>
            <a:ext cx="2157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files passing</a:t>
            </a:r>
            <a:endParaRPr lang="en-US" sz="920" dirty="0"/>
          </a:p>
        </p:txBody>
      </p:sp>
      <p:sp>
        <p:nvSpPr>
          <p:cNvPr id="18" name="Shape 14"/>
          <p:cNvSpPr/>
          <p:nvPr/>
        </p:nvSpPr>
        <p:spPr>
          <a:xfrm>
            <a:off x="5788152" y="3712464"/>
            <a:ext cx="2487168" cy="914400"/>
          </a:xfrm>
          <a:prstGeom prst="roundRect">
            <a:avLst>
              <a:gd name="adj" fmla="val 15000"/>
            </a:avLst>
          </a:prstGeom>
          <a:solidFill>
            <a:srgbClr val="E5F4EF"/>
          </a:solidFill>
          <a:ln w="12700">
            <a:solidFill>
              <a:srgbClr val="E5F4E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952744" y="383133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7A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5952744" y="4242816"/>
            <a:ext cx="2157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member, counsellor and admin workspaces</a:t>
            </a:r>
            <a:endParaRPr lang="en-US" sz="920" dirty="0"/>
          </a:p>
        </p:txBody>
      </p:sp>
      <p:sp>
        <p:nvSpPr>
          <p:cNvPr id="21" name="Shape 17"/>
          <p:cNvSpPr/>
          <p:nvPr/>
        </p:nvSpPr>
        <p:spPr>
          <a:xfrm>
            <a:off x="8558784" y="3712464"/>
            <a:ext cx="2487168" cy="914400"/>
          </a:xfrm>
          <a:prstGeom prst="roundRect">
            <a:avLst>
              <a:gd name="adj" fmla="val 15000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723376" y="383133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86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8723376" y="4242816"/>
            <a:ext cx="2157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support platform</a:t>
            </a:r>
            <a:endParaRPr lang="en-US" sz="920" dirty="0"/>
          </a:p>
        </p:txBody>
      </p:sp>
      <p:sp>
        <p:nvSpPr>
          <p:cNvPr id="24" name="Shape 20"/>
          <p:cNvSpPr/>
          <p:nvPr/>
        </p:nvSpPr>
        <p:spPr>
          <a:xfrm>
            <a:off x="5788152" y="4983480"/>
            <a:ext cx="5257800" cy="1124712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16752" y="5212080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089904" y="521208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7498080" y="51663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Pre-production hardening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7498080" y="55229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supervised pilot, safety review and proof of user value.</a:t>
            </a:r>
            <a:endParaRPr lang="en-US" sz="960" dirty="0"/>
          </a:p>
        </p:txBody>
      </p:sp>
      <p:sp>
        <p:nvSpPr>
          <p:cNvPr id="29" name="Text 25"/>
          <p:cNvSpPr txBox="1"/>
          <p:nvPr/>
        </p:nvSpPr>
        <p:spPr>
          <a:xfrm>
            <a:off x="658368" y="6510528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59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SisterCare repository test run, 3 Aug 2026. No user or revenue traction is claimed before pilots.</a:t>
            </a:r>
            <a:endParaRPr lang="en-US" sz="6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0896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33272" y="301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7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243584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19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Free tracking brings users in. Premium support creates revenue.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9019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pay directly, or a partner can sponsor premium access.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EEDD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" y="2624328"/>
            <a:ext cx="3401568" cy="285292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05256" y="290779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FE8FF"/>
          </a:solidFill>
          <a:ln w="12700">
            <a:solidFill>
              <a:srgbClr val="FFE8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8408" y="290779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05256" y="3511296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tracking only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" y="4114800"/>
            <a:ext cx="2852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record and follow their menstrual cycle at no cost.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905256" y="4910328"/>
            <a:ext cx="2834640" cy="0"/>
          </a:xfrm>
          <a:prstGeom prst="line">
            <a:avLst/>
          </a:prstGeom>
          <a:noFill/>
          <a:ln w="15240">
            <a:solidFill>
              <a:srgbClr val="EEDD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5256" y="50383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trust and reach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4343400" y="2624328"/>
            <a:ext cx="3401568" cy="2852928"/>
          </a:xfrm>
          <a:prstGeom prst="roundRect">
            <a:avLst>
              <a:gd name="adj" fmla="val 5769"/>
            </a:avLst>
          </a:prstGeom>
          <a:solidFill>
            <a:srgbClr val="4A1748"/>
          </a:solidFill>
          <a:ln w="12700">
            <a:solidFill>
              <a:srgbClr val="4A1748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0288" y="290779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63440" y="290779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590288" y="3511296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+ counsellor access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590288" y="4114800"/>
            <a:ext cx="2852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EDD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monthly or yearly plan unlocks the AI agent and verified counsellors.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590288" y="4910328"/>
            <a:ext cx="2834640" cy="0"/>
          </a:xfrm>
          <a:prstGeom prst="line">
            <a:avLst/>
          </a:prstGeom>
          <a:noFill/>
          <a:ln w="15240">
            <a:solidFill>
              <a:srgbClr val="FF00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90288" y="50383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revenue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8028432" y="2624328"/>
            <a:ext cx="3401568" cy="285292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275320" y="290779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FE8FF"/>
          </a:solidFill>
          <a:ln w="12700">
            <a:solidFill>
              <a:srgbClr val="FFE8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48472" y="290779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SPONSORED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275320" y="3511296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for groups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8275320" y="4114800"/>
            <a:ext cx="2852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Schools, NGOs and funders pay for premium access for selected users.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8275320" y="4910328"/>
            <a:ext cx="2834640" cy="0"/>
          </a:xfrm>
          <a:prstGeom prst="line">
            <a:avLst/>
          </a:prstGeom>
          <a:noFill/>
          <a:ln w="15240">
            <a:solidFill>
              <a:srgbClr val="EEDD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75320" y="50383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revenue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58368" y="5769864"/>
            <a:ext cx="10826496" cy="393192"/>
          </a:xfrm>
          <a:prstGeom prst="roundRect">
            <a:avLst>
              <a:gd name="adj" fmla="val 27907"/>
            </a:avLst>
          </a:prstGeom>
          <a:solidFill>
            <a:srgbClr val="FFF7FF"/>
          </a:solidFill>
          <a:ln w="12700">
            <a:solidFill>
              <a:srgbClr val="FFF7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96112" y="5769864"/>
            <a:ext cx="10351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ads. No sale of private health data. Pilot pricing will be tested for affordability.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0896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33272" y="301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7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TO MARKET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243584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19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small, prove trust, then grow.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9019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first growth comes through trusted partners, not expensive mass advertising.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EEDD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3666744"/>
            <a:ext cx="9902952" cy="0"/>
          </a:xfrm>
          <a:prstGeom prst="line">
            <a:avLst/>
          </a:prstGeom>
          <a:noFill/>
          <a:ln w="33020">
            <a:solidFill>
              <a:srgbClr val="FF00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60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52728" y="309981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E8FF"/>
          </a:solidFill>
          <a:ln w="12700">
            <a:solidFill>
              <a:srgbClr val="FFE8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25880" y="309981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 MONTHS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18488" y="3456432"/>
            <a:ext cx="429768" cy="42976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18488" y="345643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1605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with 2–3 schools, NGOs or community programmes.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3456432" y="2660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023360" y="309981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E8FF"/>
          </a:solidFill>
          <a:ln w="12700">
            <a:solidFill>
              <a:srgbClr val="FFE8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96512" y="309981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3–6 MONTHS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389120" y="3456432"/>
            <a:ext cx="429768" cy="42976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89120" y="345643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3502152" y="41605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safe disclosure, premium use and successful support handoffs.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6227064" y="2660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793992" y="309981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E8FF"/>
          </a:solidFill>
          <a:ln w="12700">
            <a:solidFill>
              <a:srgbClr val="FFE8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67144" y="309981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6–9 MONTHS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159752" y="3456432"/>
            <a:ext cx="429768" cy="42976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59752" y="345643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272784" y="41605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clear results and improve pricing, safety and operations.</a:t>
            </a:r>
            <a:endParaRPr lang="en-US" sz="980" dirty="0"/>
          </a:p>
        </p:txBody>
      </p:sp>
      <p:sp>
        <p:nvSpPr>
          <p:cNvPr id="28" name="Text 25"/>
          <p:cNvSpPr txBox="1"/>
          <p:nvPr/>
        </p:nvSpPr>
        <p:spPr>
          <a:xfrm>
            <a:off x="8997696" y="2660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564624" y="309981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E8FF"/>
          </a:solidFill>
          <a:ln w="12700">
            <a:solidFill>
              <a:srgbClr val="FFE8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37776" y="309981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9–12 MONTHS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930384" y="3456432"/>
            <a:ext cx="429768" cy="429768"/>
          </a:xfrm>
          <a:prstGeom prst="ellipse">
            <a:avLst/>
          </a:prstGeom>
          <a:solidFill>
            <a:srgbClr val="137A65"/>
          </a:solidFill>
          <a:ln w="12700">
            <a:solidFill>
              <a:srgbClr val="137A65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930384" y="345643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9043416" y="41605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the model with more partners and enter new communities.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658368" y="5440680"/>
            <a:ext cx="10826496" cy="621792"/>
          </a:xfrm>
          <a:prstGeom prst="roundRect">
            <a:avLst>
              <a:gd name="adj" fmla="val 22059"/>
            </a:avLst>
          </a:prstGeom>
          <a:solidFill>
            <a:srgbClr val="4A1748"/>
          </a:solidFill>
          <a:ln w="12700">
            <a:solidFill>
              <a:srgbClr val="4A174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96112" y="544068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1874520" y="5440680"/>
            <a:ext cx="9253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say SisterCare helped them ask a difficult question and take a safe next step.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0896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33272" y="301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7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FUNDING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243584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19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is the product—not an extra feature.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9019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Stellar only to prove counsellor credentials cannot be quietly changed.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EEDD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26151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STAYS PRIVATE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94944" y="3054096"/>
            <a:ext cx="192024" cy="192024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4128" y="29809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 and identity details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4944" y="3593592"/>
            <a:ext cx="192024" cy="192024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24128" y="352044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Counsellor documents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4944" y="4133088"/>
            <a:ext cx="192024" cy="192024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24128" y="405993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records and cycle data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4944" y="4672584"/>
            <a:ext cx="192024" cy="192024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24128" y="459943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1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Chats and audio sessions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" y="5276088"/>
            <a:ext cx="4151376" cy="658368"/>
          </a:xfrm>
          <a:prstGeom prst="roundRect">
            <a:avLst>
              <a:gd name="adj" fmla="val 19444"/>
            </a:avLst>
          </a:prstGeom>
          <a:solidFill>
            <a:srgbClr val="FFF7FF"/>
          </a:solidFill>
          <a:ln w="12700">
            <a:solidFill>
              <a:srgbClr val="FFF7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96112" y="5276088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 proof of credential status goes on Stellar. No wallets, tokens or payments.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5230368" y="2551176"/>
            <a:ext cx="0" cy="3520440"/>
          </a:xfrm>
          <a:prstGeom prst="line">
            <a:avLst/>
          </a:prstGeom>
          <a:noFill/>
          <a:ln w="15240">
            <a:solidFill>
              <a:srgbClr val="EEDD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96128" y="2596896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69280" y="2596896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ASK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596128" y="309067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4A17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US$150k</a:t>
            </a:r>
            <a:endParaRPr lang="en-US" sz="2900" dirty="0"/>
          </a:p>
        </p:txBody>
      </p:sp>
      <p:sp>
        <p:nvSpPr>
          <p:cNvPr id="24" name="Text 21"/>
          <p:cNvSpPr txBox="1"/>
          <p:nvPr/>
        </p:nvSpPr>
        <p:spPr>
          <a:xfrm>
            <a:off x="5596128" y="367588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Milestone-based funding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275320" y="27889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887968" y="277063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and Stellar proof</a:t>
            </a:r>
            <a:endParaRPr lang="en-US" sz="970" dirty="0"/>
          </a:p>
        </p:txBody>
      </p:sp>
      <p:sp>
        <p:nvSpPr>
          <p:cNvPr id="27" name="Text 24"/>
          <p:cNvSpPr txBox="1"/>
          <p:nvPr/>
        </p:nvSpPr>
        <p:spPr>
          <a:xfrm>
            <a:off x="8275320" y="33558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887968" y="33375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Counsellors and safety</a:t>
            </a:r>
            <a:endParaRPr lang="en-US" sz="970" dirty="0"/>
          </a:p>
        </p:txBody>
      </p:sp>
      <p:sp>
        <p:nvSpPr>
          <p:cNvPr id="29" name="Text 26"/>
          <p:cNvSpPr txBox="1"/>
          <p:nvPr/>
        </p:nvSpPr>
        <p:spPr>
          <a:xfrm>
            <a:off x="8275320" y="39227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887968" y="390448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Pilots and evaluation</a:t>
            </a:r>
            <a:endParaRPr lang="en-US" sz="970" dirty="0"/>
          </a:p>
        </p:txBody>
      </p:sp>
      <p:sp>
        <p:nvSpPr>
          <p:cNvPr id="31" name="Text 28"/>
          <p:cNvSpPr txBox="1"/>
          <p:nvPr/>
        </p:nvSpPr>
        <p:spPr>
          <a:xfrm>
            <a:off x="8275320" y="44897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887968" y="447141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review</a:t>
            </a:r>
            <a:endParaRPr lang="en-US" sz="97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50566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887968" y="503834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71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and operations</a:t>
            </a:r>
            <a:endParaRPr lang="en-US" sz="970" dirty="0"/>
          </a:p>
        </p:txBody>
      </p:sp>
      <p:sp>
        <p:nvSpPr>
          <p:cNvPr id="35" name="Shape 32"/>
          <p:cNvSpPr/>
          <p:nvPr/>
        </p:nvSpPr>
        <p:spPr>
          <a:xfrm>
            <a:off x="5596128" y="5340096"/>
            <a:ext cx="5431536" cy="594360"/>
          </a:xfrm>
          <a:prstGeom prst="roundRect">
            <a:avLst>
              <a:gd name="adj" fmla="val 21538"/>
            </a:avLst>
          </a:prstGeom>
          <a:solidFill>
            <a:srgbClr val="4A1748"/>
          </a:solidFill>
          <a:ln w="12700">
            <a:solidFill>
              <a:srgbClr val="4A174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52160" y="534009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a safe pilot, verified counsellor trust and clear proof of user value.</a:t>
            </a:r>
            <a:endParaRPr lang="en-US" sz="1080" dirty="0"/>
          </a:p>
        </p:txBody>
      </p:sp>
      <p:sp>
        <p:nvSpPr>
          <p:cNvPr id="37" name="Text 34"/>
          <p:cNvSpPr txBox="1"/>
          <p:nvPr/>
        </p:nvSpPr>
        <p:spPr>
          <a:xfrm>
            <a:off x="658368" y="6510528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59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 Community Fund Build awards currently support milestone-based projects with awards up to US$150k equivalent in XLM.</a:t>
            </a:r>
            <a:endParaRPr lang="en-US" sz="6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0896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33272" y="301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58368" y="106070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060704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572768"/>
            <a:ext cx="7607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519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people building one trusted place to ask for help.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658368" y="2816352"/>
            <a:ext cx="2487168" cy="1417320"/>
          </a:xfrm>
          <a:prstGeom prst="roundRect">
            <a:avLst>
              <a:gd name="adj" fmla="val 10323"/>
            </a:avLst>
          </a:prstGeom>
          <a:solidFill>
            <a:srgbClr val="4A1748"/>
          </a:solidFill>
          <a:ln w="12700">
            <a:solidFill>
              <a:srgbClr val="4A1748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3072384"/>
            <a:ext cx="420624" cy="420624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639312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Kamwanga Raheem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10712" y="2816352"/>
            <a:ext cx="2487168" cy="1417320"/>
          </a:xfrm>
          <a:prstGeom prst="roundRect">
            <a:avLst>
              <a:gd name="adj" fmla="val 10323"/>
            </a:avLst>
          </a:prstGeom>
          <a:solidFill>
            <a:srgbClr val="FFF7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66744" y="3072384"/>
            <a:ext cx="420624" cy="420624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66744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666744" y="3639312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Kisakye Abigail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63056" y="2816352"/>
            <a:ext cx="2487168" cy="1417320"/>
          </a:xfrm>
          <a:prstGeom prst="roundRect">
            <a:avLst>
              <a:gd name="adj" fmla="val 10323"/>
            </a:avLst>
          </a:prstGeom>
          <a:solidFill>
            <a:srgbClr val="FFF7FF"/>
          </a:solidFill>
          <a:ln w="12700">
            <a:solidFill>
              <a:srgbClr val="EEDDEE"/>
            </a:solidFill>
            <a:prstDash val="solid"/>
          </a:ln>
          <a:effectLst>
            <a:outerShdw sx="100000" sy="100000" kx="0" ky="0" algn="bl" rotWithShape="0" blurRad="20320" dist="50800" dir="2700000">
              <a:srgbClr val="4A1748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19088" y="3072384"/>
            <a:ext cx="420624" cy="420624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9088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419088" y="3639312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Kaboggoza Ivan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979408" y="1069848"/>
            <a:ext cx="2523744" cy="4736592"/>
          </a:xfrm>
          <a:prstGeom prst="roundRect">
            <a:avLst>
              <a:gd name="adj" fmla="val 6522"/>
            </a:avLst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53728" y="141732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asking for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253728" y="1874520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US$150k</a:t>
            </a:r>
            <a:endParaRPr lang="en-US" sz="2500" dirty="0"/>
          </a:p>
        </p:txBody>
      </p:sp>
      <p:sp>
        <p:nvSpPr>
          <p:cNvPr id="23" name="Text 20"/>
          <p:cNvSpPr txBox="1"/>
          <p:nvPr/>
        </p:nvSpPr>
        <p:spPr>
          <a:xfrm>
            <a:off x="9253728" y="276148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pilot partners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53728" y="3493008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and Stellar advisors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253728" y="4370832"/>
            <a:ext cx="1975104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53728" y="4599432"/>
            <a:ext cx="1975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make the first difficult question easier to ask.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58368" y="5074920"/>
            <a:ext cx="7863840" cy="713232"/>
          </a:xfrm>
          <a:prstGeom prst="roundRect">
            <a:avLst>
              <a:gd name="adj" fmla="val 17949"/>
            </a:avLst>
          </a:prstGeom>
          <a:solidFill>
            <a:srgbClr val="FFF7FF"/>
          </a:solidFill>
          <a:ln w="12700">
            <a:solidFill>
              <a:srgbClr val="FFF7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50976" y="5074920"/>
            <a:ext cx="7278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privately. Track simply. Reach trusted support.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8368" y="6099048"/>
            <a:ext cx="2157984" cy="310896"/>
          </a:xfrm>
          <a:prstGeom prst="roundRect">
            <a:avLst>
              <a:gd name="adj" fmla="val 50000"/>
            </a:avLst>
          </a:prstGeom>
          <a:solidFill>
            <a:srgbClr val="4A1748"/>
          </a:solidFill>
          <a:ln w="12700">
            <a:solidFill>
              <a:srgbClr val="4A174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6099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sister-care.vercel.app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SisterCare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SisterCare Pitch Deck</dc:title>
  <dc:subject>Private support for sensitive questions</dc:subject>
  <dc:creator>SisterCare</dc:creator>
  <cp:lastModifiedBy>SisterCare</cp:lastModifiedBy>
  <cp:revision>1</cp:revision>
  <dcterms:created xsi:type="dcterms:W3CDTF">2026-08-03T12:01:54Z</dcterms:created>
  <dcterms:modified xsi:type="dcterms:W3CDTF">2026-08-03T12:01:54Z</dcterms:modified>
</cp:coreProperties>
</file>