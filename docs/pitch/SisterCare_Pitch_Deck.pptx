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WHO Mental health of adolescents, 1 September 2025; UNICEF Menstrual hygiene. Global context only. These figures are not SisterCare traction.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E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ister-care.vercel.app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ho.int/news-room/fact-sheets/detail/adolescent-mental-health" TargetMode="External"/><Relationship Id="rId4" Type="http://schemas.openxmlformats.org/officeDocument/2006/relationships/hyperlink" Target="https://www.unicef.org/wash/menstrual-hygiene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sister-care.vercel.app/" TargetMode="External"/><Relationship Id="rId3" Type="http://schemas.openxmlformats.org/officeDocument/2006/relationships/hyperlink" Target="mailto:kamwangaraheem2050@gmail.com" TargetMode="External"/><Relationship Id="rId1" Type="http://schemas.openxmlformats.org/officeDocument/2006/relationships/image" Target="../media/image-10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Young woman seeking private support on her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6832" y="0"/>
            <a:ext cx="5534863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27648" y="0"/>
            <a:ext cx="658368" cy="6858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1" descr="SisterCare pink hear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30352"/>
            <a:ext cx="475488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07008" y="521208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658368" y="1417320"/>
            <a:ext cx="166420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68096" y="1426464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PITCH ·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58368" y="1965960"/>
            <a:ext cx="5440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private first step when a question feels too hard to ask.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58368" y="3730752"/>
            <a:ext cx="5230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 helps girls and women speak privately, keep useful body context and reach verified human support without shame.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58368" y="4983480"/>
            <a:ext cx="166420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4992624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CONVERSATION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450592" y="4983480"/>
            <a:ext cx="1335024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560320" y="4992624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CONTEXT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913632" y="498348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023360" y="4992624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SUPPORT</a:t>
            </a:r>
            <a:endParaRPr lang="en-US" sz="900" dirty="0"/>
          </a:p>
        </p:txBody>
      </p:sp>
      <p:sp>
        <p:nvSpPr>
          <p:cNvPr id="16" name="Text 12">
            <a:hlinkClick r:id="rId3" tooltip=""/>
          </p:cNvPr>
          <p:cNvSpPr/>
          <p:nvPr/>
        </p:nvSpPr>
        <p:spPr>
          <a:xfrm>
            <a:off x="658368" y="60899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sister-care.vercel.app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Many important questions are never asked.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Stigma, fear of exposure and uncertainty about where to turn can delay support until a situation becomes harder.</a:t>
            </a:r>
            <a:endParaRPr lang="en-US" sz="1400" dirty="0"/>
          </a:p>
        </p:txBody>
      </p:sp>
      <p:pic>
        <p:nvPicPr>
          <p:cNvPr id="10" name="Image 1" descr="Young woman sitting alone while distress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743200"/>
            <a:ext cx="4919472" cy="327355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806440" y="2743200"/>
            <a:ext cx="18288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007608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007608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519672" y="292608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Silence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035040" y="3493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 of judgment keeps sensitive questions private.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818120" y="2743200"/>
            <a:ext cx="18288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19288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019288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8531352" y="292608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Confusion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046720" y="3493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 offers information without context or accountability.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9829800" y="2743200"/>
            <a:ext cx="1773936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10030968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0030968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0543032" y="2926080"/>
            <a:ext cx="859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Delay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10058400" y="349300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Concerns grow while professional support is delayed.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5806440" y="4407408"/>
            <a:ext cx="2743200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971032" y="4535424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in 7</a:t>
            </a:r>
            <a:endParaRPr lang="en-US" sz="2300" dirty="0"/>
          </a:p>
        </p:txBody>
      </p:sp>
      <p:sp>
        <p:nvSpPr>
          <p:cNvPr id="28" name="Text 24"/>
          <p:cNvSpPr/>
          <p:nvPr/>
        </p:nvSpPr>
        <p:spPr>
          <a:xfrm>
            <a:off x="5971032" y="4919472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10–19-year-olds experience a mental health condition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5971032" y="5157216"/>
            <a:ext cx="2414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WHO, 2025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8759952" y="4407408"/>
            <a:ext cx="2843784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924544" y="453542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1.8B</a:t>
            </a:r>
            <a:endParaRPr lang="en-US" sz="2300" dirty="0"/>
          </a:p>
        </p:txBody>
      </p:sp>
      <p:sp>
        <p:nvSpPr>
          <p:cNvPr id="32" name="Text 28"/>
          <p:cNvSpPr/>
          <p:nvPr/>
        </p:nvSpPr>
        <p:spPr>
          <a:xfrm>
            <a:off x="8924544" y="491947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menstruate every month worldwide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8924544" y="5157216"/>
            <a:ext cx="2514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UNICEF</a:t>
            </a:r>
            <a:endParaRPr lang="en-US" sz="680" dirty="0"/>
          </a:p>
        </p:txBody>
      </p:sp>
      <p:sp>
        <p:nvSpPr>
          <p:cNvPr id="34" name="Text 30"/>
          <p:cNvSpPr/>
          <p:nvPr/>
        </p:nvSpPr>
        <p:spPr>
          <a:xfrm>
            <a:off x="5806440" y="57150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pPr indent="0" marL="0">
              <a:buNone/>
            </a:pPr>
            <a:r>
              <a:rPr lang="en-US" sz="720" u="sng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WHO, Mental health of adolescents (2025)</a:t>
            </a:r>
            <a:endParaRPr lang="en-US" sz="720" dirty="0"/>
          </a:p>
        </p:txBody>
      </p:sp>
      <p:sp>
        <p:nvSpPr>
          <p:cNvPr id="35" name="Text 31"/>
          <p:cNvSpPr/>
          <p:nvPr/>
        </p:nvSpPr>
        <p:spPr>
          <a:xfrm>
            <a:off x="8759952" y="5715000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pPr indent="0" marL="0">
              <a:buNone/>
            </a:pPr>
            <a:r>
              <a:rPr lang="en-US" sz="720" u="sng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UNICEF, Menstrual hygiene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silence to a safe next step.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member can begin with one sentence, keep control of what is shared, and involve a real counsellor when ready.</a:t>
            </a:r>
            <a:endParaRPr lang="en-US" sz="1400" dirty="0"/>
          </a:p>
        </p:txBody>
      </p:sp>
      <p:pic>
        <p:nvPicPr>
          <p:cNvPr id="10" name="Image 1" descr="Woman receiving support through her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944" y="2679192"/>
            <a:ext cx="4050792" cy="2697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76656" y="2907792"/>
            <a:ext cx="341680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77824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77824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389888" y="3090672"/>
            <a:ext cx="2502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Begin privately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905256" y="3657600"/>
            <a:ext cx="2959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Talk to Sister without first finding the perfect words.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120896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386072" y="2907792"/>
            <a:ext cx="341680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87240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58724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099304" y="3090672"/>
            <a:ext cx="2502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Keep context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614672" y="3657600"/>
            <a:ext cx="2959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saved conversation, wellbeing and cycle context where consent allows.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7830312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095488" y="2907792"/>
            <a:ext cx="3416808" cy="1371600"/>
          </a:xfrm>
          <a:prstGeom prst="roundRect">
            <a:avLst>
              <a:gd name="adj" fmla="val 5333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296656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9665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8808720" y="3090672"/>
            <a:ext cx="2502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Choose human help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324088" y="3657600"/>
            <a:ext cx="2959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a verified available counsellor by text or private audio.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85800" y="4736592"/>
            <a:ext cx="6455664" cy="640080"/>
          </a:xfrm>
          <a:prstGeom prst="roundRect">
            <a:avLst>
              <a:gd name="adj" fmla="val 11429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914400" y="4855464"/>
            <a:ext cx="5998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 does not diagnose. It helps the user ask, understand and reach the right next step.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app, three connected forms of support.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Mental wellbeing leads the experience. Menstrual tracking remains useful context rather than the identity of the product.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2852928"/>
            <a:ext cx="276148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59536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71600" y="3035808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Private conversation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86968" y="3602736"/>
            <a:ext cx="230428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or speak in supported languages. Sister remembers the current conversation, explains uncertainty and can carry out safe in-app actions.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794760" y="2706624"/>
            <a:ext cx="4343400" cy="3054096"/>
          </a:xfrm>
          <a:prstGeom prst="roundRect">
            <a:avLst>
              <a:gd name="adj" fmla="val 4790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931920" y="2852928"/>
            <a:ext cx="4069080" cy="2761488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23944" y="301752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conversation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142232" y="3557016"/>
            <a:ext cx="3383280" cy="658368"/>
          </a:xfrm>
          <a:prstGeom prst="roundRect">
            <a:avLst>
              <a:gd name="adj" fmla="val 11111"/>
            </a:avLst>
          </a:prstGeom>
          <a:solidFill>
            <a:srgbClr val="FAF7FA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97680" y="3639312"/>
            <a:ext cx="3072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Something happened and I do not know who I can tell.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544568" y="4416552"/>
            <a:ext cx="3246120" cy="841248"/>
          </a:xfrm>
          <a:prstGeom prst="roundRect">
            <a:avLst>
              <a:gd name="adj" fmla="val 8696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18304" y="4517136"/>
            <a:ext cx="2898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7500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begin with one sentence. We can take the next step together.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4142232" y="5065776"/>
            <a:ext cx="3648456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06824" y="5111496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8A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 Sister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503920" y="2852928"/>
            <a:ext cx="276148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705088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705088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217152" y="3035808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Body context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732520" y="3602736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Accurate cycle dates and symptoms remain separate, transparent and optional to share.</a:t>
            </a:r>
            <a:endParaRPr lang="en-US" sz="1040" dirty="0"/>
          </a:p>
        </p:txBody>
      </p:sp>
      <p:sp>
        <p:nvSpPr>
          <p:cNvPr id="29" name="Shape 26"/>
          <p:cNvSpPr/>
          <p:nvPr/>
        </p:nvSpPr>
        <p:spPr>
          <a:xfrm>
            <a:off x="8503920" y="4197096"/>
            <a:ext cx="2761488" cy="1170432"/>
          </a:xfrm>
          <a:prstGeom prst="roundRect">
            <a:avLst>
              <a:gd name="adj" fmla="val 6250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705088" y="4398264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705088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217152" y="4379976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support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732520" y="494690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verified counsellors, request one person, message in real time or join private audio.</a:t>
            </a:r>
            <a:endParaRPr lang="en-US" sz="1040" dirty="0"/>
          </a:p>
        </p:txBody>
      </p:sp>
      <p:sp>
        <p:nvSpPr>
          <p:cNvPr id="34" name="Text 31"/>
          <p:cNvSpPr/>
          <p:nvPr/>
        </p:nvSpPr>
        <p:spPr>
          <a:xfrm>
            <a:off x="3794760" y="5925312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Designed for mobile, low bandwidth and private use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HANDOFF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HANDOFF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product stays responsible after someone asks for help.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 does not treat a button tap as a completed support outcome.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7824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89888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Requested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05256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member is waiting. No claim of connection.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193542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3458718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659886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988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171950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Assigned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687318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eligible counsellor is notified and accountable.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975604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240780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41948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4194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954012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Accepted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469380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people are told that human contact is ready.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757666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9022842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224010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22401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736074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Followed up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9251442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next step, referral or interrupted session remains visible.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04088" y="4681728"/>
            <a:ext cx="3401568" cy="914400"/>
          </a:xfrm>
          <a:prstGeom prst="roundRect">
            <a:avLst>
              <a:gd name="adj" fmla="val 6000"/>
            </a:avLst>
          </a:prstGeom>
          <a:solidFill>
            <a:srgbClr val="EAF8F2"/>
          </a:solidFill>
          <a:ln w="12700">
            <a:solidFill>
              <a:srgbClr val="B8E8D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68680" y="4782312"/>
            <a:ext cx="3072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79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Truthful states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68680" y="504748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“Connected” appears only after acceptance.</a:t>
            </a:r>
            <a:endParaRPr lang="en-US" sz="930" dirty="0"/>
          </a:p>
        </p:txBody>
      </p:sp>
      <p:sp>
        <p:nvSpPr>
          <p:cNvPr id="36" name="Shape 33"/>
          <p:cNvSpPr/>
          <p:nvPr/>
        </p:nvSpPr>
        <p:spPr>
          <a:xfrm>
            <a:off x="4471416" y="4681728"/>
            <a:ext cx="3401568" cy="914400"/>
          </a:xfrm>
          <a:prstGeom prst="roundRect">
            <a:avLst>
              <a:gd name="adj" fmla="val 6000"/>
            </a:avLst>
          </a:prstGeom>
          <a:solidFill>
            <a:srgbClr val="FAF7FA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636008" y="4782312"/>
            <a:ext cx="3072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updates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4636008" y="504748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Acceptance, decline, messages and completion survive refreshes.</a:t>
            </a:r>
            <a:endParaRPr lang="en-US" sz="930" dirty="0"/>
          </a:p>
        </p:txBody>
      </p:sp>
      <p:sp>
        <p:nvSpPr>
          <p:cNvPr id="39" name="Shape 36"/>
          <p:cNvSpPr/>
          <p:nvPr/>
        </p:nvSpPr>
        <p:spPr>
          <a:xfrm>
            <a:off x="8238744" y="4681728"/>
            <a:ext cx="3401568" cy="914400"/>
          </a:xfrm>
          <a:prstGeom prst="roundRect">
            <a:avLst>
              <a:gd name="adj" fmla="val 6000"/>
            </a:avLst>
          </a:prstGeom>
          <a:solidFill>
            <a:srgbClr val="FAF7FA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403336" y="4782312"/>
            <a:ext cx="3072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Low-bandwidth fallback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403336" y="504748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text remains available when audio cannot connect.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WE SERVE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WE SERVE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where privacy and trust are hardest to find.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software pilot is supervised and adult-only. Access for minors requires a separate safeguarding, consent and legal pathway.</a:t>
            </a:r>
            <a:endParaRPr lang="en-US" sz="1400" dirty="0"/>
          </a:p>
        </p:txBody>
      </p:sp>
      <p:pic>
        <p:nvPicPr>
          <p:cNvPr id="10" name="Image 1" descr="Woman using SisterCare privately on a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424" y="2651760"/>
            <a:ext cx="4782312" cy="31912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8368" y="2770632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9536" y="297180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9536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371600" y="295351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Young women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886968" y="35204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navigating anxiety, relationships, loss, harassment or private health questions.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675888" y="2770632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877056" y="297180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877056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389120" y="295351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Underserved communities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3904488" y="35204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facing stigma, limited trusted information or few accessible support options.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58368" y="4297680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59536" y="449884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59536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371600" y="448056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partners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86968" y="504748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Universities, NGOs, clinics and community programmes seeking a safer first contact.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3675888" y="4297680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3877056" y="449884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3877056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4389120" y="448056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Verified counsellors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3904488" y="504748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Professionals who need clear assignments, consented context and accountable follow-up.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Free tracking builds trust. Premium support funds care.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can pay directly, while institutions and funders can sponsor access for people who cannot.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2788920"/>
            <a:ext cx="3063240" cy="263347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7780" dist="50800" dir="2700000">
              <a:srgbClr val="B8AEB8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6968" y="3017520"/>
            <a:ext cx="93268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96696" y="30266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86968" y="3593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Cycle tracking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86968" y="41605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period dates, understand the current cycle and receive useful reminders.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86968" y="5056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and trust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4096512" y="2788920"/>
            <a:ext cx="3063240" cy="2633472"/>
          </a:xfrm>
          <a:prstGeom prst="roundRect">
            <a:avLst>
              <a:gd name="adj" fmla="val 2778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  <a:effectLst>
            <a:outerShdw sx="100000" sy="100000" kx="0" ky="0" algn="bl" rotWithShape="0" blurRad="17780" dist="50800" dir="2700000">
              <a:srgbClr val="B8AEB8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25112" y="3017520"/>
            <a:ext cx="932688" cy="310896"/>
          </a:xfrm>
          <a:prstGeom prst="roundRect">
            <a:avLst>
              <a:gd name="adj" fmla="val 23529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34840" y="30266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325112" y="3593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+ counsellor access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4325112" y="41605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6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AI support, verified counsellor messaging and in-app audio during staffed hours.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325112" y="5056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revenue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7534656" y="2788920"/>
            <a:ext cx="3063240" cy="263347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7780" dist="50800" dir="2700000">
              <a:srgbClr val="B8AEB8">
                <a:alpha val="1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763256" y="3017520"/>
            <a:ext cx="93268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72984" y="30266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SPONSORED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763256" y="3593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 access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763256" y="41605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Universities, NGOs, clinics and funders cover premium access for defined groups.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763256" y="5056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 revenue</a:t>
            </a:r>
            <a:endParaRPr lang="en-US" sz="940" dirty="0"/>
          </a:p>
        </p:txBody>
      </p:sp>
      <p:sp>
        <p:nvSpPr>
          <p:cNvPr id="28" name="Text 25"/>
          <p:cNvSpPr/>
          <p:nvPr/>
        </p:nvSpPr>
        <p:spPr>
          <a:xfrm>
            <a:off x="658368" y="5760720"/>
            <a:ext cx="9939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advertising. No sale of private health data. Pilot pricing will be tested for affordability and service capacity.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AND EVIDENCE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AND EVIDENCE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working platform is ready for supervised learning, not inflated claims.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evidence is strong for an early product. User value, pricing and support operations must now be proven through a controlled pilot.</a:t>
            </a:r>
            <a:endParaRPr lang="en-US" sz="1400" dirty="0"/>
          </a:p>
        </p:txBody>
      </p:sp>
      <p:pic>
        <p:nvPicPr>
          <p:cNvPr id="10" name="Image 1" descr="Counsellor providing private remote sup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016" y="2706624"/>
            <a:ext cx="4617720" cy="30815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8368" y="2770632"/>
            <a:ext cx="1719072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2898648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528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822960" y="3282696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tests passed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2960" y="3520440"/>
            <a:ext cx="1389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 Aug 2026</a:t>
            </a:r>
            <a:endParaRPr lang="en-US" sz="680" dirty="0"/>
          </a:p>
        </p:txBody>
      </p:sp>
      <p:sp>
        <p:nvSpPr>
          <p:cNvPr id="15" name="Shape 11"/>
          <p:cNvSpPr/>
          <p:nvPr/>
        </p:nvSpPr>
        <p:spPr>
          <a:xfrm>
            <a:off x="2587752" y="2770632"/>
            <a:ext cx="1719072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752344" y="2898648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300" dirty="0"/>
          </a:p>
        </p:txBody>
      </p:sp>
      <p:sp>
        <p:nvSpPr>
          <p:cNvPr id="17" name="Text 13"/>
          <p:cNvSpPr/>
          <p:nvPr/>
        </p:nvSpPr>
        <p:spPr>
          <a:xfrm>
            <a:off x="2752344" y="3282696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role-specific workspaces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52344" y="3520440"/>
            <a:ext cx="1389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 · counsellor · admin</a:t>
            </a:r>
            <a:endParaRPr lang="en-US" sz="680" dirty="0"/>
          </a:p>
        </p:txBody>
      </p:sp>
      <p:sp>
        <p:nvSpPr>
          <p:cNvPr id="19" name="Shape 15"/>
          <p:cNvSpPr/>
          <p:nvPr/>
        </p:nvSpPr>
        <p:spPr>
          <a:xfrm>
            <a:off x="4517136" y="2770632"/>
            <a:ext cx="1719072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81728" y="2898648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300" dirty="0"/>
          </a:p>
        </p:txBody>
      </p:sp>
      <p:sp>
        <p:nvSpPr>
          <p:cNvPr id="21" name="Text 17"/>
          <p:cNvSpPr/>
          <p:nvPr/>
        </p:nvSpPr>
        <p:spPr>
          <a:xfrm>
            <a:off x="4681728" y="3282696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care platform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4681728" y="3520440"/>
            <a:ext cx="1389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application</a:t>
            </a:r>
            <a:endParaRPr lang="en-US" sz="680" dirty="0"/>
          </a:p>
        </p:txBody>
      </p:sp>
      <p:sp>
        <p:nvSpPr>
          <p:cNvPr id="23" name="Shape 19"/>
          <p:cNvSpPr/>
          <p:nvPr/>
        </p:nvSpPr>
        <p:spPr>
          <a:xfrm>
            <a:off x="658368" y="3986784"/>
            <a:ext cx="5577840" cy="1801368"/>
          </a:xfrm>
          <a:prstGeom prst="roundRect">
            <a:avLst>
              <a:gd name="adj" fmla="val 4061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886968" y="4169664"/>
            <a:ext cx="5148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pilot must prove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86968" y="473659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a user ask a difficult question? Does a requested counsellor actually respond? Does the user feel heard and leave with a clear next step? Can the team safely operate the service every day?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986016" y="5907024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i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registration, revenue or health-outcome traction is claimed before the pilot.</a:t>
            </a:r>
            <a:endParaRPr lang="en-US" sz="9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TO MARKET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TO MARKET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trusted partners and earn the right to grow.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 begins through organisations that can help provide safeguarding, counsellor coverage and honest feedback.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852928"/>
            <a:ext cx="3401568" cy="1920240"/>
          </a:xfrm>
          <a:prstGeom prst="roundRect">
            <a:avLst>
              <a:gd name="adj" fmla="val 3810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5256" y="30540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0–3 months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05256" y="34472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Supervised pilot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05256" y="394106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E7E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Recruit a small adult cohort through 2–3 trusted partners. Staff the service and observe every handoff.</a:t>
            </a:r>
            <a:endParaRPr lang="en-US" sz="1040" dirty="0"/>
          </a:p>
        </p:txBody>
      </p:sp>
      <p:sp>
        <p:nvSpPr>
          <p:cNvPr id="14" name="Shape 11"/>
          <p:cNvSpPr/>
          <p:nvPr/>
        </p:nvSpPr>
        <p:spPr>
          <a:xfrm>
            <a:off x="4443984" y="2852928"/>
            <a:ext cx="340156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72584" y="30540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3–6 months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72584" y="34472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Improve the model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672584" y="394106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failure points, validate willingness to pay and strengthen counsellor operations.</a:t>
            </a:r>
            <a:endParaRPr lang="en-US" sz="1040" dirty="0"/>
          </a:p>
        </p:txBody>
      </p:sp>
      <p:sp>
        <p:nvSpPr>
          <p:cNvPr id="18" name="Shape 15"/>
          <p:cNvSpPr/>
          <p:nvPr/>
        </p:nvSpPr>
        <p:spPr>
          <a:xfrm>
            <a:off x="8211312" y="2852928"/>
            <a:ext cx="340156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39912" y="30540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6–12 months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439912" y="34472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Repeat with partners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439912" y="394106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a documented pilot package to more universities, NGOs, clinics and programmes.</a:t>
            </a:r>
            <a:endParaRPr lang="en-US" sz="1040" dirty="0"/>
          </a:p>
        </p:txBody>
      </p:sp>
      <p:sp>
        <p:nvSpPr>
          <p:cNvPr id="22" name="Shape 19"/>
          <p:cNvSpPr/>
          <p:nvPr/>
        </p:nvSpPr>
        <p:spPr>
          <a:xfrm>
            <a:off x="676656" y="5074920"/>
            <a:ext cx="10972800" cy="749808"/>
          </a:xfrm>
          <a:prstGeom prst="roundRect">
            <a:avLst>
              <a:gd name="adj" fmla="val 9756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2688" y="52303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North-star outcome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487168" y="5184648"/>
            <a:ext cx="87325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user says SisterCare helped her ask a difficult question and take a safe next step.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AND ASK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AND ASK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Help us prove that a safer first conversation can change what happens next.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student builders are turning a deeply human problem into a product with accountable care operations.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2779776"/>
            <a:ext cx="749808" cy="74980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7797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618488" y="2798064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Kamwanga Raheem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618488" y="313639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and engineering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97680" y="2779776"/>
            <a:ext cx="749808" cy="749808"/>
          </a:xfrm>
          <a:prstGeom prst="ellipse">
            <a:avLst/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297680" y="27797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230368" y="2798064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Kisakye Abigail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230368" y="313639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Founding team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909560" y="2779776"/>
            <a:ext cx="749808" cy="749808"/>
          </a:xfrm>
          <a:prstGeom prst="ellipse">
            <a:avLst/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09560" y="27797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KI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842248" y="2798064"/>
            <a:ext cx="2487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Kaboggoza Ivan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842248" y="313639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Founding team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85800" y="4041648"/>
            <a:ext cx="10835640" cy="1069848"/>
          </a:xfrm>
          <a:prstGeom prst="roundRect">
            <a:avLst>
              <a:gd name="adj" fmla="val 6838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41832" y="42336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looking for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487168" y="4178808"/>
            <a:ext cx="8549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Pilot partners · qualified clinical and safeguarding advisors · seed funding</a:t>
            </a:r>
            <a:endParaRPr lang="en-US" sz="1700" dirty="0"/>
          </a:p>
        </p:txBody>
      </p:sp>
      <p:sp>
        <p:nvSpPr>
          <p:cNvPr id="25" name="Text 22">
            <a:hlinkClick r:id="rId2" tooltip=""/>
          </p:cNvPr>
          <p:cNvSpPr/>
          <p:nvPr/>
        </p:nvSpPr>
        <p:spPr>
          <a:xfrm>
            <a:off x="685800" y="5696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sister-care.vercel.app</a:t>
            </a:r>
            <a:endParaRPr lang="en-US" sz="1100" dirty="0"/>
          </a:p>
        </p:txBody>
      </p:sp>
      <p:sp>
        <p:nvSpPr>
          <p:cNvPr id="26" name="Text 23">
            <a:hlinkClick r:id="rId3" tooltip=""/>
          </p:cNvPr>
          <p:cNvSpPr/>
          <p:nvPr/>
        </p:nvSpPr>
        <p:spPr>
          <a:xfrm>
            <a:off x="3730752" y="56967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kamwangaraheem2050@gmail.com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498080" y="56967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+256 704 057 370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SisterCares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SisterCare App Pitch Deck</dc:title>
  <dc:subject>The SisterCare private support application</dc:subject>
  <dc:creator>SisterCare founding team</dc:creator>
  <cp:lastModifiedBy>SisterCare founding team</cp:lastModifiedBy>
  <cp:revision>1</cp:revision>
  <dcterms:created xsi:type="dcterms:W3CDTF">2026-08-24T20:45:27Z</dcterms:created>
  <dcterms:modified xsi:type="dcterms:W3CDTF">2026-08-24T20:45:27Z</dcterms:modified>
</cp:coreProperties>
</file>