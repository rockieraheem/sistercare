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WHO Mental health of adolescents, 1 September 2025; UNICEF Menstrual hygiene. The need statement combines published context with SisterCares' intended community discovery; it does not claim measured local prevalence.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E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news-room/fact-sheets/detail/adolescent-mental-health" TargetMode="External"/><Relationship Id="rId4" Type="http://schemas.openxmlformats.org/officeDocument/2006/relationships/hyperlink" Target="https://www.unicef.org/wash/menstrual-hygiene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sister-care.vercel.app/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s community support 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0"/>
            <a:ext cx="5653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272784" y="0"/>
            <a:ext cx="594360" cy="6858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1" descr="SisterCare pink hear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30352"/>
            <a:ext cx="475488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07008" y="521208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658368" y="1417320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68096" y="1426464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ORGANISATION PITCH ·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58368" y="1947672"/>
            <a:ext cx="537667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girl or woman should face pain, stigma or a difficult question alone.</a:t>
            </a:r>
            <a:endParaRPr lang="en-US" sz="3100" dirty="0"/>
          </a:p>
        </p:txBody>
      </p:sp>
      <p:sp>
        <p:nvSpPr>
          <p:cNvPr id="9" name="Text 5"/>
          <p:cNvSpPr/>
          <p:nvPr/>
        </p:nvSpPr>
        <p:spPr>
          <a:xfrm>
            <a:off x="658368" y="3694176"/>
            <a:ext cx="5212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SisterCares joins private digital support with practical community action for mental wellbeing and menstrual dignity.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489204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4901184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LISTEN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1746504" y="4892040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856232" y="4901184"/>
            <a:ext cx="83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2926080" y="489204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35808" y="4901184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014216" y="489204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123944" y="4901184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58368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Uganda · built to grow with trusted local partners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need is larger than an app.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private digital channel matters, but many people also face limited phone access, stigma, material poverty and weak referral pathways.</a:t>
            </a:r>
            <a:endParaRPr lang="en-US" sz="1400" dirty="0"/>
          </a:p>
        </p:txBody>
      </p:sp>
      <p:pic>
        <p:nvPicPr>
          <p:cNvPr id="10" name="Image 1" descr="Young woman distressed and unsure where to seek sup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743200"/>
            <a:ext cx="4279392" cy="28529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212080" y="2743200"/>
            <a:ext cx="28529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41324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1324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925312" y="292608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Silence and stigma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440680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Mental distress, harassment and menstrual questions may feel unsafe to discuss.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339328" y="2743200"/>
            <a:ext cx="28529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40496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540496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9052560" y="292608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Unequal access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8567928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girls do not own a phone or can use one only during school holidays.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212080" y="4187952"/>
            <a:ext cx="28529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13248" y="43891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41324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5925312" y="437083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Material barriers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440680" y="493776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Pads, accurate information and safe disposal are not always available.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8339328" y="4187952"/>
            <a:ext cx="28529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540496" y="43891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540496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052560" y="437083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Broken handoffs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8567928" y="493776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referral is not enough if nobody checks whether support was reached.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5212080" y="57607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WHO, Mental health of adolescents (2025)</a:t>
            </a:r>
            <a:endParaRPr lang="en-US" sz="720" dirty="0"/>
          </a:p>
        </p:txBody>
      </p:sp>
      <p:sp>
        <p:nvSpPr>
          <p:cNvPr id="32" name="Text 28"/>
          <p:cNvSpPr/>
          <p:nvPr/>
        </p:nvSpPr>
        <p:spPr>
          <a:xfrm>
            <a:off x="8339328" y="57607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UNICEF, Menstrual hygiene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MODEL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MODEL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trusted organisation, several ways to ask for help.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can enter through the channel available to them and still reach information, a trained human, practical support or referral.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7824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89888" y="303580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 app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05256" y="3602736"/>
            <a:ext cx="20299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conversation, cycle context and verified counsellor support for eligible users.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76656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7824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389888" y="303580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 app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05256" y="3602736"/>
            <a:ext cx="2029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D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conversation, cycle context and verified counsellor support for eligible users.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474720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75888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75888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187952" y="303580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SisterBoxes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3703320" y="3602736"/>
            <a:ext cx="20299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Locked question boxes let students ask anonymously without needing a phone.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72784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73952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73952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986016" y="303580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Community conversations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501384" y="3602736"/>
            <a:ext cx="20299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Facilitated mental-health and menstrual-health sessions answer real concerns without shame.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9070848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9272016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72016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784080" y="303580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Menstrual dignity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9448" y="3602736"/>
            <a:ext cx="20299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Pads, first-period guidance and SisterCares disposal bins make support practical.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1408176" y="5394960"/>
            <a:ext cx="9326880" cy="585216"/>
          </a:xfrm>
          <a:prstGeom prst="roundRect">
            <a:avLst>
              <a:gd name="adj" fmla="val 9375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691640" y="5513832"/>
            <a:ext cx="8759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channel should lead to a clear answer, practical support or a completed referral.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WITHOUT A PHONE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WITHOUT A PHONE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question can still reach help.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offline pathway is designed for schools and communities where personal phone access cannot be assumed.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7824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89888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Ask anonymously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05256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a question and place it in a locked SisterBox.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193542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3458718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659886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988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171950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safely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687318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trained, authorised focal person groups questions and escalates safety concerns.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975604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240780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41948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4194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954012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469380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facilitated session answers common questions without identifying the writer.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757666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022842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224010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22401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736074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 and follow up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251442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concerns move to an agreed safeguarding or clinical pathway.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13232" y="4700016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FF3DF"/>
          </a:solidFill>
          <a:ln w="12700">
            <a:solidFill>
              <a:srgbClr val="F2D6A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8828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6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Safeguarding boundary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2578608" y="4818888"/>
            <a:ext cx="8705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adult app pilot does not automatically extend to minors. School programmes require consent rules, trained staff, referral partners and incident ownership before launch.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PROGRAMME PORTFOLIO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PROGRAMME PORTFOLIO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the whole person, not one isolated symptom.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Mental wellbeing and menstrual dignity are linked in the organisation, while each programme keeps a clear purpose and accountable owner.</a:t>
            </a:r>
            <a:endParaRPr lang="en-US" sz="1400" dirty="0"/>
          </a:p>
        </p:txBody>
      </p:sp>
      <p:pic>
        <p:nvPicPr>
          <p:cNvPr id="10" name="Image 1" descr="Facilitated SisterCares community convers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2706624"/>
            <a:ext cx="4855464" cy="323697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2770632"/>
            <a:ext cx="27889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953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953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371600" y="2953512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Mental wellbeing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886968" y="3520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Listening spaces, stigma reduction, coping education, safeguarding and completed referrals.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675888" y="2770632"/>
            <a:ext cx="27889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87705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87705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389120" y="2953512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Menstrual dignity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904488" y="3520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Pads, first-period guidance, myth correction and practical self-care information.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58368" y="4443984"/>
            <a:ext cx="27889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59536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371600" y="4626864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 environments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86968" y="5193792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Anonymous question boxes and maintained disposal bins in partner sites.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3675888" y="4443984"/>
            <a:ext cx="27889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3877056" y="464515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3877056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4389120" y="4626864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Digital continuity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3904488" y="5193792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Eligible users continue privately through the app and verified counsellor network.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AND PARTNERS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AND PARTNERS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trust is how the model reaches people safely.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SisterCares provides the system and accountability; established partners provide context, access and specialist support.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816352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7824" y="30175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89888" y="29992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School-aged girls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05256" y="3566160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Safeguarded offline programmes, menstrual dignity and anonymous questions.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425696" y="2816352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26864" y="30175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26864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138928" y="29992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Young women and adults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654296" y="3566160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access, community conversations and verified counsellor support.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8174736" y="2816352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375904" y="30175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75904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887968" y="29992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Schools and universities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403336" y="3566160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Sites, focal persons, student services and safeguarding structures.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76656" y="4261104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77824" y="446227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77824" y="446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389888" y="4443984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NGOs and clinics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05256" y="5010912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referrals, supervision, community access and evidence.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425696" y="4261104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626864" y="446227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26864" y="446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138928" y="4443984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CSR and funders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654296" y="5010912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Pads, bins, pilot funding, evaluation and responsible scale.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174736" y="4261104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8375904" y="446227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75904" y="446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887968" y="4443984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leadership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8403336" y="5010912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Permission, cultural context, accountability and community trust.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 whether support helped, not how busy we looked.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Registrations, sessions and pad counts are useful operations data. They are not the final proof of impact.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2862072"/>
            <a:ext cx="5193792" cy="1161288"/>
          </a:xfrm>
          <a:prstGeom prst="roundRect">
            <a:avLst>
              <a:gd name="adj" fmla="val 6299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5256" y="303580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435608" y="30083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difficult question was answered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35608" y="33832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5D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person received a clear response through the app, a SisterBox or a facilitated session.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309360" y="2862072"/>
            <a:ext cx="519379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303580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059168" y="30083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person felt heard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059168" y="33832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feedback shows whether the interaction respected and helped her.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85800" y="4279392"/>
            <a:ext cx="519379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5256" y="4453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435608" y="442569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referral was completed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435608" y="480060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Serious cases have an owner and follow-up, rather than only a phone number.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09360" y="4279392"/>
            <a:ext cx="519379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28816" y="4453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7059168" y="442569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Menstrual barriers reduced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059168" y="480060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 report better knowledge, product access and safe disposal at the site.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85800" y="5861304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targets will be agreed with partners before delivery; no impact figures are claimed yet.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SUSTAINABILITY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SUSTAINABILITY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Blend earned income with mission-aligned support.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single revenue source should decide who deserves help.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2871216"/>
            <a:ext cx="2505456" cy="2066544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6968" y="307238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6968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99032" y="305409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Premium app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14400" y="3621024"/>
            <a:ext cx="20482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Paid AI and counsellor access for users who can afford it.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502152" y="2871216"/>
            <a:ext cx="2505456" cy="2066544"/>
          </a:xfrm>
          <a:prstGeom prst="roundRect">
            <a:avLst>
              <a:gd name="adj" fmla="val 3540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703320" y="307238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03320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215384" y="305409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Institutional programmes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730752" y="3621024"/>
            <a:ext cx="20482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Universities, NGOs and schools fund agreed support packages.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18504" y="2871216"/>
            <a:ext cx="2505456" cy="2066544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519672" y="307238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19672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031736" y="305409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Grants and CSR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547104" y="3621024"/>
            <a:ext cx="20482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 early pilots, pad access, bins, safeguarding and evaluation.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134856" y="2871216"/>
            <a:ext cx="2505456" cy="2066544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336024" y="307238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36024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848088" y="305409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In-kind partners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363456" y="3621024"/>
            <a:ext cx="20482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Clinicians, manufacturers and venues reduce delivery cost.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225296" y="5248656"/>
            <a:ext cx="9738360" cy="566928"/>
          </a:xfrm>
          <a:prstGeom prst="roundRect">
            <a:avLst>
              <a:gd name="adj" fmla="val 9677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499616" y="5358384"/>
            <a:ext cx="918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advertising · no sale of private data · transparent sponsored access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FUTURE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FUTURE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the evidence, then make the model easier to repeat.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organisation grows site by site, keeping local referral ownership and safeguarding ahead of visibility.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834640"/>
            <a:ext cx="3401568" cy="2157984"/>
          </a:xfrm>
          <a:prstGeom prst="roundRect">
            <a:avLst>
              <a:gd name="adj" fmla="val 3390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5256" y="30632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05256" y="3456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three sites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05256" y="3959352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E6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Co-design and run the integrated model. Measure trust, referral completion, menstrual dignity and true delivery cost.</a:t>
            </a:r>
            <a:endParaRPr lang="en-US" sz="1010" dirty="0"/>
          </a:p>
        </p:txBody>
      </p:sp>
      <p:sp>
        <p:nvSpPr>
          <p:cNvPr id="14" name="Shape 11"/>
          <p:cNvSpPr/>
          <p:nvPr/>
        </p:nvSpPr>
        <p:spPr>
          <a:xfrm>
            <a:off x="4443984" y="2834640"/>
            <a:ext cx="3401568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72584" y="30632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672584" y="3456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Deepen locally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672584" y="3959352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ten partner sites across two districts, with trained focal people and dependable clinic and safeguarding partners.</a:t>
            </a:r>
            <a:endParaRPr lang="en-US" sz="1010" dirty="0"/>
          </a:p>
        </p:txBody>
      </p:sp>
      <p:sp>
        <p:nvSpPr>
          <p:cNvPr id="18" name="Shape 15"/>
          <p:cNvSpPr/>
          <p:nvPr/>
        </p:nvSpPr>
        <p:spPr>
          <a:xfrm>
            <a:off x="8211312" y="2834640"/>
            <a:ext cx="3401568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9912" y="30632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439912" y="3456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Prepare to replicate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439912" y="3959352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 the model, improve procurement and create a district-ready toolkit without weakening local accountability.</a:t>
            </a:r>
            <a:endParaRPr lang="en-US" sz="1010" dirty="0"/>
          </a:p>
        </p:txBody>
      </p:sp>
      <p:sp>
        <p:nvSpPr>
          <p:cNvPr id="22" name="Shape 19"/>
          <p:cNvSpPr/>
          <p:nvPr/>
        </p:nvSpPr>
        <p:spPr>
          <a:xfrm>
            <a:off x="676656" y="5285232"/>
            <a:ext cx="10972800" cy="621792"/>
          </a:xfrm>
          <a:prstGeom prst="roundRect">
            <a:avLst>
              <a:gd name="adj" fmla="val 8824"/>
            </a:avLst>
          </a:prstGeom>
          <a:solidFill>
            <a:srgbClr val="FFF3DF"/>
          </a:solidFill>
          <a:ln w="12700">
            <a:solidFill>
              <a:srgbClr val="F2D6A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" y="542239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6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rule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048256" y="5376672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Pause any service whose people, safeguarding, supplies or referral capacity cannot meet its promise.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ASK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ASK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UGX 150 million for a 12-month, three-site integrated pilot.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and CSR funding will test the complete organisation model: private support, mental-health programming, menstrual dignity, safe facilities and completed referrals.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743200"/>
            <a:ext cx="2788920" cy="2542032"/>
          </a:xfrm>
          <a:prstGeom prst="roundRect">
            <a:avLst>
              <a:gd name="adj" fmla="val 2878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29992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ASK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96112" y="338328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UGX 150M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96112" y="3977640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months · 3 pilot sites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96112" y="4361688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CD5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Restricted to delivery, dignity supplies, safeguarding and evidence milestones.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896112" y="4928616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Partners can also contribute pads, bins, venues or clinical time.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3749040" y="2743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 programme delivery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08192" y="2807208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08192" y="2807208"/>
            <a:ext cx="898398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02368" y="2743200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305288" y="274320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UGX 37.5M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749040" y="3136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Pads and menstrual education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08192" y="320040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08192" y="3200400"/>
            <a:ext cx="898398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02368" y="313639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305288" y="313639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UGX 37.5M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3749040" y="35295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SisterBoxes, bins and installation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108192" y="3593592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08192" y="3593592"/>
            <a:ext cx="539039" cy="128016"/>
          </a:xfrm>
          <a:prstGeom prst="roundRect">
            <a:avLst>
              <a:gd name="adj" fmla="val 28571"/>
            </a:avLst>
          </a:prstGeom>
          <a:solidFill>
            <a:srgbClr val="A600A6"/>
          </a:solidFill>
          <a:ln w="12700">
            <a:solidFill>
              <a:srgbClr val="A600A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02368" y="3529584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15%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0305288" y="3529584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UGX 22.5M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749040" y="39227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Safeguarding and referral support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108192" y="3986784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108192" y="3986784"/>
            <a:ext cx="539039" cy="128016"/>
          </a:xfrm>
          <a:prstGeom prst="roundRect">
            <a:avLst>
              <a:gd name="adj" fmla="val 28571"/>
            </a:avLst>
          </a:prstGeom>
          <a:solidFill>
            <a:srgbClr val="A600A6"/>
          </a:solidFill>
          <a:ln w="12700">
            <a:solidFill>
              <a:srgbClr val="A600A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802368" y="3922776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15%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0305288" y="3922776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UGX 22.5M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3749040" y="43159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Measurement and learning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108192" y="4379976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108192" y="4379976"/>
            <a:ext cx="359359" cy="128016"/>
          </a:xfrm>
          <a:prstGeom prst="roundRect">
            <a:avLst>
              <a:gd name="adj" fmla="val 28571"/>
            </a:avLst>
          </a:prstGeom>
          <a:solidFill>
            <a:srgbClr val="A600A6"/>
          </a:solidFill>
          <a:ln w="12700">
            <a:solidFill>
              <a:srgbClr val="A600A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802368" y="4315968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10305288" y="4315968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UGX 15M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3749040" y="47091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Governance, communication and contingency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6108192" y="4773168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108192" y="4773168"/>
            <a:ext cx="359359" cy="128016"/>
          </a:xfrm>
          <a:prstGeom prst="roundRect">
            <a:avLst>
              <a:gd name="adj" fmla="val 28571"/>
            </a:avLst>
          </a:prstGeom>
          <a:solidFill>
            <a:srgbClr val="A600A6"/>
          </a:solidFill>
          <a:ln w="12700">
            <a:solidFill>
              <a:srgbClr val="A600A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802368" y="4709160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10305288" y="470916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UGX 15M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749040" y="5193792"/>
            <a:ext cx="7406640" cy="585216"/>
          </a:xfrm>
          <a:prstGeom prst="roundRect">
            <a:avLst>
              <a:gd name="adj" fmla="val 9375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3968496" y="5312664"/>
            <a:ext cx="6967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7500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Funds unlock: 3 equipped sites · anonymous questions · pad access · safeguarded support · measured referrals</a:t>
            </a:r>
            <a:endParaRPr lang="en-US" sz="980" dirty="0"/>
          </a:p>
        </p:txBody>
      </p:sp>
      <p:sp>
        <p:nvSpPr>
          <p:cNvPr id="48" name="Text 45"/>
          <p:cNvSpPr/>
          <p:nvPr/>
        </p:nvSpPr>
        <p:spPr>
          <a:xfrm>
            <a:off x="658368" y="6007608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Founding team: Kamwanga Raheem · Kisakye Abigail · Kaboggoza Ivan</a:t>
            </a:r>
            <a:endParaRPr lang="en-US" sz="920" dirty="0"/>
          </a:p>
        </p:txBody>
      </p:sp>
      <p:sp>
        <p:nvSpPr>
          <p:cNvPr id="49" name="Text 46">
            <a:hlinkClick r:id="rId2" tooltip=""/>
          </p:cNvPr>
          <p:cNvSpPr/>
          <p:nvPr/>
        </p:nvSpPr>
        <p:spPr>
          <a:xfrm>
            <a:off x="5760720" y="60076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u="sng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kamwangaraheem2050@gmail.com  ·  +256 704 057 370  ·  sister-care.vercel.app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SisterCares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SisterCares Organisation Pitch Deck</dc:title>
  <dc:subject>The wider SisterCares social-impact organisation</dc:subject>
  <dc:creator>SisterCare founding team</dc:creator>
  <cp:lastModifiedBy>SisterCare founding team</cp:lastModifiedBy>
  <cp:revision>1</cp:revision>
  <dcterms:created xsi:type="dcterms:W3CDTF">2026-08-25T05:09:40Z</dcterms:created>
  <dcterms:modified xsi:type="dcterms:W3CDTF">2026-08-25T05:09:40Z</dcterms:modified>
</cp:coreProperties>
</file>