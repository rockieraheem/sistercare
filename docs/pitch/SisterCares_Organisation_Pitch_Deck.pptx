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WHO Mental health of adolescents, 1 September 2025; UNICEF Menstrual hygiene. The need statement combines published context with SisterCares' intended community discovery; it does not claim measured local prevalence.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conversion uses the Bank of Uganda's published exchange-rate context. Final local procurement budget should use the prevailing official rate at disbursement: https://bou.or.ug/interest_rates_exchange_rates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adolescent-mental-health" TargetMode="External"/><Relationship Id="rId4" Type="http://schemas.openxmlformats.org/officeDocument/2006/relationships/hyperlink" Target="https://www.unicef.org/wash/menstrual-hygiene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ister-care.vercel.app/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kamwangaraheem2050@gmail.com" TargetMode="External"/><Relationship Id="rId3" Type="http://schemas.openxmlformats.org/officeDocument/2006/relationships/hyperlink" Target="https://sister-care.vercel.app/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s community support 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2784" y="0"/>
            <a:ext cx="594360" cy="685800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SisterCare pink hear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30352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7008" y="5212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658368" y="1417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" y="142646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PITCH ·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1947672"/>
            <a:ext cx="53766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girl or woman should face pain, stigma or a difficult question alone.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658368" y="3694176"/>
            <a:ext cx="5212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SisterCares joins private digital support with practical community action for mental wellbeing and menstrual dignity.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58368" y="4892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490118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746504" y="48920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56232" y="4901184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926080" y="4892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35808" y="490118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014216" y="4892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23944" y="490118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8368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Uganda · built to grow with trusted local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need is larger than an app.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digital channel matters, but many people also face limited phone access, stigma, material poverty and weak referral pathways.</a:t>
            </a:r>
            <a:endParaRPr lang="en-US" sz="1400" dirty="0"/>
          </a:p>
        </p:txBody>
      </p:sp>
      <p:pic>
        <p:nvPicPr>
          <p:cNvPr id="10" name="Image 1" descr="Young woman distressed and unsure where to seek sup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3200"/>
            <a:ext cx="4279392" cy="28529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12080" y="2743200"/>
            <a:ext cx="28529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13248" y="2944368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1324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25312" y="292608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Silence and stigma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distress, harassment and menstrual questions may feel unsafe to discuss.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339328" y="2743200"/>
            <a:ext cx="28529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0496" y="2944368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0496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9052560" y="292608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Unequal access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567928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girls do not own a phone or can use one only during school holidays.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212080" y="4187952"/>
            <a:ext cx="28529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13248" y="438912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132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25312" y="437083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barriers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440680" y="49377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Pads, accurate information and safe disposal are not always available.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339328" y="4187952"/>
            <a:ext cx="28529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540496" y="438912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540496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9052560" y="437083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Broken handoffs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567928" y="49377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referral is not enough if nobody checks whether support was reached.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5212080" y="5760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720" u="sng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WHO, Mental health of adolescents (2025)</a:t>
            </a:r>
            <a:endParaRPr lang="en-US" sz="720" dirty="0"/>
          </a:p>
        </p:txBody>
      </p:sp>
      <p:sp>
        <p:nvSpPr>
          <p:cNvPr id="32" name="Text 28"/>
          <p:cNvSpPr/>
          <p:nvPr/>
        </p:nvSpPr>
        <p:spPr>
          <a:xfrm>
            <a:off x="8339328" y="5760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720" u="sng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UNICEF, Menstrual hygiene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MODEL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trusted organisation, several ways to ask for help.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can enter through the channel available to them and still reach information, a trained human, practical support or referral.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" y="2852928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" y="3054096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30358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 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5256" y="3602736"/>
            <a:ext cx="20299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conversation, cycle context and verified counsellor support for eligible users.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" y="2852928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3054096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89888" y="30358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 app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5256" y="3602736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D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conversation, cycle context and verified counsellor support for eligible users.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0" y="2852928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75888" y="3054096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7588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187952" y="30358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SisterBoxes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03320" y="3602736"/>
            <a:ext cx="20299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question boxes let students ask anonymously without needing a phone.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72784" y="2852928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73952" y="3054096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86016" y="30358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conversations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01384" y="3602736"/>
            <a:ext cx="20299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Facilitated mental-health and menstrual-health sessions answer real concerns without shame.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070848" y="2852928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272016" y="3054096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72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784080" y="30358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Menstrual dignity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9448" y="3602736"/>
            <a:ext cx="20299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Pads, first-period guidance and SisterCares disposal bins make support practical.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408176" y="5394960"/>
            <a:ext cx="9326880" cy="585216"/>
          </a:xfrm>
          <a:prstGeom prst="roundRect">
            <a:avLst>
              <a:gd name="adj" fmla="val 9375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91640" y="5513832"/>
            <a:ext cx="8759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channel should lead to a clear answer, practical support or a completed referral.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WITHOUT A PHONE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WITHOUT A PHONE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question can still reach help.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offline pathway is designed for schools and communities where personal phone access cannot be assumed.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" y="2907792"/>
            <a:ext cx="2489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" y="310896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3090672"/>
            <a:ext cx="1575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anonymously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5256" y="3657600"/>
            <a:ext cx="20322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question and place it in a locked SisterBox.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193542" y="339242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458718" y="2907792"/>
            <a:ext cx="2489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9886" y="310896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988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71950" y="3090672"/>
            <a:ext cx="1575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safely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7318" y="3657600"/>
            <a:ext cx="20322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trained, authorised focal person groups questions and escalates safety concerns.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75604" y="339242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240780" y="2907792"/>
            <a:ext cx="2489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1948" y="310896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54012" y="3090672"/>
            <a:ext cx="1575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69380" y="3657600"/>
            <a:ext cx="20322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facilitated session answers common questions without identifying the writer.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757666" y="339242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022842" y="2907792"/>
            <a:ext cx="2489454" cy="1371600"/>
          </a:xfrm>
          <a:prstGeom prst="roundRect">
            <a:avLst>
              <a:gd name="adj" fmla="val 5333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224010" y="310896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2401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36074" y="3090672"/>
            <a:ext cx="1575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 and follow up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251442" y="3657600"/>
            <a:ext cx="20322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concerns move to an agreed safeguarding or clinical pathway.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13232" y="4700016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F2D6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" y="48828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Safeguarding boundary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578608" y="4818888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adult app pilot does not automatically extend to minors. School programmes require consent rules, trained staff, referral partners and incident ownership before launch.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PORTFOLIO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PORTFOLIO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the whole person, not one isolated symptom.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wellbeing and menstrual dignity are linked in the organisation, while each programme keeps a clear purpose and accountable owner.</a:t>
            </a:r>
            <a:endParaRPr lang="en-US" sz="1400" dirty="0"/>
          </a:p>
        </p:txBody>
      </p:sp>
      <p:pic>
        <p:nvPicPr>
          <p:cNvPr id="10" name="Image 1" descr="Facilitated SisterCares community convers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706624"/>
            <a:ext cx="4855464" cy="32369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2770632"/>
            <a:ext cx="27889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59536" y="297180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9536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371600" y="29535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wellbeing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86968" y="3520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Listening spaces, stigma reduction, coping education, safeguarding and completed referrals.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75888" y="2770632"/>
            <a:ext cx="27889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77056" y="297180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77056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0" y="29535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Menstrual dignity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904488" y="3520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Pads, first-period guidance, myth correction and practical self-care information.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58368" y="4443984"/>
            <a:ext cx="27889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9536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371600" y="4626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environments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86968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question boxes and maintained disposal bins in partner sites.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675888" y="4443984"/>
            <a:ext cx="27889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877056" y="4645152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77056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389120" y="4626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continuity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904488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users continue privately through the app and verified counsellor network.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AND PARTNERS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AND PARTNERS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trust is how the model reaches people safely.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SisterCares provides the system and accountability; established partners provide context, access and specialist support.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" y="2816352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" y="301752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29992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School-aged girls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" y="3566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Safeguarded offline programmes, menstrual dignity and anonymous questions.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25696" y="2816352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301752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686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38928" y="29992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Young women and adults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54296" y="3566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access, community conversations and verified counsellor support.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74736" y="2816352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375904" y="3017520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7590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887968" y="29992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Schools and universities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403336" y="3566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Sites, focal persons, student services and safeguarding structures.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6656" y="4261104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77824" y="4462272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7824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389888" y="44439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NGOs and clinics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5256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referrals, supervision, community access and evidence.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425696" y="4261104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26864" y="4462272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26864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38928" y="44439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 and funders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654296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Pads, bins, pilot funding, evaluation and responsible scale.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174736" y="4261104"/>
            <a:ext cx="34015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375904" y="4462272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87968" y="44439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leadership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403336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Permission, cultural context, accountability and community trust.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whether support helped, not how busy we looked.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Registrations, sessions and pad counts are useful operations data. They are not the final proof of impact.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862072"/>
            <a:ext cx="5193792" cy="1161288"/>
          </a:xfrm>
          <a:prstGeom prst="roundRect">
            <a:avLst>
              <a:gd name="adj" fmla="val 6299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35608" y="30083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difficult question was answered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35608" y="3383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D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person received a clear response through the app, a SisterBox or a facilitated session.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2862072"/>
            <a:ext cx="5193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8816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59168" y="30083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person felt heard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59168" y="3383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feedback shows whether the interaction respected and helped her.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" y="4279392"/>
            <a:ext cx="5193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256" y="4453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435608" y="44256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referral was completed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35608" y="4800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Serious cases have an owner and follow-up, rather than only a phone number.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09360" y="4279392"/>
            <a:ext cx="519379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28816" y="4453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59168" y="44256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Menstrual barriers reduced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59168" y="4800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report better knowledge, product access and safe disposal at the site.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85800" y="5861304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targets will be agreed with partners before delivery; no impact figures are claimed yet.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Blend earned income with mission-aligned support.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revenue source should decide who deserves help.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871216"/>
            <a:ext cx="2505456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6968" y="307238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99032" y="305409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Premium 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621024"/>
            <a:ext cx="2048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AI and counsellor access for users who can afford it.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502152" y="2871216"/>
            <a:ext cx="2505456" cy="2066544"/>
          </a:xfrm>
          <a:prstGeom prst="roundRect">
            <a:avLst>
              <a:gd name="adj" fmla="val 3540"/>
            </a:avLst>
          </a:prstGeom>
          <a:solidFill>
            <a:srgbClr val="FFF1FD"/>
          </a:solidFill>
          <a:ln w="12700">
            <a:solidFill>
              <a:srgbClr val="FFF1FD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03320" y="307238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0332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15384" y="305409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Institutional programmes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30752" y="3621024"/>
            <a:ext cx="2048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Universities, NGOs and schools fund agreed support packages.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18504" y="2871216"/>
            <a:ext cx="2505456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19672" y="307238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31736" y="305409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Grants and CSR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47104" y="3621024"/>
            <a:ext cx="2048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early pilots, pad access, bins, safeguarding and evaluation.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134856" y="2871216"/>
            <a:ext cx="2505456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  <a:effectLst>
            <a:outerShdw sx="100000" sy="100000" kx="0" ky="0" algn="bl" rotWithShape="0" blurRad="19050" dist="50800" dir="2700000">
              <a:srgbClr val="B8AEB8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336024" y="307238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6024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848088" y="305409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In-kind partners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63456" y="3621024"/>
            <a:ext cx="2048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Clinicians, manufacturers and venues reduce delivery cost.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225296" y="5248656"/>
            <a:ext cx="9738360" cy="566928"/>
          </a:xfrm>
          <a:prstGeom prst="roundRect">
            <a:avLst>
              <a:gd name="adj" fmla="val 9677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99616" y="5358384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advertising · no sale of private data · transparent sponsored access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evidence, then make the model easier to repeat.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organisation grows site by site, keeping local referral ownership and safeguarding ahead of visibility.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" y="2834640"/>
            <a:ext cx="3401568" cy="2157984"/>
          </a:xfrm>
          <a:prstGeom prst="roundRect">
            <a:avLst>
              <a:gd name="adj" fmla="val 3390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05256" y="3456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three sites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5256" y="3959352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6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Co-design and run the integrated model. Measure trust, referral completion, menstrual dignity and true delivery cost.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4443984" y="2834640"/>
            <a:ext cx="3401568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72584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72584" y="3456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Deepen locally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72584" y="3959352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ten partner sites across two districts, with trained focal people and dependable clinic and safeguarding partners.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211312" y="2834640"/>
            <a:ext cx="3401568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9912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39912" y="3456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to replicate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39912" y="3959352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the model, improve procurement and create a district-ready toolkit without weakening local accountability.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76656" y="5285232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FFF3DF"/>
          </a:solidFill>
          <a:ln w="12700">
            <a:solidFill>
              <a:srgbClr val="F2D6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4223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48256" y="537667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any service whose people, safeguarding, supplies or referral capacity cannot meet its promise.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ASK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ASK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US$40,000 for a 12-month, three-site integrated pilot.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and CSR funding will test the complete organisation model: private support, mental-health programming, menstrual dignity, safe facilities and completed referrals.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274320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19151B"/>
          </a:solidFill>
          <a:ln w="12700">
            <a:solidFill>
              <a:srgbClr val="1915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999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3832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US$40,000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96112" y="39776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months · 3 pilot sites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6112" y="43616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to delivery, dignity supplies, safeguarding and evidence milestones.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896112" y="492861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can also contribute pads, bins, venues or clinical time.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374904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programme delivery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08192" y="2807208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192" y="2807208"/>
            <a:ext cx="898398" cy="128016"/>
          </a:xfrm>
          <a:prstGeom prst="roundRect">
            <a:avLst>
              <a:gd name="adj" fmla="val 28571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02368" y="274320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305288" y="27432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$10,000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749040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Pads and menstrual education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08192" y="3200400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08192" y="3200400"/>
            <a:ext cx="898398" cy="128016"/>
          </a:xfrm>
          <a:prstGeom prst="roundRect">
            <a:avLst>
              <a:gd name="adj" fmla="val 28571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02368" y="31363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305288" y="313639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$10,000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74904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SisterBoxes, bins and installation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108192" y="3593592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3593592"/>
            <a:ext cx="539039" cy="128016"/>
          </a:xfrm>
          <a:prstGeom prst="roundRect">
            <a:avLst>
              <a:gd name="adj" fmla="val 28571"/>
            </a:avLst>
          </a:prstGeom>
          <a:solidFill>
            <a:srgbClr val="A600A6"/>
          </a:solidFill>
          <a:ln w="12700">
            <a:solidFill>
              <a:srgbClr val="A600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02368" y="3529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305288" y="35295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$6,000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749040" y="3922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Safeguarding and referral support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08192" y="3986784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08192" y="3986784"/>
            <a:ext cx="539039" cy="128016"/>
          </a:xfrm>
          <a:prstGeom prst="roundRect">
            <a:avLst>
              <a:gd name="adj" fmla="val 28571"/>
            </a:avLst>
          </a:prstGeom>
          <a:solidFill>
            <a:srgbClr val="A600A6"/>
          </a:solidFill>
          <a:ln w="12700">
            <a:solidFill>
              <a:srgbClr val="A600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02368" y="392277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0305288" y="392277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$6,000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749040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and learning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108192" y="4379976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08192" y="4379976"/>
            <a:ext cx="359359" cy="128016"/>
          </a:xfrm>
          <a:prstGeom prst="roundRect">
            <a:avLst>
              <a:gd name="adj" fmla="val 28571"/>
            </a:avLst>
          </a:prstGeom>
          <a:solidFill>
            <a:srgbClr val="A600A6"/>
          </a:solidFill>
          <a:ln w="12700">
            <a:solidFill>
              <a:srgbClr val="A600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02368" y="43159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305288" y="43159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$4,000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749040" y="4709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communication and contingency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108192" y="4773168"/>
            <a:ext cx="3593592" cy="128016"/>
          </a:xfrm>
          <a:prstGeom prst="roundRect">
            <a:avLst>
              <a:gd name="adj" fmla="val 28571"/>
            </a:avLst>
          </a:prstGeom>
          <a:solidFill>
            <a:srgbClr val="E9DDE8"/>
          </a:solidFill>
          <a:ln w="12700">
            <a:solidFill>
              <a:srgbClr val="E9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08192" y="4773168"/>
            <a:ext cx="359359" cy="128016"/>
          </a:xfrm>
          <a:prstGeom prst="roundRect">
            <a:avLst>
              <a:gd name="adj" fmla="val 28571"/>
            </a:avLst>
          </a:prstGeom>
          <a:solidFill>
            <a:srgbClr val="A600A6"/>
          </a:solidFill>
          <a:ln w="12700">
            <a:solidFill>
              <a:srgbClr val="A600A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02368" y="47091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0305288" y="47091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$4,000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749040" y="5193792"/>
            <a:ext cx="7406640" cy="585216"/>
          </a:xfrm>
          <a:prstGeom prst="roundRect">
            <a:avLst>
              <a:gd name="adj" fmla="val 9375"/>
            </a:avLst>
          </a:prstGeom>
          <a:solidFill>
            <a:srgbClr val="FFF1FD"/>
          </a:solidFill>
          <a:ln w="12700">
            <a:solidFill>
              <a:srgbClr val="FCE3F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968496" y="531266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750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 unlock: 3 equipped sites · anonymous questions · pad access · safeguarded support · measured referrals</a:t>
            </a:r>
            <a:endParaRPr lang="en-US" sz="980" dirty="0"/>
          </a:p>
        </p:txBody>
      </p:sp>
      <p:sp>
        <p:nvSpPr>
          <p:cNvPr id="48" name="Text 45"/>
          <p:cNvSpPr/>
          <p:nvPr/>
        </p:nvSpPr>
        <p:spPr>
          <a:xfrm>
            <a:off x="658368" y="600760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procurement will be rebudgeted at the prevailing official exchange rate before disbursement.</a:t>
            </a:r>
            <a:endParaRPr lang="en-US" sz="880" dirty="0"/>
          </a:p>
        </p:txBody>
      </p:sp>
      <p:sp>
        <p:nvSpPr>
          <p:cNvPr id="49" name="Text 46">
            <a:hlinkClick r:id="rId2" tooltip=""/>
          </p:cNvPr>
          <p:cNvSpPr/>
          <p:nvPr/>
        </p:nvSpPr>
        <p:spPr>
          <a:xfrm>
            <a:off x="5943600" y="6007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u="sng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kamwangaraheem2050@gmail.com  ·  +256 704 057 370  ·  sister-care.vercel.app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sterCare pink hear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" y="228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8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2700">
            <a:solidFill>
              <a:srgbClr val="E9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64465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225296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builders turning private questions into practical support.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6928" y="206654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organisation starts with a working application and grows through responsible community partnerships.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798064"/>
            <a:ext cx="749808" cy="74980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7980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18488" y="28163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Kamwanga Raheem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18488" y="31546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and engineering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2798064"/>
            <a:ext cx="749808" cy="749808"/>
          </a:xfrm>
          <a:prstGeom prst="ellipse">
            <a:avLst/>
          </a:prstGeom>
          <a:solidFill>
            <a:srgbClr val="FFF1FD"/>
          </a:solidFill>
          <a:ln w="12700">
            <a:solidFill>
              <a:srgbClr val="FCE3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7980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00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30368" y="28163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Kisakye Abigail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30368" y="31546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team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09560" y="2798064"/>
            <a:ext cx="749808" cy="749808"/>
          </a:xfrm>
          <a:prstGeom prst="ellipse">
            <a:avLst/>
          </a:prstGeom>
          <a:solidFill>
            <a:srgbClr val="FFF1FD"/>
          </a:solidFill>
          <a:ln w="12700">
            <a:solidFill>
              <a:srgbClr val="FCE3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09560" y="27980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00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42248" y="28163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Kaboggoza Ivan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42248" y="31546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5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team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" y="4087368"/>
            <a:ext cx="10835640" cy="1024128"/>
          </a:xfrm>
          <a:prstGeom prst="roundRect">
            <a:avLst>
              <a:gd name="adj" fmla="val 7143"/>
            </a:avLst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" y="4261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now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578608" y="4206240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US$40,000 · 3 pilot sites · clinical, pad, bin and safeguarding partners</a:t>
            </a:r>
            <a:endParaRPr lang="en-US" sz="1700" dirty="0"/>
          </a:p>
        </p:txBody>
      </p:sp>
      <p:sp>
        <p:nvSpPr>
          <p:cNvPr id="25" name="Text 22">
            <a:hlinkClick r:id="rId2" tooltip=""/>
          </p:cNvPr>
          <p:cNvSpPr/>
          <p:nvPr/>
        </p:nvSpPr>
        <p:spPr>
          <a:xfrm>
            <a:off x="685800" y="5705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kamwangaraheem2050@gmail.com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096512" y="5705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+256 704 057 370</a:t>
            </a:r>
            <a:endParaRPr lang="en-US" sz="1100" dirty="0"/>
          </a:p>
        </p:txBody>
      </p:sp>
      <p:sp>
        <p:nvSpPr>
          <p:cNvPr id="27" name="Text 24">
            <a:hlinkClick r:id="rId3" tooltip=""/>
          </p:cNvPr>
          <p:cNvSpPr/>
          <p:nvPr/>
        </p:nvSpPr>
        <p:spPr>
          <a:xfrm>
            <a:off x="7498080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A600A6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sister-care.vercel.app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SisterCares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SisterCares Organisation Pitch Deck</dc:title>
  <dc:subject>The wider SisterCares social-impact organisation</dc:subject>
  <dc:creator>SisterCare founding team</dc:creator>
  <cp:lastModifiedBy>SisterCare founding team</cp:lastModifiedBy>
  <cp:revision>1</cp:revision>
  <dcterms:created xsi:type="dcterms:W3CDTF">2026-08-25T05:55:33Z</dcterms:created>
  <dcterms:modified xsi:type="dcterms:W3CDTF">2026-08-25T05:55:33Z</dcterms:modified>
</cp:coreProperties>
</file>