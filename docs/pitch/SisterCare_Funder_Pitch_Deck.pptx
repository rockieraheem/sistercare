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STERCARE">
    <p:bg>
      <p:bgPr>
        <a:solidFill>
          <a:srgbClr val="FF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" y="6473952"/>
            <a:ext cx="10945368" cy="0"/>
          </a:xfrm>
          <a:prstGeom prst="line">
            <a:avLst/>
          </a:prstGeom>
          <a:noFill/>
          <a:ln w="12700">
            <a:solidFill>
              <a:srgbClr val="EEDDE3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ister-care.vercel.app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422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documentary-style supporting photograp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0"/>
            <a:ext cx="68397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349240" y="0"/>
            <a:ext cx="2011680" cy="6858000"/>
          </a:xfrm>
          <a:prstGeom prst="rect">
            <a:avLst/>
          </a:prstGeom>
          <a:solidFill>
            <a:srgbClr val="54223F">
              <a:alpha val="82000"/>
            </a:srgbClr>
          </a:solidFill>
          <a:ln w="12700">
            <a:solidFill>
              <a:srgbClr val="54223F">
                <a:alpha val="0"/>
              </a:srgbClr>
            </a:solidFill>
            <a:prstDash val="solid"/>
          </a:ln>
        </p:spPr>
      </p:sp>
      <p:pic>
        <p:nvPicPr>
          <p:cNvPr id="4" name="Image 1" descr="SisterCare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38912"/>
            <a:ext cx="402336" cy="402336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170432" y="429768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</a:t>
            </a:r>
            <a:endParaRPr lang="en-US" sz="1400" dirty="0"/>
          </a:p>
        </p:txBody>
      </p:sp>
      <p:sp>
        <p:nvSpPr>
          <p:cNvPr id="6" name="Shape 2"/>
          <p:cNvSpPr/>
          <p:nvPr/>
        </p:nvSpPr>
        <p:spPr>
          <a:xfrm>
            <a:off x="658368" y="1243584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F05F8D"/>
          </a:solidFill>
          <a:ln w="12700">
            <a:solidFill>
              <a:srgbClr val="F05F8D">
                <a:alpha val="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68096" y="1243584"/>
            <a:ext cx="1353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FUNDER PITCH · 2026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658368" y="1810512"/>
            <a:ext cx="437083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private place to ask what feels impossible to say.</a:t>
            </a:r>
            <a:endParaRPr lang="en-US" sz="3100" dirty="0"/>
          </a:p>
        </p:txBody>
      </p:sp>
      <p:sp>
        <p:nvSpPr>
          <p:cNvPr id="9" name="Text 5"/>
          <p:cNvSpPr txBox="1"/>
          <p:nvPr/>
        </p:nvSpPr>
        <p:spPr>
          <a:xfrm>
            <a:off x="658368" y="3931920"/>
            <a:ext cx="4160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7DAE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 helps girls and women move from a difficult first disclosure to safe, trusted support.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58368" y="5257800"/>
            <a:ext cx="594360" cy="0"/>
          </a:xfrm>
          <a:prstGeom prst="line">
            <a:avLst/>
          </a:prstGeom>
          <a:noFill/>
          <a:ln w="50800">
            <a:solidFill>
              <a:srgbClr val="F05F8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5449824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spc="70" kern="0" dirty="0">
                <a:solidFill>
                  <a:srgbClr val="F3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CONVERSATION  ·  VERIFIED COUNSELLORS  ·  MENSTRUAL + EMOTIONAL WELLBEING</a:t>
            </a:r>
            <a:endParaRPr lang="en-US" sz="850" dirty="0"/>
          </a:p>
        </p:txBody>
      </p:sp>
      <p:sp>
        <p:nvSpPr>
          <p:cNvPr id="12" name="Text 8">
            <a:hlinkClick r:id="rId3" tooltip=""/>
          </p:cNvPr>
          <p:cNvSpPr txBox="1"/>
          <p:nvPr/>
        </p:nvSpPr>
        <p:spPr>
          <a:xfrm>
            <a:off x="658368" y="634593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sister-care.vercel.app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92608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" y="283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542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10972800" y="29260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spc="150" kern="0" dirty="0">
                <a:solidFill>
                  <a:srgbClr val="F05F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9875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60" kern="0" dirty="0">
                <a:solidFill>
                  <a:srgbClr val="F05F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1225296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2B1F2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Silence turns manageable questions into avoidable harm.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1865376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barrier is not only access to information. It is the fear of being known, judged, dismissed or exposed.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58368" y="2542032"/>
            <a:ext cx="2423160" cy="987552"/>
          </a:xfrm>
          <a:prstGeom prst="roundRect">
            <a:avLst>
              <a:gd name="adj" fmla="val 14815"/>
            </a:avLst>
          </a:prstGeom>
          <a:solidFill>
            <a:srgbClr val="FCE9EE"/>
          </a:solidFill>
          <a:ln w="12700">
            <a:solidFill>
              <a:srgbClr val="FCE9EE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2706624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F05F8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in 7</a:t>
            </a:r>
            <a:endParaRPr lang="en-US" sz="230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3136392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 adolescents experience a mental health condition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58368" y="3675888"/>
            <a:ext cx="2423160" cy="987552"/>
          </a:xfrm>
          <a:prstGeom prst="roundRect">
            <a:avLst>
              <a:gd name="adj" fmla="val 14815"/>
            </a:avLst>
          </a:prstGeom>
          <a:solidFill>
            <a:srgbClr val="EEE4FA"/>
          </a:solidFill>
          <a:ln w="12700">
            <a:solidFill>
              <a:srgbClr val="EEE4FA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" y="384048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8C30E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1.8B</a:t>
            </a:r>
            <a:endParaRPr lang="en-US" sz="23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" y="4270248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people menstruate every month worldwide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658368" y="5010912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542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high-frequency need. A low-trust pathway.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429000" y="2542032"/>
            <a:ext cx="2487168" cy="2450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D7DE"/>
            </a:solidFill>
            <a:prstDash val="solid"/>
          </a:ln>
          <a:effectLst>
            <a:outerShdw sx="100000" sy="100000" kx="0" ky="0" algn="bl" rotWithShape="0" blurRad="25400" dist="50800" dir="2700000">
              <a:srgbClr val="5A394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85032" y="2779776"/>
            <a:ext cx="384048" cy="384048"/>
          </a:xfrm>
          <a:prstGeom prst="ellipse">
            <a:avLst/>
          </a:prstGeom>
          <a:solidFill>
            <a:srgbClr val="F05F8D"/>
          </a:solidFill>
          <a:ln w="12700">
            <a:solidFill>
              <a:srgbClr val="F05F8D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685032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3685032" y="3291840"/>
            <a:ext cx="1975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B1F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question stays hidden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3685032" y="3730752"/>
            <a:ext cx="19751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Stigma, shared devices and fear of consequences stop people from asking early.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199632" y="2542032"/>
            <a:ext cx="2487168" cy="2450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D7DE"/>
            </a:solidFill>
            <a:prstDash val="solid"/>
          </a:ln>
          <a:effectLst>
            <a:outerShdw sx="100000" sy="100000" kx="0" ky="0" algn="bl" rotWithShape="0" blurRad="25400" dist="50800" dir="2700000">
              <a:srgbClr val="5A3948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455664" y="2779776"/>
            <a:ext cx="384048" cy="384048"/>
          </a:xfrm>
          <a:prstGeom prst="ellipse">
            <a:avLst/>
          </a:prstGeom>
          <a:solidFill>
            <a:srgbClr val="8C30E8"/>
          </a:solidFill>
          <a:ln w="12700">
            <a:solidFill>
              <a:srgbClr val="8C30E8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55664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455664" y="3291840"/>
            <a:ext cx="1975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B1F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internet is noisy, not safe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455664" y="3730752"/>
            <a:ext cx="19751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Generic search cannot understand context, assess urgency or offer accountable human support.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8970264" y="2542032"/>
            <a:ext cx="2487168" cy="2450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D7DE"/>
            </a:solidFill>
            <a:prstDash val="solid"/>
          </a:ln>
          <a:effectLst>
            <a:outerShdw sx="100000" sy="100000" kx="0" ky="0" algn="bl" rotWithShape="0" blurRad="25400" dist="50800" dir="2700000">
              <a:srgbClr val="5A3948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26296" y="2779776"/>
            <a:ext cx="384048" cy="384048"/>
          </a:xfrm>
          <a:prstGeom prst="ellipse">
            <a:avLst/>
          </a:prstGeom>
          <a:solidFill>
            <a:srgbClr val="F47C73"/>
          </a:solidFill>
          <a:ln w="12700">
            <a:solidFill>
              <a:srgbClr val="F47C73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226296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9226296" y="3291840"/>
            <a:ext cx="1975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B1F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Help arrives too late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9226296" y="3730752"/>
            <a:ext cx="19751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Unanswered concerns become anxiety, unsafe self-treatment or delayed professional care.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3730752" y="5358384"/>
            <a:ext cx="7205472" cy="0"/>
          </a:xfrm>
          <a:prstGeom prst="line">
            <a:avLst/>
          </a:prstGeom>
          <a:noFill/>
          <a:ln w="16510">
            <a:solidFill>
              <a:srgbClr val="E9D7D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602736" y="5239512"/>
            <a:ext cx="246888" cy="246888"/>
          </a:xfrm>
          <a:prstGeom prst="ellipse">
            <a:avLst/>
          </a:prstGeom>
          <a:solidFill>
            <a:srgbClr val="F3B7C6"/>
          </a:solidFill>
          <a:ln w="12700">
            <a:solidFill>
              <a:srgbClr val="F3B7C6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950208" y="5193792"/>
            <a:ext cx="1353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Shame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5202936" y="5193792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A990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5650992" y="5239512"/>
            <a:ext cx="246888" cy="246888"/>
          </a:xfrm>
          <a:prstGeom prst="ellipse">
            <a:avLst/>
          </a:prstGeom>
          <a:solidFill>
            <a:srgbClr val="F3B7C6"/>
          </a:solidFill>
          <a:ln w="12700">
            <a:solidFill>
              <a:srgbClr val="F3B7C6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998464" y="5193792"/>
            <a:ext cx="1353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Silence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7251192" y="5193792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A990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7699248" y="5239512"/>
            <a:ext cx="246888" cy="246888"/>
          </a:xfrm>
          <a:prstGeom prst="ellipse">
            <a:avLst/>
          </a:prstGeom>
          <a:solidFill>
            <a:srgbClr val="F3B7C6"/>
          </a:solidFill>
          <a:ln w="12700">
            <a:solidFill>
              <a:srgbClr val="F3B7C6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046720" y="5193792"/>
            <a:ext cx="1353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Misinformation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9299448" y="5193792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A990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9747504" y="5239512"/>
            <a:ext cx="246888" cy="246888"/>
          </a:xfrm>
          <a:prstGeom prst="ellipse">
            <a:avLst/>
          </a:prstGeom>
          <a:solidFill>
            <a:srgbClr val="F47C73"/>
          </a:solidFill>
          <a:ln w="12700">
            <a:solidFill>
              <a:srgbClr val="F47C73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0094976" y="5193792"/>
            <a:ext cx="1353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Delay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658368" y="6510528"/>
            <a:ext cx="10012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A990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WHO, Adolescent mental health (2025); UNICEF, Menstrual hygiene. Figures are global context, not SisterCare traction.</a:t>
            </a:r>
            <a:endParaRPr lang="en-US" sz="6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92608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" y="283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542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10972800" y="29260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spc="150" kern="0" dirty="0">
                <a:solidFill>
                  <a:srgbClr val="F05F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9875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60" kern="0" dirty="0">
                <a:solidFill>
                  <a:srgbClr val="F05F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SOLUTION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1225296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2B1F2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discreet doorway. Four safe next steps.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1865376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 begins with conversation—not a form—and lets each member decide how far to go.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41248" y="2487168"/>
            <a:ext cx="2157984" cy="3566160"/>
          </a:xfrm>
          <a:prstGeom prst="roundRect">
            <a:avLst>
              <a:gd name="adj" fmla="val 10593"/>
            </a:avLst>
          </a:prstGeom>
          <a:solidFill>
            <a:srgbClr val="2B1F29"/>
          </a:solidFill>
          <a:ln w="12700">
            <a:solidFill>
              <a:srgbClr val="2B1F29"/>
            </a:solidFill>
            <a:prstDash val="solid"/>
          </a:ln>
          <a:effectLst>
            <a:outerShdw sx="100000" sy="100000" kx="0" ky="0" algn="bl" rotWithShape="0" blurRad="25400" dist="50800" dir="2700000">
              <a:srgbClr val="5A3948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14400" y="2569464"/>
            <a:ext cx="2011680" cy="340156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64208" y="2633472"/>
            <a:ext cx="512064" cy="73152"/>
          </a:xfrm>
          <a:prstGeom prst="roundRect">
            <a:avLst>
              <a:gd name="adj" fmla="val 50000"/>
            </a:avLst>
          </a:prstGeom>
          <a:solidFill>
            <a:srgbClr val="2B1F29"/>
          </a:solidFill>
          <a:ln w="12700">
            <a:solidFill>
              <a:srgbClr val="2B1F29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69848" y="2871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42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private conversation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1088136" y="3328416"/>
            <a:ext cx="1536192" cy="585216"/>
          </a:xfrm>
          <a:prstGeom prst="roundRect">
            <a:avLst>
              <a:gd name="adj" fmla="val 25000"/>
            </a:avLst>
          </a:prstGeom>
          <a:solidFill>
            <a:srgbClr val="FCE9EE"/>
          </a:solidFill>
          <a:ln w="12700">
            <a:solidFill>
              <a:srgbClr val="FCE9EE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225296" y="3419856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1F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 need to ask something personal…</a:t>
            </a:r>
            <a:endParaRPr lang="en-US" sz="740" dirty="0"/>
          </a:p>
        </p:txBody>
      </p:sp>
      <p:sp>
        <p:nvSpPr>
          <p:cNvPr id="14" name="Shape 11"/>
          <p:cNvSpPr/>
          <p:nvPr/>
        </p:nvSpPr>
        <p:spPr>
          <a:xfrm>
            <a:off x="1316736" y="4114800"/>
            <a:ext cx="1435608" cy="822960"/>
          </a:xfrm>
          <a:prstGeom prst="roundRect">
            <a:avLst>
              <a:gd name="adj" fmla="val 17778"/>
            </a:avLst>
          </a:prstGeom>
          <a:solidFill>
            <a:srgbClr val="EEE4FA"/>
          </a:solidFill>
          <a:ln w="12700">
            <a:solidFill>
              <a:srgbClr val="EEE4FA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453896" y="4224528"/>
            <a:ext cx="11521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542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can share only what feels safe. I’ll help you understand the next step.</a:t>
            </a:r>
            <a:endParaRPr lang="en-US" sz="720" dirty="0"/>
          </a:p>
        </p:txBody>
      </p:sp>
      <p:sp>
        <p:nvSpPr>
          <p:cNvPr id="16" name="Shape 13"/>
          <p:cNvSpPr/>
          <p:nvPr/>
        </p:nvSpPr>
        <p:spPr>
          <a:xfrm>
            <a:off x="1088136" y="5477256"/>
            <a:ext cx="1664208" cy="310896"/>
          </a:xfrm>
          <a:prstGeom prst="roundRect">
            <a:avLst>
              <a:gd name="adj" fmla="val 50000"/>
            </a:avLst>
          </a:prstGeom>
          <a:solidFill>
            <a:srgbClr val="F7F0F3"/>
          </a:solidFill>
          <a:ln w="12700">
            <a:solidFill>
              <a:srgbClr val="F7F0F3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243584" y="5477256"/>
            <a:ext cx="1289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A990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 privately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9171432" y="2487168"/>
            <a:ext cx="2157984" cy="3566160"/>
          </a:xfrm>
          <a:prstGeom prst="roundRect">
            <a:avLst>
              <a:gd name="adj" fmla="val 10593"/>
            </a:avLst>
          </a:prstGeom>
          <a:solidFill>
            <a:srgbClr val="2B1F29"/>
          </a:solidFill>
          <a:ln w="12700">
            <a:solidFill>
              <a:srgbClr val="2B1F29"/>
            </a:solidFill>
            <a:prstDash val="solid"/>
          </a:ln>
          <a:effectLst>
            <a:outerShdw sx="100000" sy="100000" kx="0" ky="0" algn="bl" rotWithShape="0" blurRad="25400" dist="50800" dir="2700000">
              <a:srgbClr val="5A3948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9244584" y="2569464"/>
            <a:ext cx="2011680" cy="340156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994392" y="2633472"/>
            <a:ext cx="512064" cy="73152"/>
          </a:xfrm>
          <a:prstGeom prst="roundRect">
            <a:avLst>
              <a:gd name="adj" fmla="val 50000"/>
            </a:avLst>
          </a:prstGeom>
          <a:solidFill>
            <a:srgbClr val="2B1F29"/>
          </a:solidFill>
          <a:ln w="12700">
            <a:solidFill>
              <a:srgbClr val="2B1F29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400032" y="2871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42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support plan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9427464" y="3291840"/>
            <a:ext cx="1645920" cy="987552"/>
          </a:xfrm>
          <a:prstGeom prst="roundRect">
            <a:avLst>
              <a:gd name="adj" fmla="val 14815"/>
            </a:avLst>
          </a:prstGeom>
          <a:solidFill>
            <a:srgbClr val="FCE9EE"/>
          </a:solidFill>
          <a:ln w="12700">
            <a:solidFill>
              <a:srgbClr val="FCE9EE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610344" y="34564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F05F8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Private</a:t>
            </a:r>
            <a:endParaRPr lang="en-US" sz="2300" dirty="0"/>
          </a:p>
        </p:txBody>
      </p:sp>
      <p:sp>
        <p:nvSpPr>
          <p:cNvPr id="24" name="Text 21"/>
          <p:cNvSpPr txBox="1"/>
          <p:nvPr/>
        </p:nvSpPr>
        <p:spPr>
          <a:xfrm>
            <a:off x="9610344" y="38862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identity control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9427464" y="4425696"/>
            <a:ext cx="1645920" cy="987552"/>
          </a:xfrm>
          <a:prstGeom prst="roundRect">
            <a:avLst>
              <a:gd name="adj" fmla="val 14815"/>
            </a:avLst>
          </a:prstGeom>
          <a:solidFill>
            <a:srgbClr val="E4F2ED"/>
          </a:solidFill>
          <a:ln w="12700">
            <a:solidFill>
              <a:srgbClr val="E4F2ED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610344" y="459028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2D7B6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Human</a:t>
            </a:r>
            <a:endParaRPr lang="en-US" sz="2300" dirty="0"/>
          </a:p>
        </p:txBody>
      </p:sp>
      <p:sp>
        <p:nvSpPr>
          <p:cNvPr id="27" name="Text 24"/>
          <p:cNvSpPr txBox="1"/>
          <p:nvPr/>
        </p:nvSpPr>
        <p:spPr>
          <a:xfrm>
            <a:off x="9610344" y="50200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verified counsellor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9518904" y="539496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54223F"/>
          </a:solidFill>
          <a:ln w="12700">
            <a:solidFill>
              <a:srgbClr val="54223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628632" y="539496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in today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3410712" y="4087368"/>
            <a:ext cx="5340096" cy="0"/>
          </a:xfrm>
          <a:prstGeom prst="line">
            <a:avLst/>
          </a:prstGeom>
          <a:noFill/>
          <a:ln w="25400">
            <a:solidFill>
              <a:srgbClr val="F3B7C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218688" y="2578608"/>
            <a:ext cx="2505456" cy="1426464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9D7D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383280" y="2743200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F05F8D"/>
          </a:solidFill>
          <a:ln w="12700">
            <a:solidFill>
              <a:srgbClr val="F05F8D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493008" y="2743200"/>
            <a:ext cx="283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3383280" y="3127248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b="1" dirty="0">
                <a:solidFill>
                  <a:srgbClr val="2B1F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Ask privately</a:t>
            </a:r>
            <a:endParaRPr lang="en-US" sz="1320" dirty="0"/>
          </a:p>
        </p:txBody>
      </p:sp>
      <p:sp>
        <p:nvSpPr>
          <p:cNvPr id="35" name="Text 32"/>
          <p:cNvSpPr txBox="1"/>
          <p:nvPr/>
        </p:nvSpPr>
        <p:spPr>
          <a:xfrm>
            <a:off x="3383280" y="3456432"/>
            <a:ext cx="21762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7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 discreet identity and share only what feels safe.</a:t>
            </a:r>
            <a:endParaRPr lang="en-US" sz="870" dirty="0"/>
          </a:p>
        </p:txBody>
      </p:sp>
      <p:sp>
        <p:nvSpPr>
          <p:cNvPr id="36" name="Shape 33"/>
          <p:cNvSpPr/>
          <p:nvPr/>
        </p:nvSpPr>
        <p:spPr>
          <a:xfrm>
            <a:off x="5998464" y="2578608"/>
            <a:ext cx="2505456" cy="1426464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9D7D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163056" y="2743200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F05F8D"/>
          </a:solidFill>
          <a:ln w="12700">
            <a:solidFill>
              <a:srgbClr val="F05F8D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272784" y="2743200"/>
            <a:ext cx="283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6163056" y="3127248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b="1" dirty="0">
                <a:solidFill>
                  <a:srgbClr val="2B1F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Understand</a:t>
            </a:r>
            <a:endParaRPr lang="en-US" sz="1320" dirty="0"/>
          </a:p>
        </p:txBody>
      </p:sp>
      <p:sp>
        <p:nvSpPr>
          <p:cNvPr id="40" name="Text 37"/>
          <p:cNvSpPr txBox="1"/>
          <p:nvPr/>
        </p:nvSpPr>
        <p:spPr>
          <a:xfrm>
            <a:off x="6163056" y="3456432"/>
            <a:ext cx="21762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7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Get clear, reviewed guidance in understandable language.</a:t>
            </a:r>
            <a:endParaRPr lang="en-US" sz="870" dirty="0"/>
          </a:p>
        </p:txBody>
      </p:sp>
      <p:sp>
        <p:nvSpPr>
          <p:cNvPr id="41" name="Shape 38"/>
          <p:cNvSpPr/>
          <p:nvPr/>
        </p:nvSpPr>
        <p:spPr>
          <a:xfrm>
            <a:off x="3218688" y="4297680"/>
            <a:ext cx="2505456" cy="1426464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9D7DE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383280" y="4462272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2D7B67"/>
          </a:solidFill>
          <a:ln w="12700">
            <a:solidFill>
              <a:srgbClr val="2D7B67">
                <a:alpha val="0"/>
              </a:srgbClr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493008" y="4462272"/>
            <a:ext cx="283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44" name="Text 41"/>
          <p:cNvSpPr txBox="1"/>
          <p:nvPr/>
        </p:nvSpPr>
        <p:spPr>
          <a:xfrm>
            <a:off x="3383280" y="4846320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b="1" dirty="0">
                <a:solidFill>
                  <a:srgbClr val="2B1F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Reach a human</a:t>
            </a:r>
            <a:endParaRPr lang="en-US" sz="1320" dirty="0"/>
          </a:p>
        </p:txBody>
      </p:sp>
      <p:sp>
        <p:nvSpPr>
          <p:cNvPr id="45" name="Text 42"/>
          <p:cNvSpPr txBox="1"/>
          <p:nvPr/>
        </p:nvSpPr>
        <p:spPr>
          <a:xfrm>
            <a:off x="3383280" y="5175504"/>
            <a:ext cx="21762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7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to an eligible verified counsellor by text or in-app audio.</a:t>
            </a:r>
            <a:endParaRPr lang="en-US" sz="870" dirty="0"/>
          </a:p>
        </p:txBody>
      </p:sp>
      <p:sp>
        <p:nvSpPr>
          <p:cNvPr id="46" name="Shape 43"/>
          <p:cNvSpPr/>
          <p:nvPr/>
        </p:nvSpPr>
        <p:spPr>
          <a:xfrm>
            <a:off x="5998464" y="4297680"/>
            <a:ext cx="2505456" cy="1426464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9D7DE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163056" y="4462272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F05F8D"/>
          </a:solidFill>
          <a:ln w="12700">
            <a:solidFill>
              <a:srgbClr val="F05F8D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272784" y="4462272"/>
            <a:ext cx="283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49" name="Text 46"/>
          <p:cNvSpPr txBox="1"/>
          <p:nvPr/>
        </p:nvSpPr>
        <p:spPr>
          <a:xfrm>
            <a:off x="6163056" y="4846320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b="1" dirty="0">
                <a:solidFill>
                  <a:srgbClr val="2B1F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context</a:t>
            </a:r>
            <a:endParaRPr lang="en-US" sz="1320" dirty="0"/>
          </a:p>
        </p:txBody>
      </p:sp>
      <p:sp>
        <p:nvSpPr>
          <p:cNvPr id="50" name="Text 47"/>
          <p:cNvSpPr txBox="1"/>
          <p:nvPr/>
        </p:nvSpPr>
        <p:spPr>
          <a:xfrm>
            <a:off x="6163056" y="5175504"/>
            <a:ext cx="21762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7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Track menstrual and emotional wellbeing without turning care into gamification.</a:t>
            </a:r>
            <a:endParaRPr lang="en-US" sz="870" dirty="0"/>
          </a:p>
        </p:txBody>
      </p:sp>
      <p:sp>
        <p:nvSpPr>
          <p:cNvPr id="51" name="Text 48"/>
          <p:cNvSpPr txBox="1"/>
          <p:nvPr/>
        </p:nvSpPr>
        <p:spPr>
          <a:xfrm>
            <a:off x="658368" y="6510528"/>
            <a:ext cx="10012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A990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scope: private support, safe handoff, menstrual tracking and emotional wellbeing—not diagnosis, social media or fertility-first engagement.</a:t>
            </a:r>
            <a:endParaRPr lang="en-US" sz="6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92608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" y="283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542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10972800" y="29260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spc="150" kern="0" dirty="0">
                <a:solidFill>
                  <a:srgbClr val="F05F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9875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60" kern="0" dirty="0">
                <a:solidFill>
                  <a:srgbClr val="F05F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OPPORTUNITY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1225296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2B1F2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global need, entered through trusted local institutions.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1865376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wedge is not “another period app.” It is confidential support infrastructure for communities where disclosure is hard.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58368" y="2523744"/>
            <a:ext cx="3840480" cy="3383280"/>
          </a:xfrm>
          <a:prstGeom prst="roundRect">
            <a:avLst>
              <a:gd name="adj" fmla="val 4865"/>
            </a:avLst>
          </a:prstGeom>
          <a:solidFill>
            <a:srgbClr val="54223F"/>
          </a:solidFill>
          <a:ln w="12700">
            <a:solidFill>
              <a:srgbClr val="54223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60120" y="281635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3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category we are building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3236976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Private first-disclosure support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4261104"/>
            <a:ext cx="31546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6DC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trusted layer between silence and formal care—combining safe digital guidance with accountable human support.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960120" y="5404104"/>
            <a:ext cx="2423160" cy="310896"/>
          </a:xfrm>
          <a:prstGeom prst="roundRect">
            <a:avLst>
              <a:gd name="adj" fmla="val 50000"/>
            </a:avLst>
          </a:prstGeom>
          <a:solidFill>
            <a:srgbClr val="F05F8D"/>
          </a:solidFill>
          <a:ln w="12700">
            <a:solidFill>
              <a:srgbClr val="F05F8D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69848" y="5404104"/>
            <a:ext cx="220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VISION · LOCAL TRUST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846320" y="2523744"/>
            <a:ext cx="6629400" cy="932688"/>
          </a:xfrm>
          <a:prstGeom prst="roundRect">
            <a:avLst>
              <a:gd name="adj" fmla="val 15686"/>
            </a:avLst>
          </a:prstGeom>
          <a:solidFill>
            <a:srgbClr val="FFFFFF"/>
          </a:solidFill>
          <a:ln w="12700">
            <a:solidFill>
              <a:srgbClr val="E9D7D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846320" y="2523744"/>
            <a:ext cx="109728" cy="932688"/>
          </a:xfrm>
          <a:prstGeom prst="rect">
            <a:avLst/>
          </a:prstGeom>
          <a:solidFill>
            <a:srgbClr val="F05F8D"/>
          </a:solidFill>
          <a:ln w="12700">
            <a:solidFill>
              <a:srgbClr val="F05F8D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193792" y="267919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B1F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Schools &amp; universities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543800" y="2670048"/>
            <a:ext cx="3584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Reach adolescents and young women through existing safeguarding structures.</a:t>
            </a:r>
            <a:endParaRPr lang="en-US" sz="960" dirty="0"/>
          </a:p>
        </p:txBody>
      </p:sp>
      <p:sp>
        <p:nvSpPr>
          <p:cNvPr id="18" name="Shape 15"/>
          <p:cNvSpPr/>
          <p:nvPr/>
        </p:nvSpPr>
        <p:spPr>
          <a:xfrm>
            <a:off x="4846320" y="3630168"/>
            <a:ext cx="6629400" cy="932688"/>
          </a:xfrm>
          <a:prstGeom prst="roundRect">
            <a:avLst>
              <a:gd name="adj" fmla="val 15686"/>
            </a:avLst>
          </a:prstGeom>
          <a:solidFill>
            <a:srgbClr val="FFFFFF"/>
          </a:solidFill>
          <a:ln w="12700">
            <a:solidFill>
              <a:srgbClr val="E9D7D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846320" y="3630168"/>
            <a:ext cx="109728" cy="932688"/>
          </a:xfrm>
          <a:prstGeom prst="rect">
            <a:avLst/>
          </a:prstGeom>
          <a:solidFill>
            <a:srgbClr val="8C30E8"/>
          </a:solidFill>
          <a:ln w="12700">
            <a:solidFill>
              <a:srgbClr val="8C30E8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193792" y="3785616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B1F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Youth-serving NGOs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543800" y="3776472"/>
            <a:ext cx="3584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 confidential access, counsellor capacity and measurable wellbeing outcomes.</a:t>
            </a:r>
            <a:endParaRPr lang="en-US" sz="960" dirty="0"/>
          </a:p>
        </p:txBody>
      </p:sp>
      <p:sp>
        <p:nvSpPr>
          <p:cNvPr id="22" name="Shape 19"/>
          <p:cNvSpPr/>
          <p:nvPr/>
        </p:nvSpPr>
        <p:spPr>
          <a:xfrm>
            <a:off x="4846320" y="4736592"/>
            <a:ext cx="6629400" cy="932688"/>
          </a:xfrm>
          <a:prstGeom prst="roundRect">
            <a:avLst>
              <a:gd name="adj" fmla="val 15686"/>
            </a:avLst>
          </a:prstGeom>
          <a:solidFill>
            <a:srgbClr val="FFFFFF"/>
          </a:solidFill>
          <a:ln w="12700">
            <a:solidFill>
              <a:srgbClr val="E9D7D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846320" y="4736592"/>
            <a:ext cx="109728" cy="932688"/>
          </a:xfrm>
          <a:prstGeom prst="rect">
            <a:avLst/>
          </a:prstGeom>
          <a:solidFill>
            <a:srgbClr val="2D7B67"/>
          </a:solidFill>
          <a:ln w="12700">
            <a:solidFill>
              <a:srgbClr val="2D7B67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93792" y="48920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B1F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Clinics &amp; community programmes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543800" y="4882896"/>
            <a:ext cx="3584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 an earlier, lower-friction route into appropriate human care.</a:t>
            </a:r>
            <a:endParaRPr lang="en-US" sz="960" dirty="0"/>
          </a:p>
        </p:txBody>
      </p:sp>
      <p:sp>
        <p:nvSpPr>
          <p:cNvPr id="26" name="Shape 23"/>
          <p:cNvSpPr/>
          <p:nvPr/>
        </p:nvSpPr>
        <p:spPr>
          <a:xfrm>
            <a:off x="4846320" y="5486400"/>
            <a:ext cx="6629400" cy="420624"/>
          </a:xfrm>
          <a:prstGeom prst="roundRect">
            <a:avLst>
              <a:gd name="adj" fmla="val 30435"/>
            </a:avLst>
          </a:prstGeom>
          <a:solidFill>
            <a:srgbClr val="FCE9EE"/>
          </a:solidFill>
          <a:ln w="12700">
            <a:solidFill>
              <a:srgbClr val="FCE9EE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047488" y="5486400"/>
            <a:ext cx="6227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542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wedge: Uganda  →  Repeatable institutional playbook  →  Regional and global expansion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58368" y="6510528"/>
            <a:ext cx="10012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A990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entry is deliberately bottom-up. SisterCare will validate demand and outcomes before publishing revenue-scale market projections.</a:t>
            </a:r>
            <a:endParaRPr lang="en-US" sz="6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92608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" y="283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542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10972800" y="29260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spc="150" kern="0" dirty="0">
                <a:solidFill>
                  <a:srgbClr val="F05F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9875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60" kern="0" dirty="0">
                <a:solidFill>
                  <a:srgbClr val="F05F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TRACTION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1225296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2B1F2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platform is built. The next milestone is validated field use.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1865376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distinguish product readiness from market traction and will report adoption only after supervised pilots begin.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58368" y="2542032"/>
            <a:ext cx="2231136" cy="987552"/>
          </a:xfrm>
          <a:prstGeom prst="roundRect">
            <a:avLst>
              <a:gd name="adj" fmla="val 14815"/>
            </a:avLst>
          </a:prstGeom>
          <a:solidFill>
            <a:srgbClr val="FCE9EE"/>
          </a:solidFill>
          <a:ln w="12700">
            <a:solidFill>
              <a:srgbClr val="FCE9EE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2706624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F05F8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218</a:t>
            </a:r>
            <a:endParaRPr lang="en-US" sz="230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3136392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automated tests passing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063240" y="2542032"/>
            <a:ext cx="2231136" cy="987552"/>
          </a:xfrm>
          <a:prstGeom prst="roundRect">
            <a:avLst>
              <a:gd name="adj" fmla="val 14815"/>
            </a:avLst>
          </a:prstGeom>
          <a:solidFill>
            <a:srgbClr val="EEE4FA"/>
          </a:solidFill>
          <a:ln w="12700">
            <a:solidFill>
              <a:srgbClr val="EEE4FA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46120" y="2706624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8C30E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44</a:t>
            </a:r>
            <a:endParaRPr lang="en-US" sz="2300" dirty="0"/>
          </a:p>
        </p:txBody>
      </p:sp>
      <p:sp>
        <p:nvSpPr>
          <p:cNvPr id="13" name="Text 10"/>
          <p:cNvSpPr txBox="1"/>
          <p:nvPr/>
        </p:nvSpPr>
        <p:spPr>
          <a:xfrm>
            <a:off x="3246120" y="3136392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files passing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468112" y="2542032"/>
            <a:ext cx="2231136" cy="987552"/>
          </a:xfrm>
          <a:prstGeom prst="roundRect">
            <a:avLst>
              <a:gd name="adj" fmla="val 14815"/>
            </a:avLst>
          </a:prstGeom>
          <a:solidFill>
            <a:srgbClr val="E4F2ED"/>
          </a:solidFill>
          <a:ln w="12700">
            <a:solidFill>
              <a:srgbClr val="E4F2ED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650992" y="2706624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2D7B6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2300" dirty="0"/>
          </a:p>
        </p:txBody>
      </p:sp>
      <p:sp>
        <p:nvSpPr>
          <p:cNvPr id="16" name="Text 13"/>
          <p:cNvSpPr txBox="1"/>
          <p:nvPr/>
        </p:nvSpPr>
        <p:spPr>
          <a:xfrm>
            <a:off x="5650992" y="3136392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role-specific workspaces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872984" y="2542032"/>
            <a:ext cx="2231136" cy="987552"/>
          </a:xfrm>
          <a:prstGeom prst="roundRect">
            <a:avLst>
              <a:gd name="adj" fmla="val 14815"/>
            </a:avLst>
          </a:prstGeom>
          <a:solidFill>
            <a:srgbClr val="FAEBDD"/>
          </a:solidFill>
          <a:ln w="12700">
            <a:solidFill>
              <a:srgbClr val="FAEBDD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055864" y="2706624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B36A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2300" dirty="0"/>
          </a:p>
        </p:txBody>
      </p:sp>
      <p:sp>
        <p:nvSpPr>
          <p:cNvPr id="19" name="Text 16"/>
          <p:cNvSpPr txBox="1"/>
          <p:nvPr/>
        </p:nvSpPr>
        <p:spPr>
          <a:xfrm>
            <a:off x="8055864" y="3136392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integrated care platform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58368" y="3895344"/>
            <a:ext cx="3401568" cy="1627632"/>
          </a:xfrm>
          <a:prstGeom prst="roundRect">
            <a:avLst>
              <a:gd name="adj" fmla="val 8989"/>
            </a:avLst>
          </a:prstGeom>
          <a:solidFill>
            <a:srgbClr val="FFFFFF"/>
          </a:solidFill>
          <a:ln w="12700">
            <a:solidFill>
              <a:srgbClr val="E9D7D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59536" y="4123944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F05F8D"/>
          </a:solidFill>
          <a:ln w="12700">
            <a:solidFill>
              <a:srgbClr val="F05F8D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69264" y="4123944"/>
            <a:ext cx="283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859536" y="4562856"/>
            <a:ext cx="2971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30" b="1" dirty="0">
                <a:solidFill>
                  <a:srgbClr val="2B1F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Member experience</a:t>
            </a:r>
            <a:endParaRPr lang="en-US" sz="1330" dirty="0"/>
          </a:p>
        </p:txBody>
      </p:sp>
      <p:sp>
        <p:nvSpPr>
          <p:cNvPr id="24" name="Text 21"/>
          <p:cNvSpPr txBox="1"/>
          <p:nvPr/>
        </p:nvSpPr>
        <p:spPr>
          <a:xfrm>
            <a:off x="859536" y="4882896"/>
            <a:ext cx="296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chat, wellbeing check-ins, cycle tracking, consent controls and anonymous human support.</a:t>
            </a:r>
            <a:endParaRPr lang="en-US" sz="920" dirty="0"/>
          </a:p>
        </p:txBody>
      </p:sp>
      <p:sp>
        <p:nvSpPr>
          <p:cNvPr id="25" name="Shape 22"/>
          <p:cNvSpPr/>
          <p:nvPr/>
        </p:nvSpPr>
        <p:spPr>
          <a:xfrm>
            <a:off x="4343400" y="3895344"/>
            <a:ext cx="3401568" cy="1627632"/>
          </a:xfrm>
          <a:prstGeom prst="roundRect">
            <a:avLst>
              <a:gd name="adj" fmla="val 8989"/>
            </a:avLst>
          </a:prstGeom>
          <a:solidFill>
            <a:srgbClr val="FFFFFF"/>
          </a:solidFill>
          <a:ln w="12700">
            <a:solidFill>
              <a:srgbClr val="E9D7D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44568" y="4123944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2D7B67"/>
          </a:solidFill>
          <a:ln w="12700">
            <a:solidFill>
              <a:srgbClr val="2D7B67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654296" y="4123944"/>
            <a:ext cx="283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4544568" y="4562856"/>
            <a:ext cx="2971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30" b="1" dirty="0">
                <a:solidFill>
                  <a:srgbClr val="2B1F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Care operations</a:t>
            </a:r>
            <a:endParaRPr lang="en-US" sz="1330" dirty="0"/>
          </a:p>
        </p:txBody>
      </p:sp>
      <p:sp>
        <p:nvSpPr>
          <p:cNvPr id="29" name="Text 26"/>
          <p:cNvSpPr txBox="1"/>
          <p:nvPr/>
        </p:nvSpPr>
        <p:spPr>
          <a:xfrm>
            <a:off x="4544568" y="4882896"/>
            <a:ext cx="296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Counsellor KYC, live availability, capacity-aware matching, safeguarding and editorial review.</a:t>
            </a:r>
            <a:endParaRPr lang="en-US" sz="920" dirty="0"/>
          </a:p>
        </p:txBody>
      </p:sp>
      <p:sp>
        <p:nvSpPr>
          <p:cNvPr id="30" name="Shape 27"/>
          <p:cNvSpPr/>
          <p:nvPr/>
        </p:nvSpPr>
        <p:spPr>
          <a:xfrm>
            <a:off x="8028432" y="3895344"/>
            <a:ext cx="3401568" cy="1627632"/>
          </a:xfrm>
          <a:prstGeom prst="roundRect">
            <a:avLst>
              <a:gd name="adj" fmla="val 8989"/>
            </a:avLst>
          </a:prstGeom>
          <a:solidFill>
            <a:srgbClr val="FFFFFF"/>
          </a:solidFill>
          <a:ln w="12700">
            <a:solidFill>
              <a:srgbClr val="E9D7D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229600" y="4123944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F05F8D"/>
          </a:solidFill>
          <a:ln w="12700">
            <a:solidFill>
              <a:srgbClr val="F05F8D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339328" y="4123944"/>
            <a:ext cx="283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0" y="4562856"/>
            <a:ext cx="2971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30" b="1" dirty="0">
                <a:solidFill>
                  <a:srgbClr val="2B1F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 foundation</a:t>
            </a:r>
            <a:endParaRPr lang="en-US" sz="1330" dirty="0"/>
          </a:p>
        </p:txBody>
      </p:sp>
      <p:sp>
        <p:nvSpPr>
          <p:cNvPr id="34" name="Text 31"/>
          <p:cNvSpPr txBox="1"/>
          <p:nvPr/>
        </p:nvSpPr>
        <p:spPr>
          <a:xfrm>
            <a:off x="8229600" y="4882896"/>
            <a:ext cx="296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Supabase RLS, retention controls, audit trails, rate limits, offline sync and provider fallback.</a:t>
            </a:r>
            <a:endParaRPr lang="en-US" sz="920" dirty="0"/>
          </a:p>
        </p:txBody>
      </p:sp>
      <p:sp>
        <p:nvSpPr>
          <p:cNvPr id="35" name="Shape 32"/>
          <p:cNvSpPr/>
          <p:nvPr/>
        </p:nvSpPr>
        <p:spPr>
          <a:xfrm>
            <a:off x="10351008" y="2542032"/>
            <a:ext cx="1124712" cy="987552"/>
          </a:xfrm>
          <a:prstGeom prst="roundRect">
            <a:avLst>
              <a:gd name="adj" fmla="val 14815"/>
            </a:avLst>
          </a:prstGeom>
          <a:solidFill>
            <a:srgbClr val="54223F"/>
          </a:solidFill>
          <a:ln w="12700">
            <a:solidFill>
              <a:srgbClr val="54223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0442448" y="2688336"/>
            <a:ext cx="94183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658368" y="6510528"/>
            <a:ext cx="10012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A990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SisterCare repository test run on 3 Aug 2026. 44 files / 218 tests passed. Stage: pre-production hardening.</a:t>
            </a:r>
            <a:endParaRPr lang="en-US" sz="6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92608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" y="283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542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10972800" y="29260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spc="150" kern="0" dirty="0">
                <a:solidFill>
                  <a:srgbClr val="F05F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9875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60" kern="0" dirty="0">
                <a:solidFill>
                  <a:srgbClr val="F05F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MODEL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1225296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2B1F2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Partners fund access. Members keep dignity and privacy.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1865376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comes from accountable programmes—not advertising, engagement addiction or selling sensitive health data.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58368" y="2587752"/>
            <a:ext cx="3401568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D7DE"/>
            </a:solidFill>
            <a:prstDash val="solid"/>
          </a:ln>
          <a:effectLst>
            <a:outerShdw sx="100000" sy="100000" kx="0" ky="0" algn="bl" rotWithShape="0" blurRad="25400" dist="50800" dir="2700000">
              <a:srgbClr val="5A3948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14400" y="2825496"/>
            <a:ext cx="384048" cy="384048"/>
          </a:xfrm>
          <a:prstGeom prst="ellipse">
            <a:avLst/>
          </a:prstGeom>
          <a:solidFill>
            <a:srgbClr val="F05F8D"/>
          </a:solidFill>
          <a:ln w="12700">
            <a:solidFill>
              <a:srgbClr val="F05F8D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14400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3337560"/>
            <a:ext cx="2889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B1F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Institutional licence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3776472"/>
            <a:ext cx="28895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access for schools, universities, NGOs and community programmes.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96112" y="4379976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CE9EE"/>
          </a:solidFill>
          <a:ln w="12700">
            <a:solidFill>
              <a:srgbClr val="FCE9EE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05840" y="4379976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542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RECURRING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343400" y="2587752"/>
            <a:ext cx="3401568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D7DE"/>
            </a:solidFill>
            <a:prstDash val="solid"/>
          </a:ln>
          <a:effectLst>
            <a:outerShdw sx="100000" sy="100000" kx="0" ky="0" algn="bl" rotWithShape="0" blurRad="25400" dist="50800" dir="2700000">
              <a:srgbClr val="5A394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599432" y="2825496"/>
            <a:ext cx="384048" cy="384048"/>
          </a:xfrm>
          <a:prstGeom prst="ellipse">
            <a:avLst/>
          </a:prstGeom>
          <a:solidFill>
            <a:srgbClr val="8C30E8"/>
          </a:solidFill>
          <a:ln w="12700">
            <a:solidFill>
              <a:srgbClr val="8C30E8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99432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599432" y="3337560"/>
            <a:ext cx="2889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B1F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&amp; care ops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599432" y="3776472"/>
            <a:ext cx="28895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Onboarding, safeguarding setup, counsellor capacity and programme support.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581144" y="4379976"/>
            <a:ext cx="850392" cy="310896"/>
          </a:xfrm>
          <a:prstGeom prst="roundRect">
            <a:avLst>
              <a:gd name="adj" fmla="val 50000"/>
            </a:avLst>
          </a:prstGeom>
          <a:solidFill>
            <a:srgbClr val="FCE9EE"/>
          </a:solidFill>
          <a:ln w="12700">
            <a:solidFill>
              <a:srgbClr val="FCE9EE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690872" y="4379976"/>
            <a:ext cx="630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542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SERVICES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028432" y="2587752"/>
            <a:ext cx="3401568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D7DE"/>
            </a:solidFill>
            <a:prstDash val="solid"/>
          </a:ln>
          <a:effectLst>
            <a:outerShdw sx="100000" sy="100000" kx="0" ky="0" algn="bl" rotWithShape="0" blurRad="25400" dist="50800" dir="2700000">
              <a:srgbClr val="5A394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8284464" y="2825496"/>
            <a:ext cx="384048" cy="384048"/>
          </a:xfrm>
          <a:prstGeom prst="ellipse">
            <a:avLst/>
          </a:prstGeom>
          <a:solidFill>
            <a:srgbClr val="2D7B67"/>
          </a:solidFill>
          <a:ln w="12700">
            <a:solidFill>
              <a:srgbClr val="2D7B67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84464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8284464" y="3337560"/>
            <a:ext cx="2889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B1F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Sponsored access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8284464" y="3776472"/>
            <a:ext cx="28895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Foundations and CSR partners fund cohorts that should never face a paywall.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8266176" y="4379976"/>
            <a:ext cx="850392" cy="310896"/>
          </a:xfrm>
          <a:prstGeom prst="roundRect">
            <a:avLst>
              <a:gd name="adj" fmla="val 50000"/>
            </a:avLst>
          </a:prstGeom>
          <a:solidFill>
            <a:srgbClr val="E4F2ED"/>
          </a:solidFill>
          <a:ln w="12700">
            <a:solidFill>
              <a:srgbClr val="E4F2ED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375904" y="4379976"/>
            <a:ext cx="630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D7B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1143000" y="5440680"/>
            <a:ext cx="9948672" cy="0"/>
          </a:xfrm>
          <a:prstGeom prst="line">
            <a:avLst/>
          </a:prstGeom>
          <a:noFill/>
          <a:ln w="16510">
            <a:solidFill>
              <a:srgbClr val="E9D7D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86384" y="5687568"/>
            <a:ext cx="210312" cy="210312"/>
          </a:xfrm>
          <a:prstGeom prst="ellipse">
            <a:avLst/>
          </a:prstGeom>
          <a:solidFill>
            <a:srgbClr val="F05F8D"/>
          </a:solidFill>
          <a:ln w="12700">
            <a:solidFill>
              <a:srgbClr val="F05F8D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097280" y="5614416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542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ads</a:t>
            </a:r>
            <a:endParaRPr lang="en-US" sz="980" dirty="0"/>
          </a:p>
        </p:txBody>
      </p:sp>
      <p:sp>
        <p:nvSpPr>
          <p:cNvPr id="32" name="Text 29"/>
          <p:cNvSpPr txBox="1"/>
          <p:nvPr/>
        </p:nvSpPr>
        <p:spPr>
          <a:xfrm>
            <a:off x="2048256" y="5614416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attention is not the product</a:t>
            </a:r>
            <a:endParaRPr lang="en-US" sz="830" dirty="0"/>
          </a:p>
        </p:txBody>
      </p:sp>
      <p:sp>
        <p:nvSpPr>
          <p:cNvPr id="33" name="Shape 30"/>
          <p:cNvSpPr/>
          <p:nvPr/>
        </p:nvSpPr>
        <p:spPr>
          <a:xfrm>
            <a:off x="3575304" y="5687568"/>
            <a:ext cx="210312" cy="210312"/>
          </a:xfrm>
          <a:prstGeom prst="ellipse">
            <a:avLst/>
          </a:prstGeom>
          <a:solidFill>
            <a:srgbClr val="F05F8D"/>
          </a:solidFill>
          <a:ln w="12700">
            <a:solidFill>
              <a:srgbClr val="F05F8D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886200" y="5614416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542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data sales</a:t>
            </a:r>
            <a:endParaRPr lang="en-US" sz="980" dirty="0"/>
          </a:p>
        </p:txBody>
      </p:sp>
      <p:sp>
        <p:nvSpPr>
          <p:cNvPr id="35" name="Text 32"/>
          <p:cNvSpPr txBox="1"/>
          <p:nvPr/>
        </p:nvSpPr>
        <p:spPr>
          <a:xfrm>
            <a:off x="4837176" y="5614416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is the moat</a:t>
            </a:r>
            <a:endParaRPr lang="en-US" sz="830" dirty="0"/>
          </a:p>
        </p:txBody>
      </p:sp>
      <p:sp>
        <p:nvSpPr>
          <p:cNvPr id="36" name="Shape 33"/>
          <p:cNvSpPr/>
          <p:nvPr/>
        </p:nvSpPr>
        <p:spPr>
          <a:xfrm>
            <a:off x="6364224" y="5687568"/>
            <a:ext cx="210312" cy="210312"/>
          </a:xfrm>
          <a:prstGeom prst="ellipse">
            <a:avLst/>
          </a:prstGeom>
          <a:solidFill>
            <a:srgbClr val="8C30E8"/>
          </a:solidFill>
          <a:ln w="12700">
            <a:solidFill>
              <a:srgbClr val="8C30E8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675120" y="5614416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542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required wallet</a:t>
            </a:r>
            <a:endParaRPr lang="en-US" sz="980" dirty="0"/>
          </a:p>
        </p:txBody>
      </p:sp>
      <p:sp>
        <p:nvSpPr>
          <p:cNvPr id="38" name="Text 35"/>
          <p:cNvSpPr txBox="1"/>
          <p:nvPr/>
        </p:nvSpPr>
        <p:spPr>
          <a:xfrm>
            <a:off x="7626096" y="5614416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care stays familiar</a:t>
            </a:r>
            <a:endParaRPr lang="en-US" sz="830" dirty="0"/>
          </a:p>
        </p:txBody>
      </p:sp>
      <p:sp>
        <p:nvSpPr>
          <p:cNvPr id="39" name="Shape 36"/>
          <p:cNvSpPr/>
          <p:nvPr/>
        </p:nvSpPr>
        <p:spPr>
          <a:xfrm>
            <a:off x="9153144" y="5687568"/>
            <a:ext cx="210312" cy="210312"/>
          </a:xfrm>
          <a:prstGeom prst="ellipse">
            <a:avLst/>
          </a:prstGeom>
          <a:solidFill>
            <a:srgbClr val="F05F8D"/>
          </a:solidFill>
          <a:ln w="12700">
            <a:solidFill>
              <a:srgbClr val="F05F8D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9464040" y="5614416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542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in-app payment rail</a:t>
            </a:r>
            <a:endParaRPr lang="en-US" sz="980" dirty="0"/>
          </a:p>
        </p:txBody>
      </p:sp>
      <p:sp>
        <p:nvSpPr>
          <p:cNvPr id="41" name="Text 38"/>
          <p:cNvSpPr txBox="1"/>
          <p:nvPr/>
        </p:nvSpPr>
        <p:spPr>
          <a:xfrm>
            <a:off x="10415016" y="5614416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commercial contracts stay off-platform</a:t>
            </a:r>
            <a:endParaRPr lang="en-US" sz="8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92608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" y="283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542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10972800" y="29260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spc="150" kern="0" dirty="0">
                <a:solidFill>
                  <a:srgbClr val="F05F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9875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60" kern="0" dirty="0">
                <a:solidFill>
                  <a:srgbClr val="F05F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GO-TO-MARKET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1225296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2B1F2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Earn trust in cohorts, prove outcomes, then expand.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1865376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 follows organisations that already hold a duty of care and a relationship with the communities SisterCare serves.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234440" y="3328416"/>
            <a:ext cx="9665208" cy="0"/>
          </a:xfrm>
          <a:prstGeom prst="line">
            <a:avLst/>
          </a:prstGeom>
          <a:noFill/>
          <a:ln w="38100">
            <a:solidFill>
              <a:srgbClr val="F3B7C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25296" y="3127248"/>
            <a:ext cx="402336" cy="402336"/>
          </a:xfrm>
          <a:prstGeom prst="ellipse">
            <a:avLst/>
          </a:prstGeom>
          <a:solidFill>
            <a:srgbClr val="F05F8D"/>
          </a:solidFill>
          <a:ln w="12700">
            <a:solidFill>
              <a:srgbClr val="F05F8D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25296" y="3127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694944" y="263347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542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Partner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59536" y="3776472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FCE9EE"/>
          </a:solidFill>
          <a:ln w="12700">
            <a:solidFill>
              <a:srgbClr val="FCE9EE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9264" y="3776472"/>
            <a:ext cx="923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05F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0–3 MONTHS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694944" y="4242816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Secure 2–3 anchor institutions and appoint safeguarding leads.</a:t>
            </a:r>
            <a:endParaRPr lang="en-US" sz="960" dirty="0"/>
          </a:p>
        </p:txBody>
      </p:sp>
      <p:sp>
        <p:nvSpPr>
          <p:cNvPr id="15" name="Shape 12"/>
          <p:cNvSpPr/>
          <p:nvPr/>
        </p:nvSpPr>
        <p:spPr>
          <a:xfrm>
            <a:off x="4014216" y="3127248"/>
            <a:ext cx="402336" cy="402336"/>
          </a:xfrm>
          <a:prstGeom prst="ellipse">
            <a:avLst/>
          </a:prstGeom>
          <a:solidFill>
            <a:srgbClr val="F05F8D"/>
          </a:solidFill>
          <a:ln w="12700">
            <a:solidFill>
              <a:srgbClr val="F05F8D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14216" y="3127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3483864" y="263347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542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3648456" y="3776472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FCE9EE"/>
          </a:solidFill>
          <a:ln w="12700">
            <a:solidFill>
              <a:srgbClr val="FCE9EE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758184" y="3776472"/>
            <a:ext cx="923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05F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3–6 MONTHS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3483864" y="4242816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supervised cohorts with trained counsellors and clear escalation routes.</a:t>
            </a:r>
            <a:endParaRPr lang="en-US" sz="960" dirty="0"/>
          </a:p>
        </p:txBody>
      </p:sp>
      <p:sp>
        <p:nvSpPr>
          <p:cNvPr id="21" name="Shape 18"/>
          <p:cNvSpPr/>
          <p:nvPr/>
        </p:nvSpPr>
        <p:spPr>
          <a:xfrm>
            <a:off x="6803136" y="3127248"/>
            <a:ext cx="402336" cy="402336"/>
          </a:xfrm>
          <a:prstGeom prst="ellipse">
            <a:avLst/>
          </a:prstGeom>
          <a:solidFill>
            <a:srgbClr val="8C30E8"/>
          </a:solidFill>
          <a:ln w="12700">
            <a:solidFill>
              <a:srgbClr val="8C30E8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03136" y="3127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6272784" y="263347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542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6437376" y="3776472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FCE9EE"/>
          </a:solidFill>
          <a:ln w="12700">
            <a:solidFill>
              <a:srgbClr val="FCE9EE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47104" y="3776472"/>
            <a:ext cx="923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05F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6–9 MONTHS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6272784" y="4242816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Publish privacy-safe evidence on disclosure, handoff and member-reported usefulness.</a:t>
            </a:r>
            <a:endParaRPr lang="en-US" sz="960" dirty="0"/>
          </a:p>
        </p:txBody>
      </p:sp>
      <p:sp>
        <p:nvSpPr>
          <p:cNvPr id="27" name="Shape 24"/>
          <p:cNvSpPr/>
          <p:nvPr/>
        </p:nvSpPr>
        <p:spPr>
          <a:xfrm>
            <a:off x="9592056" y="3127248"/>
            <a:ext cx="402336" cy="402336"/>
          </a:xfrm>
          <a:prstGeom prst="ellipse">
            <a:avLst/>
          </a:prstGeom>
          <a:solidFill>
            <a:srgbClr val="2D7B67"/>
          </a:solidFill>
          <a:ln w="12700">
            <a:solidFill>
              <a:srgbClr val="2D7B67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592056" y="3127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9061704" y="263347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542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9226296" y="3776472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FCE9EE"/>
          </a:solidFill>
          <a:ln w="12700">
            <a:solidFill>
              <a:srgbClr val="FCE9EE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336024" y="3776472"/>
            <a:ext cx="923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05F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9–12 MONTHS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9061704" y="4242816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Package training, operations and technology into a reusable deployment playbook.</a:t>
            </a:r>
            <a:endParaRPr lang="en-US" sz="960" dirty="0"/>
          </a:p>
        </p:txBody>
      </p:sp>
      <p:sp>
        <p:nvSpPr>
          <p:cNvPr id="33" name="Shape 30"/>
          <p:cNvSpPr/>
          <p:nvPr/>
        </p:nvSpPr>
        <p:spPr>
          <a:xfrm>
            <a:off x="658368" y="5285232"/>
            <a:ext cx="10826496" cy="566928"/>
          </a:xfrm>
          <a:prstGeom prst="roundRect">
            <a:avLst>
              <a:gd name="adj" fmla="val 25806"/>
            </a:avLst>
          </a:prstGeom>
          <a:solidFill>
            <a:srgbClr val="54223F"/>
          </a:solidFill>
          <a:ln w="12700">
            <a:solidFill>
              <a:srgbClr val="54223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86968" y="5285232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3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North-star outcome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2359152" y="5285232"/>
            <a:ext cx="8732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Members who say SisterCare helped them safely express a concern and complete an appropriate next step.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658368" y="6510528"/>
            <a:ext cx="10012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A990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adoption and impact targets will be locked with partners before launch; safeguarding and consent remain gating criteria.</a:t>
            </a:r>
            <a:endParaRPr lang="en-US" sz="6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92608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" y="283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542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10972800" y="29260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spc="150" kern="0" dirty="0">
                <a:solidFill>
                  <a:srgbClr val="F05F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9875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60" kern="0" dirty="0">
                <a:solidFill>
                  <a:srgbClr val="F05F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INFRASTRUCTURE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1225296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2B1F2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 Stellar only where tamper evidence creates real value.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1865376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Blockchain stays invisible to members. Sensitive documents and health conversations never go on-chain.</a:t>
            </a:r>
            <a:endParaRPr lang="en-US" sz="1300" dirty="0"/>
          </a:p>
        </p:txBody>
      </p:sp>
      <p:pic>
        <p:nvPicPr>
          <p:cNvPr id="8" name="Image 1" descr="SisterCare documentary-style supporting photograp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487168"/>
            <a:ext cx="4315968" cy="340156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58368" y="2487168"/>
            <a:ext cx="4315968" cy="3401568"/>
          </a:xfrm>
          <a:prstGeom prst="roundRect">
            <a:avLst>
              <a:gd name="adj" fmla="val 48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896112" y="5074920"/>
            <a:ext cx="3639312" cy="530352"/>
          </a:xfrm>
          <a:prstGeom prst="roundRect">
            <a:avLst>
              <a:gd name="adj" fmla="val 24138"/>
            </a:avLst>
          </a:prstGeom>
          <a:solidFill>
            <a:srgbClr val="54223F"/>
          </a:solidFill>
          <a:ln w="12700">
            <a:solidFill>
              <a:srgbClr val="54223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78992" y="5074920"/>
            <a:ext cx="3273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Verified care must be provable—not performative.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376672" y="2523744"/>
            <a:ext cx="493776" cy="310896"/>
          </a:xfrm>
          <a:prstGeom prst="roundRect">
            <a:avLst>
              <a:gd name="adj" fmla="val 50000"/>
            </a:avLst>
          </a:prstGeom>
          <a:solidFill>
            <a:srgbClr val="F05F8D"/>
          </a:solidFill>
          <a:ln w="12700">
            <a:solidFill>
              <a:srgbClr val="F05F8D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486400" y="2523744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6089904" y="2487168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B1F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privately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089904" y="2816352"/>
            <a:ext cx="5138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KYC evidence stays encrypted off-chain with authorised reviewers.</a:t>
            </a:r>
            <a:endParaRPr lang="en-US" sz="920" dirty="0"/>
          </a:p>
        </p:txBody>
      </p:sp>
      <p:sp>
        <p:nvSpPr>
          <p:cNvPr id="16" name="Shape 12"/>
          <p:cNvSpPr/>
          <p:nvPr/>
        </p:nvSpPr>
        <p:spPr>
          <a:xfrm>
            <a:off x="5623560" y="2990088"/>
            <a:ext cx="0" cy="658368"/>
          </a:xfrm>
          <a:prstGeom prst="line">
            <a:avLst/>
          </a:prstGeom>
          <a:noFill/>
          <a:ln w="19050">
            <a:solidFill>
              <a:srgbClr val="F3B7C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376672" y="3502152"/>
            <a:ext cx="493776" cy="310896"/>
          </a:xfrm>
          <a:prstGeom prst="roundRect">
            <a:avLst>
              <a:gd name="adj" fmla="val 50000"/>
            </a:avLst>
          </a:prstGeom>
          <a:solidFill>
            <a:srgbClr val="8C30E8"/>
          </a:solidFill>
          <a:ln w="12700">
            <a:solidFill>
              <a:srgbClr val="8C30E8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0" y="3502152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6089904" y="3465576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B1F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Attest minimally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6089904" y="3794760"/>
            <a:ext cx="5138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Publish a hash-based credential status and issuer signature on Stellar.</a:t>
            </a:r>
            <a:endParaRPr lang="en-US" sz="920" dirty="0"/>
          </a:p>
        </p:txBody>
      </p:sp>
      <p:sp>
        <p:nvSpPr>
          <p:cNvPr id="21" name="Shape 17"/>
          <p:cNvSpPr/>
          <p:nvPr/>
        </p:nvSpPr>
        <p:spPr>
          <a:xfrm>
            <a:off x="5623560" y="3968496"/>
            <a:ext cx="0" cy="658368"/>
          </a:xfrm>
          <a:prstGeom prst="line">
            <a:avLst/>
          </a:prstGeom>
          <a:noFill/>
          <a:ln w="19050">
            <a:solidFill>
              <a:srgbClr val="F3B7C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376672" y="4480560"/>
            <a:ext cx="493776" cy="310896"/>
          </a:xfrm>
          <a:prstGeom prst="roundRect">
            <a:avLst>
              <a:gd name="adj" fmla="val 50000"/>
            </a:avLst>
          </a:prstGeom>
          <a:solidFill>
            <a:srgbClr val="F05F8D"/>
          </a:solidFill>
          <a:ln w="12700">
            <a:solidFill>
              <a:srgbClr val="F05F8D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0" y="448056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6089904" y="4443984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B1F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instantly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6089904" y="4773168"/>
            <a:ext cx="5138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 verifies authenticity, expiry and revocation before matching.</a:t>
            </a:r>
            <a:endParaRPr lang="en-US" sz="920" dirty="0"/>
          </a:p>
        </p:txBody>
      </p:sp>
      <p:sp>
        <p:nvSpPr>
          <p:cNvPr id="26" name="Shape 22"/>
          <p:cNvSpPr/>
          <p:nvPr/>
        </p:nvSpPr>
        <p:spPr>
          <a:xfrm>
            <a:off x="5376672" y="5458968"/>
            <a:ext cx="6099048" cy="429768"/>
          </a:xfrm>
          <a:prstGeom prst="roundRect">
            <a:avLst>
              <a:gd name="adj" fmla="val 29787"/>
            </a:avLst>
          </a:prstGeom>
          <a:solidFill>
            <a:srgbClr val="FCE9EE"/>
          </a:solidFill>
          <a:ln w="12700">
            <a:solidFill>
              <a:srgbClr val="FCE9EE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586984" y="5458968"/>
            <a:ext cx="5669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542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Never on-chain: names · KYC files · health records · chats · ratings · wallets · payments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658368" y="6510528"/>
            <a:ext cx="10012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A990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Stellar role: public, revocable proof of professional status. No tokens, no member wallets and no sensitive data on-chain.</a:t>
            </a:r>
            <a:endParaRPr lang="en-US" sz="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92608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" y="283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542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10972800" y="29260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spc="150" kern="0" dirty="0">
                <a:solidFill>
                  <a:srgbClr val="F05F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9875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60" kern="0" dirty="0">
                <a:solidFill>
                  <a:srgbClr val="F05F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 &amp; GRANT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1225296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2B1F2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milestone-based path from working platform to trusted pilot.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1865376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Seeking US$150k equivalent in grant support, released against verifiable product, safety and adoption milestones.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58368" y="2633472"/>
            <a:ext cx="1865376" cy="493776"/>
          </a:xfrm>
          <a:prstGeom prst="rect">
            <a:avLst/>
          </a:prstGeom>
          <a:solidFill>
            <a:srgbClr val="F05F8D"/>
          </a:solidFill>
          <a:ln w="12700">
            <a:solidFill>
              <a:srgbClr val="F05F8D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523744" y="2633472"/>
            <a:ext cx="1165860" cy="493776"/>
          </a:xfrm>
          <a:prstGeom prst="rect">
            <a:avLst/>
          </a:prstGeom>
          <a:solidFill>
            <a:srgbClr val="8C30E8"/>
          </a:solidFill>
          <a:ln w="12700">
            <a:solidFill>
              <a:srgbClr val="8C30E8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89604" y="2633472"/>
            <a:ext cx="932688" cy="493776"/>
          </a:xfrm>
          <a:prstGeom prst="rect">
            <a:avLst/>
          </a:prstGeom>
          <a:solidFill>
            <a:srgbClr val="2D7B67"/>
          </a:solidFill>
          <a:ln w="12700">
            <a:solidFill>
              <a:srgbClr val="2D7B67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622292" y="2633472"/>
            <a:ext cx="466344" cy="493776"/>
          </a:xfrm>
          <a:prstGeom prst="rect">
            <a:avLst/>
          </a:prstGeom>
          <a:solidFill>
            <a:srgbClr val="F47C73"/>
          </a:solidFill>
          <a:ln w="12700">
            <a:solidFill>
              <a:srgbClr val="F47C73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88636" y="2633472"/>
            <a:ext cx="233172" cy="493776"/>
          </a:xfrm>
          <a:prstGeom prst="rect">
            <a:avLst/>
          </a:prstGeom>
          <a:solidFill>
            <a:srgbClr val="B36A2E"/>
          </a:solidFill>
          <a:ln w="12700">
            <a:solidFill>
              <a:srgbClr val="B36A2E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49808" y="3438144"/>
            <a:ext cx="164592" cy="164592"/>
          </a:xfrm>
          <a:prstGeom prst="ellipse">
            <a:avLst/>
          </a:prstGeom>
          <a:solidFill>
            <a:srgbClr val="F05F8D"/>
          </a:solidFill>
          <a:ln w="12700">
            <a:solidFill>
              <a:srgbClr val="F05F8D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33272" y="3374136"/>
            <a:ext cx="493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542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40%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1572768" y="3374136"/>
            <a:ext cx="3438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+ attestation</a:t>
            </a:r>
            <a:endParaRPr lang="en-US" sz="970" dirty="0"/>
          </a:p>
        </p:txBody>
      </p:sp>
      <p:sp>
        <p:nvSpPr>
          <p:cNvPr id="16" name="Shape 13"/>
          <p:cNvSpPr/>
          <p:nvPr/>
        </p:nvSpPr>
        <p:spPr>
          <a:xfrm>
            <a:off x="749808" y="3877056"/>
            <a:ext cx="164592" cy="164592"/>
          </a:xfrm>
          <a:prstGeom prst="ellipse">
            <a:avLst/>
          </a:prstGeom>
          <a:solidFill>
            <a:srgbClr val="8C30E8"/>
          </a:solidFill>
          <a:ln w="12700">
            <a:solidFill>
              <a:srgbClr val="8C30E8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33272" y="3813048"/>
            <a:ext cx="493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542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25%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1572768" y="3813048"/>
            <a:ext cx="3438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Counsellor + safeguarding</a:t>
            </a:r>
            <a:endParaRPr lang="en-US" sz="970" dirty="0"/>
          </a:p>
        </p:txBody>
      </p:sp>
      <p:sp>
        <p:nvSpPr>
          <p:cNvPr id="19" name="Shape 16"/>
          <p:cNvSpPr/>
          <p:nvPr/>
        </p:nvSpPr>
        <p:spPr>
          <a:xfrm>
            <a:off x="749808" y="4315968"/>
            <a:ext cx="164592" cy="164592"/>
          </a:xfrm>
          <a:prstGeom prst="ellipse">
            <a:avLst/>
          </a:prstGeom>
          <a:solidFill>
            <a:srgbClr val="2D7B67"/>
          </a:solidFill>
          <a:ln w="12700">
            <a:solidFill>
              <a:srgbClr val="2D7B67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33272" y="4251960"/>
            <a:ext cx="493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542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20%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1572768" y="4251960"/>
            <a:ext cx="3438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Pilots + evaluation</a:t>
            </a:r>
            <a:endParaRPr lang="en-US" sz="970" dirty="0"/>
          </a:p>
        </p:txBody>
      </p:sp>
      <p:sp>
        <p:nvSpPr>
          <p:cNvPr id="22" name="Shape 19"/>
          <p:cNvSpPr/>
          <p:nvPr/>
        </p:nvSpPr>
        <p:spPr>
          <a:xfrm>
            <a:off x="749808" y="4754880"/>
            <a:ext cx="164592" cy="164592"/>
          </a:xfrm>
          <a:prstGeom prst="ellipse">
            <a:avLst/>
          </a:prstGeom>
          <a:solidFill>
            <a:srgbClr val="F47C73"/>
          </a:solidFill>
          <a:ln w="12700">
            <a:solidFill>
              <a:srgbClr val="F47C73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033272" y="4690872"/>
            <a:ext cx="493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542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10%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572768" y="4690872"/>
            <a:ext cx="3438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Security review</a:t>
            </a:r>
            <a:endParaRPr lang="en-US" sz="970" dirty="0"/>
          </a:p>
        </p:txBody>
      </p:sp>
      <p:sp>
        <p:nvSpPr>
          <p:cNvPr id="25" name="Shape 22"/>
          <p:cNvSpPr/>
          <p:nvPr/>
        </p:nvSpPr>
        <p:spPr>
          <a:xfrm>
            <a:off x="749808" y="5193792"/>
            <a:ext cx="164592" cy="164592"/>
          </a:xfrm>
          <a:prstGeom prst="ellipse">
            <a:avLst/>
          </a:prstGeom>
          <a:solidFill>
            <a:srgbClr val="B36A2E"/>
          </a:solidFill>
          <a:ln w="12700">
            <a:solidFill>
              <a:srgbClr val="B36A2E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33272" y="5129784"/>
            <a:ext cx="493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542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5%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572768" y="5129784"/>
            <a:ext cx="3438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Legal + operations</a:t>
            </a:r>
            <a:endParaRPr lang="en-US" sz="970" dirty="0"/>
          </a:p>
        </p:txBody>
      </p:sp>
      <p:sp>
        <p:nvSpPr>
          <p:cNvPr id="28" name="Text 25"/>
          <p:cNvSpPr txBox="1"/>
          <p:nvPr/>
        </p:nvSpPr>
        <p:spPr>
          <a:xfrm>
            <a:off x="658368" y="23317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spc="120" kern="0" dirty="0">
                <a:solidFill>
                  <a:srgbClr val="F05F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OF FUNDS</a:t>
            </a:r>
            <a:endParaRPr lang="en-US" sz="880" dirty="0"/>
          </a:p>
        </p:txBody>
      </p:sp>
      <p:sp>
        <p:nvSpPr>
          <p:cNvPr id="29" name="Shape 26"/>
          <p:cNvSpPr/>
          <p:nvPr/>
        </p:nvSpPr>
        <p:spPr>
          <a:xfrm>
            <a:off x="5641848" y="2450592"/>
            <a:ext cx="0" cy="3200400"/>
          </a:xfrm>
          <a:prstGeom prst="line">
            <a:avLst/>
          </a:prstGeom>
          <a:noFill/>
          <a:ln w="15240">
            <a:solidFill>
              <a:srgbClr val="E9D7D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016752" y="2560320"/>
            <a:ext cx="5458968" cy="841248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9D7D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236208" y="2715768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FCE9EE"/>
          </a:solidFill>
          <a:ln w="12700">
            <a:solidFill>
              <a:srgbClr val="FCE9EE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345936" y="2715768"/>
            <a:ext cx="950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05F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M1 · 90 days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7616952" y="2679192"/>
            <a:ext cx="3584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4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Testnet credential attestation, safety review and pilot protocols complete.</a:t>
            </a:r>
            <a:endParaRPr lang="en-US" sz="940" dirty="0"/>
          </a:p>
        </p:txBody>
      </p:sp>
      <p:sp>
        <p:nvSpPr>
          <p:cNvPr id="34" name="Shape 31"/>
          <p:cNvSpPr/>
          <p:nvPr/>
        </p:nvSpPr>
        <p:spPr>
          <a:xfrm>
            <a:off x="6016752" y="3630168"/>
            <a:ext cx="5458968" cy="841248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9D7D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236208" y="3785616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FCE9EE"/>
          </a:solidFill>
          <a:ln w="12700">
            <a:solidFill>
              <a:srgbClr val="FCE9EE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345936" y="3785616"/>
            <a:ext cx="950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05F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M2 · 6 months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7616952" y="3749040"/>
            <a:ext cx="3584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4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Supervised pilots live with 2–3 institutions and a verified counsellor pool.</a:t>
            </a:r>
            <a:endParaRPr lang="en-US" sz="940" dirty="0"/>
          </a:p>
        </p:txBody>
      </p:sp>
      <p:sp>
        <p:nvSpPr>
          <p:cNvPr id="38" name="Shape 35"/>
          <p:cNvSpPr/>
          <p:nvPr/>
        </p:nvSpPr>
        <p:spPr>
          <a:xfrm>
            <a:off x="6016752" y="4700016"/>
            <a:ext cx="5458968" cy="841248"/>
          </a:xfrm>
          <a:prstGeom prst="roundRect">
            <a:avLst>
              <a:gd name="adj" fmla="val 17391"/>
            </a:avLst>
          </a:prstGeom>
          <a:solidFill>
            <a:srgbClr val="54223F"/>
          </a:solidFill>
          <a:ln w="12700">
            <a:solidFill>
              <a:srgbClr val="54223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236208" y="4855464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F05F8D"/>
          </a:solidFill>
          <a:ln w="12700">
            <a:solidFill>
              <a:srgbClr val="F05F8D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345936" y="4855464"/>
            <a:ext cx="950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M3 · 12 months</a:t>
            </a:r>
            <a:endParaRPr lang="en-US" sz="900" dirty="0"/>
          </a:p>
        </p:txBody>
      </p:sp>
      <p:sp>
        <p:nvSpPr>
          <p:cNvPr id="41" name="Text 38"/>
          <p:cNvSpPr txBox="1"/>
          <p:nvPr/>
        </p:nvSpPr>
        <p:spPr>
          <a:xfrm>
            <a:off x="7616952" y="4818888"/>
            <a:ext cx="3584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4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Mainnet verification live, independent security review complete and evidence pack published.</a:t>
            </a:r>
            <a:endParaRPr lang="en-US" sz="940" dirty="0"/>
          </a:p>
        </p:txBody>
      </p:sp>
      <p:sp>
        <p:nvSpPr>
          <p:cNvPr id="42" name="Text 39"/>
          <p:cNvSpPr txBox="1"/>
          <p:nvPr/>
        </p:nvSpPr>
        <p:spPr>
          <a:xfrm>
            <a:off x="6016752" y="560527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05F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Grant outcome</a:t>
            </a:r>
            <a:endParaRPr lang="en-US" sz="1000" dirty="0"/>
          </a:p>
        </p:txBody>
      </p:sp>
      <p:sp>
        <p:nvSpPr>
          <p:cNvPr id="43" name="Text 40"/>
          <p:cNvSpPr txBox="1"/>
          <p:nvPr/>
        </p:nvSpPr>
        <p:spPr>
          <a:xfrm>
            <a:off x="7178040" y="5541264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542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deployable trust layer + independently evaluated care pilot—not a speculative token project.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658368" y="6510528"/>
            <a:ext cx="10012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A990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Reference: Stellar Community Fund Build awards currently support validated projects with milestone-based funding of up to US$150k equivalent in XLM.</a:t>
            </a:r>
            <a:endParaRPr lang="en-US" sz="6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5422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02368" y="-621792"/>
            <a:ext cx="3063240" cy="3063240"/>
          </a:xfrm>
          <a:prstGeom prst="ellipse">
            <a:avLst/>
          </a:prstGeom>
          <a:solidFill>
            <a:srgbClr val="F05F8D"/>
          </a:solidFill>
          <a:ln w="12700">
            <a:solidFill>
              <a:srgbClr val="F05F8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735056" y="5468112"/>
            <a:ext cx="1691640" cy="1691640"/>
          </a:xfrm>
          <a:prstGeom prst="ellipse">
            <a:avLst/>
          </a:prstGeom>
          <a:solidFill>
            <a:srgbClr val="8C30E8"/>
          </a:solidFill>
          <a:ln w="12700">
            <a:solidFill>
              <a:srgbClr val="8C30E8">
                <a:alpha val="0"/>
              </a:srgbClr>
            </a:solidFill>
            <a:prstDash val="solid"/>
          </a:ln>
        </p:spPr>
      </p:sp>
      <p:pic>
        <p:nvPicPr>
          <p:cNvPr id="4" name="Image 0" descr="SisterCar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438912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70432" y="429768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58368" y="1353312"/>
            <a:ext cx="841248" cy="310896"/>
          </a:xfrm>
          <a:prstGeom prst="roundRect">
            <a:avLst>
              <a:gd name="adj" fmla="val 50000"/>
            </a:avLst>
          </a:prstGeom>
          <a:solidFill>
            <a:srgbClr val="F05F8D"/>
          </a:solidFill>
          <a:ln w="12700">
            <a:solidFill>
              <a:srgbClr val="F05F8D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8096" y="1353312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ASK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847088"/>
            <a:ext cx="6611112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Help make the first difficult question easier to ask—and the next step safer.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3675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3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 is seeking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4087368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US$150k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448970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E8C9D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milestone-based grant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3017520" y="4087368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3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partners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3017520" y="448970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E8C9D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supervised pilots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376672" y="4087368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advisors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5376672" y="448970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E8C9D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clinical + Stellar trust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7790688" y="1664208"/>
            <a:ext cx="3355848" cy="3310128"/>
          </a:xfrm>
          <a:prstGeom prst="roundRect">
            <a:avLst>
              <a:gd name="adj" fmla="val 552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101584" y="1984248"/>
            <a:ext cx="2734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20" kern="0" dirty="0">
                <a:solidFill>
                  <a:srgbClr val="F05F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Founder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8101584" y="2404872"/>
            <a:ext cx="2734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542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Kamwanga Raheem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101584" y="2871216"/>
            <a:ext cx="2734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&amp; engineering lead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101584" y="3392424"/>
            <a:ext cx="2706624" cy="0"/>
          </a:xfrm>
          <a:prstGeom prst="line">
            <a:avLst/>
          </a:prstGeom>
          <a:noFill/>
          <a:ln w="12700">
            <a:solidFill>
              <a:srgbClr val="E9D7D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01584" y="3675888"/>
            <a:ext cx="2734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542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to date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8101584" y="4005072"/>
            <a:ext cx="2734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77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Working multi-role platform · clinical governance foundation · privacy controls · 218 passing tests</a:t>
            </a:r>
            <a:endParaRPr lang="en-US" sz="930" dirty="0"/>
          </a:p>
        </p:txBody>
      </p:sp>
      <p:sp>
        <p:nvSpPr>
          <p:cNvPr id="23" name="Shape 20"/>
          <p:cNvSpPr/>
          <p:nvPr/>
        </p:nvSpPr>
        <p:spPr>
          <a:xfrm>
            <a:off x="658368" y="5815584"/>
            <a:ext cx="215798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68096" y="5815584"/>
            <a:ext cx="1938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542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sister-care.vercel.app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3090672" y="5815584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3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Ask anything. Stay private. Be heard without judgment.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11137392" y="647395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CFAAB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SisterCare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SisterCare Funder Pitch</dc:title>
  <dc:subject>Private, trusted support for sensitive questions</dc:subject>
  <dc:creator>SisterCare</dc:creator>
  <cp:lastModifiedBy>SisterCare</cp:lastModifiedBy>
  <cp:revision>1</cp:revision>
  <dcterms:created xsi:type="dcterms:W3CDTF">2026-08-03T11:20:32Z</dcterms:created>
  <dcterms:modified xsi:type="dcterms:W3CDTF">2026-08-03T11:20:32Z</dcterms:modified>
</cp:coreProperties>
</file>