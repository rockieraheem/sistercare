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STERCARE">
    <p:bg>
      <p:bgPr>
        <a:solidFill>
          <a:srgbClr val="FF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05A9D"/>
          </a:solidFill>
          <a:ln w="12700">
            <a:solidFill>
              <a:srgbClr val="F05A9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s.stellar.org/docs/build/smart-contracts/overview" TargetMode="External"/><Relationship Id="rId2" Type="http://schemas.openxmlformats.org/officeDocument/2006/relationships/hyperlink" Target="https://communityfund.stellar.org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-1188720"/>
            <a:ext cx="5120640" cy="5120640"/>
          </a:xfrm>
          <a:prstGeom prst="arc">
            <a:avLst/>
          </a:prstGeom>
          <a:solidFill>
            <a:srgbClr val="FCE7F1"/>
          </a:solidFill>
          <a:ln w="12700">
            <a:solidFill>
              <a:srgbClr val="FCE7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4187952"/>
            <a:ext cx="1965960" cy="1965960"/>
          </a:xfrm>
          <a:prstGeom prst="ellipse">
            <a:avLst/>
          </a:prstGeom>
          <a:solidFill>
            <a:srgbClr val="F1E6FB"/>
          </a:solidFill>
          <a:ln w="8890">
            <a:solidFill>
              <a:srgbClr val="F1E6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3032" y="3593592"/>
            <a:ext cx="292608" cy="292608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pic>
        <p:nvPicPr>
          <p:cNvPr id="5" name="Image 0" descr="C:\Users\Raheem\Desktop\SisterCare\public\icons\icon-512x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658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" y="151790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545336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FUNDER PITCH ·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8368" y="1965960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private first step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toward being heard.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3232" y="3566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questions. Human support. Trust that can be verified.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4727448"/>
            <a:ext cx="66294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4919472"/>
            <a:ext cx="6144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girls and women who need somewhere safe to begin — before silence becomes harm.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" y="5925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Kamwanga Raheem · Founder &amp; Builder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4944" y="6199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sister-care.vercel.app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54990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312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barrier is often not access. It is the fear of being judged.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questions are postponed when the only available person is also someone who knows your name, family or community.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4480560" cy="3429000"/>
          </a:xfrm>
          <a:prstGeom prst="roundRect">
            <a:avLst>
              <a:gd name="adj" fmla="val 7467"/>
            </a:avLst>
          </a:prstGeom>
          <a:solidFill>
            <a:srgbClr val="7A2048"/>
          </a:solidFill>
          <a:ln w="10160">
            <a:solidFill>
              <a:srgbClr val="7A20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05A9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78992" y="2907792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have a question,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I cannot ask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anyone I know.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78992" y="49194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FC8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illustrative expression of the need SisterCare is built around.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59552" y="2395728"/>
            <a:ext cx="429768" cy="42976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2423160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9632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Stigma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9632" y="265176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about menstruation, emotions and relationships can feel impossible to voice.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59552" y="3511296"/>
            <a:ext cx="429768" cy="42976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3538728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99632" y="34472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9632" y="376732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channels may reveal identity, phone numbers or personal context too early.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59552" y="4626864"/>
            <a:ext cx="429768" cy="429768"/>
          </a:xfrm>
          <a:prstGeom prst="ellipse">
            <a:avLst/>
          </a:prstGeom>
          <a:solidFill>
            <a:srgbClr val="F1E6FB"/>
          </a:solidFill>
          <a:ln w="8890">
            <a:solidFill>
              <a:srgbClr val="F1E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4654296"/>
            <a:ext cx="429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9632" y="4562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9632" y="488289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“verified” badge is only meaningful when the decision behind it can be proven.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SisterCare gives someone a safe place to begin — then a clear path to real help.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 is deliberately simple: talk privately, understand patterns and choose human support without unnecessary exposure.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2606040" cy="324612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523744"/>
            <a:ext cx="411480" cy="41148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3054096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privately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3438144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 new, discreet conversation in familiar language without needing to explain yourself to someone you know.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2304288"/>
            <a:ext cx="2606040" cy="324612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48456" y="2523744"/>
            <a:ext cx="411480" cy="411480"/>
          </a:xfrm>
          <a:prstGeom prst="ellipse">
            <a:avLst/>
          </a:prstGeom>
          <a:solidFill>
            <a:srgbClr val="B52C69"/>
          </a:solidFill>
          <a:ln w="8890">
            <a:solidFill>
              <a:srgbClr val="B52C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48456" y="3054096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patterns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48456" y="3438144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menstrual and emotional wellbeing only when useful — without streaks, shame or false precision.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04288"/>
            <a:ext cx="2606040" cy="3246120"/>
          </a:xfrm>
          <a:prstGeom prst="roundRect">
            <a:avLst>
              <a:gd name="adj" fmla="val 7719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2523744"/>
            <a:ext cx="411480" cy="411480"/>
          </a:xfrm>
          <a:prstGeom prst="ellipse">
            <a:avLst/>
          </a:prstGeom>
          <a:solidFill>
            <a:srgbClr val="8C30E8"/>
          </a:solidFill>
          <a:ln w="8890">
            <a:solidFill>
              <a:srgbClr val="8C3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37376" y="3054096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Reach a person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7376" y="3438144"/>
            <a:ext cx="216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 verified counsellor by text or private in-app audio while keeping identity exposure to a minimum.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06840" y="2304288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26296" y="2523744"/>
            <a:ext cx="411480" cy="41148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2532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26296" y="3054096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in control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26296" y="3438144"/>
            <a:ext cx="20756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retention, sharing and privacy defaults. Sensitive context is never handed to a counsellor silently.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881360" cy="429768"/>
          </a:xfrm>
          <a:prstGeom prst="roundRect">
            <a:avLst>
              <a:gd name="adj" fmla="val 38298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87959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 is not trying to replace clinical care. It helps someone take the first safe step toward 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around how trust is actually built: gradually.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member can begin with almost no disclosure and decide what to share at every step.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2395728" cy="3703320"/>
          </a:xfrm>
          <a:prstGeom prst="roundRect">
            <a:avLst>
              <a:gd name="adj" fmla="val 11450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2221992"/>
            <a:ext cx="2249424" cy="35570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2267712"/>
            <a:ext cx="621792" cy="118872"/>
          </a:xfrm>
          <a:prstGeom prst="roundRect">
            <a:avLst>
              <a:gd name="adj" fmla="val 61538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496312"/>
            <a:ext cx="228600" cy="22860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5456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34440" y="24871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7824" y="283464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03580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CE7F1"/>
          </a:solidFill>
          <a:ln w="10160">
            <a:solidFill>
              <a:srgbClr val="F9D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 privately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358444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6576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are you feeling today?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6112" y="413308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2062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wellbeing check-in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" y="468172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7548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human support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7824" y="525780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645920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176272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06624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456432" y="2148840"/>
            <a:ext cx="2395728" cy="3703320"/>
          </a:xfrm>
          <a:prstGeom prst="roundRect">
            <a:avLst>
              <a:gd name="adj" fmla="val 11450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9584" y="2221992"/>
            <a:ext cx="2249424" cy="35570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2267712"/>
            <a:ext cx="621792" cy="118872"/>
          </a:xfrm>
          <a:prstGeom prst="roundRect">
            <a:avLst>
              <a:gd name="adj" fmla="val 61538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496312"/>
            <a:ext cx="228600" cy="228600"/>
          </a:xfrm>
          <a:prstGeom prst="ellipse">
            <a:avLst/>
          </a:prstGeom>
          <a:solidFill>
            <a:srgbClr val="8C30E8"/>
          </a:solidFill>
          <a:ln w="8890">
            <a:solidFill>
              <a:srgbClr val="8C3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505456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77640" y="24871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21024" y="283464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39312" y="303580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CE7F1"/>
          </a:solidFill>
          <a:ln w="10160">
            <a:solidFill>
              <a:srgbClr val="F9D6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on your mind?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39312" y="358444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67328" y="36576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chat starts blank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39312" y="413308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42062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opens only by choice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39312" y="468172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67328" y="47548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stays under your control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21024" y="525780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58768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389120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19472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9824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199632" y="2148840"/>
            <a:ext cx="2395728" cy="3703320"/>
          </a:xfrm>
          <a:prstGeom prst="roundRect">
            <a:avLst>
              <a:gd name="adj" fmla="val 11450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72784" y="2221992"/>
            <a:ext cx="2249424" cy="35570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86600" y="2267712"/>
            <a:ext cx="621792" cy="118872"/>
          </a:xfrm>
          <a:prstGeom prst="roundRect">
            <a:avLst>
              <a:gd name="adj" fmla="val 61538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2496312"/>
            <a:ext cx="228600" cy="228600"/>
          </a:xfrm>
          <a:prstGeom prst="ellipse">
            <a:avLst/>
          </a:prstGeom>
          <a:solidFill>
            <a:srgbClr val="B52C69"/>
          </a:solidFill>
          <a:ln w="8890">
            <a:solidFill>
              <a:srgbClr val="B52C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2505456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20840" y="24871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64224" y="283464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82512" y="303580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CE7F1"/>
          </a:solidFill>
          <a:ln w="10160">
            <a:solidFill>
              <a:srgbClr val="F9D6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reflection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82512" y="358444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36576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· stress · sleep · energy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382512" y="413308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42062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streaks. No judgement.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82512" y="468172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47548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Offline-safe check-ins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364224" y="525780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01968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132320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662672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193024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942832" y="2148840"/>
            <a:ext cx="2395728" cy="3703320"/>
          </a:xfrm>
          <a:prstGeom prst="roundRect">
            <a:avLst>
              <a:gd name="adj" fmla="val 11450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15984" y="2221992"/>
            <a:ext cx="2249424" cy="3557016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29800" y="2267712"/>
            <a:ext cx="621792" cy="118872"/>
          </a:xfrm>
          <a:prstGeom prst="roundRect">
            <a:avLst>
              <a:gd name="adj" fmla="val 61538"/>
            </a:avLst>
          </a:prstGeom>
          <a:solidFill>
            <a:srgbClr val="24151D"/>
          </a:solidFill>
          <a:ln w="10160">
            <a:solidFill>
              <a:srgbClr val="24151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0" y="2496312"/>
            <a:ext cx="228600" cy="22860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0" y="2505456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9464040" y="24871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support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107424" y="283464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25712" y="303580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CE7F1"/>
          </a:solidFill>
          <a:ln w="10160">
            <a:solidFill>
              <a:srgbClr val="F9D6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53728" y="310896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counsellor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125712" y="358444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53728" y="36576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now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125712" y="413308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53728" y="42062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only approved context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9125712" y="4681728"/>
            <a:ext cx="2029968" cy="512064"/>
          </a:xfrm>
          <a:prstGeom prst="roundRect">
            <a:avLst>
              <a:gd name="adj" fmla="val 25000"/>
            </a:avLst>
          </a:prstGeom>
          <a:solidFill>
            <a:srgbClr val="FAF5F7"/>
          </a:solidFill>
          <a:ln w="10160">
            <a:solidFill>
              <a:srgbClr val="F2E5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253728" y="47548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or private audio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107424" y="5257800"/>
            <a:ext cx="2066544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45168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9875520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0405872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10936224" y="53766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B6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 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foundation is working. The trust layer is the next build.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 is beyond an idea: core member, counsellor and administrator journeys already exist in a live web application.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2423160" cy="1170432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915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A20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285292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Distinct, role-specific workspaces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212848"/>
            <a:ext cx="2423160" cy="1170432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35915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C30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47288" y="285292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conversation languages today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212848"/>
            <a:ext cx="2423160" cy="1170432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2359152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52C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53328" y="285292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Privacy-first product mission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00" y="2212848"/>
            <a:ext cx="3063240" cy="1170432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2359152"/>
            <a:ext cx="2660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7A6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659368" y="285292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web product under active development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9240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3931920"/>
            <a:ext cx="420624" cy="420624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94106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26464" y="3840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experience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26464" y="4096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chat, menstrual tracking, emotional check-ins and reviewed guidance.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3703320"/>
            <a:ext cx="5349240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3368" y="3931920"/>
            <a:ext cx="420624" cy="420624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94106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58584" y="3840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Counsellor operations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58584" y="40965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application, approval state, availability, matching and private sessions.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5349240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029200"/>
            <a:ext cx="420624" cy="420624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03834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26464" y="4937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Administrative control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26464" y="51937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review, service health, incident response and content governance.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4800600"/>
            <a:ext cx="5349240" cy="896112"/>
          </a:xfrm>
          <a:prstGeom prst="roundRect">
            <a:avLst>
              <a:gd name="adj" fmla="val 18367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73368" y="5029200"/>
            <a:ext cx="420624" cy="420624"/>
          </a:xfrm>
          <a:prstGeom prst="ellipse">
            <a:avLst/>
          </a:prstGeom>
          <a:solidFill>
            <a:srgbClr val="E5F3EE"/>
          </a:solidFill>
          <a:ln w="8890">
            <a:solidFill>
              <a:srgbClr val="E5F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503834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58584" y="4937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foundations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58584" y="51937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Triage, fail-closed access, discreet notifications and consent-scoped handoffs.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STATUS · NO TRACTION CLAIMS INVENTED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037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TRUST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badge stored only in our database asks the public to trust SisterCare blindly.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sensitive care, verification should survive database edits, staff changes and institutional partnerships.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074920" cy="3401568"/>
          </a:xfrm>
          <a:prstGeom prst="roundRect">
            <a:avLst>
              <a:gd name="adj" fmla="val 6720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587752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30449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verification record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353872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trusted administrator reviews a document and updates the counsellor's status.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4325112"/>
            <a:ext cx="4315968" cy="0"/>
          </a:xfrm>
          <a:prstGeom prst="line">
            <a:avLst/>
          </a:prstGeom>
          <a:noFill/>
          <a:ln w="12700">
            <a:solidFill>
              <a:srgbClr val="EF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535424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— but difficult for an outside partner to verify independently.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2286000"/>
            <a:ext cx="5074920" cy="3401568"/>
          </a:xfrm>
          <a:prstGeom prst="roundRect">
            <a:avLst>
              <a:gd name="adj" fmla="val 6720"/>
            </a:avLst>
          </a:prstGeom>
          <a:solidFill>
            <a:srgbClr val="7A2048"/>
          </a:solidFill>
          <a:ln w="10160">
            <a:solidFill>
              <a:srgbClr val="7A20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2552" y="2560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96345F"/>
          </a:solidFill>
          <a:ln w="10160">
            <a:solidFill>
              <a:srgbClr val="9634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1424" y="2587752"/>
            <a:ext cx="630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02552" y="30449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Verifiable trust record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02552" y="353872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2D9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professional partners co-approve a privacy-safe credential commitment.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02552" y="4325112"/>
            <a:ext cx="4315968" cy="0"/>
          </a:xfrm>
          <a:prstGeom prst="line">
            <a:avLst/>
          </a:prstGeom>
          <a:noFill/>
          <a:ln w="12700">
            <a:solidFill>
              <a:srgbClr val="A95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4535424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badge becomes provable, revocable and resistant to silent alteration.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89280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FOCUSED WEB3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job for Stellar: make critical trust decisions independently verifiable.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and personal data stay private. Soroban stores only non-identifying commitments and status changes.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1975104" cy="2697480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505456"/>
            <a:ext cx="384048" cy="38404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23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evidence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22192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counsellor documents remain off-chain.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15184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98648" y="2304288"/>
            <a:ext cx="1975104" cy="2697480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81528" y="2505456"/>
            <a:ext cx="384048" cy="38404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2523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81528" y="31272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81528" y="3822192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 and approved partners validate credentials.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3752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57216" y="2304288"/>
            <a:ext cx="1975104" cy="2697480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0096" y="2505456"/>
            <a:ext cx="384048" cy="38404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523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0096" y="31272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Cryptographic commitment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0096" y="3822192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salted proof represents the approved record.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15784" y="2304288"/>
            <a:ext cx="1975104" cy="2697480"/>
          </a:xfrm>
          <a:prstGeom prst="roundRect">
            <a:avLst>
              <a:gd name="adj" fmla="val 10185"/>
            </a:avLst>
          </a:prstGeom>
          <a:solidFill>
            <a:srgbClr val="7A2048"/>
          </a:solidFill>
          <a:ln w="10160">
            <a:solidFill>
              <a:srgbClr val="7A20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98664" y="2505456"/>
            <a:ext cx="384048" cy="384048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2523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98664" y="31272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Soroban registry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98664" y="3822192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1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Status, expiry and revocation become tamper-evident.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90888" y="3328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74352" y="2304288"/>
            <a:ext cx="1975104" cy="2697480"/>
          </a:xfrm>
          <a:prstGeom prst="roundRect">
            <a:avLst>
              <a:gd name="adj" fmla="val 1018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57232" y="2505456"/>
            <a:ext cx="384048" cy="38404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57232" y="252374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57232" y="31272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badge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57232" y="3822192"/>
            <a:ext cx="16093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see a normal verified status — no Web3 interface.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266944"/>
            <a:ext cx="10881360" cy="676656"/>
          </a:xfrm>
          <a:prstGeom prst="roundRect">
            <a:avLst>
              <a:gd name="adj" fmla="val 24324"/>
            </a:avLst>
          </a:prstGeom>
          <a:solidFill>
            <a:srgbClr val="E5F3EE"/>
          </a:solidFill>
          <a:ln w="10160">
            <a:solidFill>
              <a:srgbClr val="E5F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440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by design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87168" y="5440680"/>
            <a:ext cx="8549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member wallets · no counsellor wallets · no tokens · no payments · no health data on-chain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02996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PROTOCOL PROVES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two high-impact records belong in the first release.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else remains in SisterCare's protected application and governance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30368" cy="356616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78608"/>
            <a:ext cx="566928" cy="566928"/>
          </a:xfrm>
          <a:prstGeom prst="ellipse">
            <a:avLst/>
          </a:prstGeom>
          <a:solidFill>
            <a:srgbClr val="FCE7F1"/>
          </a:solidFill>
          <a:ln w="8890">
            <a:solidFill>
              <a:srgbClr val="FCE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877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6" b="1" dirty="0">
                <a:solidFill>
                  <a:srgbClr val="B52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26" dirty="0"/>
          </a:p>
        </p:txBody>
      </p:sp>
      <p:sp>
        <p:nvSpPr>
          <p:cNvPr id="9" name="Shape 7"/>
          <p:cNvSpPr/>
          <p:nvPr/>
        </p:nvSpPr>
        <p:spPr>
          <a:xfrm>
            <a:off x="1691640" y="2633472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Counsellor credential status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913632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Proves that approved reviewers verified a credential commitment and records whether it is valid, expired, suspended or revoked.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5001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523951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verified badge that partners can independently check.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2286000"/>
            <a:ext cx="5230368" cy="3566160"/>
          </a:xfrm>
          <a:prstGeom prst="roundRect">
            <a:avLst>
              <a:gd name="adj" fmla="val 6410"/>
            </a:avLst>
          </a:prstGeom>
          <a:solidFill>
            <a:srgbClr val="7A2048"/>
          </a:solidFill>
          <a:ln w="10160">
            <a:solidFill>
              <a:srgbClr val="7A20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5392" y="2578608"/>
            <a:ext cx="566928" cy="566928"/>
          </a:xfrm>
          <a:prstGeom prst="ellipse">
            <a:avLst/>
          </a:prstGeom>
          <a:solidFill>
            <a:srgbClr val="96345F"/>
          </a:solidFill>
          <a:ln w="8890">
            <a:solidFill>
              <a:srgbClr val="963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5877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</a:t>
            </a:r>
            <a:endParaRPr lang="en-US" sz="1426" dirty="0"/>
          </a:p>
        </p:txBody>
      </p:sp>
      <p:sp>
        <p:nvSpPr>
          <p:cNvPr id="18" name="Shape 16"/>
          <p:cNvSpPr/>
          <p:nvPr/>
        </p:nvSpPr>
        <p:spPr>
          <a:xfrm>
            <a:off x="7342632" y="2633472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96345F"/>
          </a:solidFill>
          <a:ln w="10160">
            <a:solidFill>
              <a:srgbClr val="9634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266090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65392" y="3355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knowledge version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65392" y="3913632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0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Proves that a health-information version used by the product still matches the exact version approved by an authorised clinical reviewer.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65392" y="5001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65392" y="523951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knowledge layer that cannot silently alter approved guidance.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PRIVACY BOUNDARY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is valuable because it knows what must never touch a public ledger.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 keeps its most sensitive promise even while making trust decisions verifiable.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57800" cy="3584448"/>
          </a:xfrm>
          <a:prstGeom prst="roundRect">
            <a:avLst>
              <a:gd name="adj" fmla="val 6122"/>
            </a:avLst>
          </a:prstGeom>
          <a:solidFill>
            <a:srgbClr val="E5F3EE"/>
          </a:solidFill>
          <a:ln w="10160">
            <a:solidFill>
              <a:srgbClr val="CDE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9689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5ECE4"/>
          </a:solidFill>
          <a:ln w="10160">
            <a:solidFill>
              <a:srgbClr val="D5E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624328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PRIVATE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236976"/>
            <a:ext cx="182880" cy="18288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1548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225296" y="3182112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identity and account information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675888"/>
            <a:ext cx="182880" cy="18288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80460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225296" y="3621024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Conversations, audio and counsellor notes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182880" cy="18288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1937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225296" y="4059936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Menstrual and emotional wellbeing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553712"/>
            <a:ext cx="182880" cy="18288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58284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25296" y="4498848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KYC documents and licence numbers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4992624"/>
            <a:ext cx="182880" cy="182880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97196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225296" y="4937760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Ratings, complaints and safeguarding details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286000"/>
            <a:ext cx="5257800" cy="3584448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5968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262432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REGISTRY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37960" y="3236976"/>
            <a:ext cx="182880" cy="18288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232404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48856" y="3182112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Opaque credential commitment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3675888"/>
            <a:ext cx="182880" cy="18288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671316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48856" y="3621024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 approvals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4114800"/>
            <a:ext cx="182880" cy="18288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4110228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48856" y="4059936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/ expired / suspended / revoked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37960" y="4553712"/>
            <a:ext cx="182880" cy="18288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549140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48856" y="4498848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expiry timestamps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37960" y="4992624"/>
            <a:ext cx="182880" cy="182880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4988052"/>
            <a:ext cx="182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48856" y="4937760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content-version commitment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STELLAR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because SisterCare needs a token — because the trust record needs a neutral, inspectable home.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Soroban provides the authorization, contract state and cryptographic primitives needed for a small, auditable registry.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5349240" cy="1536192"/>
          </a:xfrm>
          <a:prstGeom prst="roundRect">
            <a:avLst>
              <a:gd name="adj" fmla="val 1309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49631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36192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Purpose-built contract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6192" y="2871216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Soroban can enforce who may attest, revoke and renew a credential.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2267712"/>
            <a:ext cx="5349240" cy="1536192"/>
          </a:xfrm>
          <a:prstGeom prst="roundRect">
            <a:avLst>
              <a:gd name="adj" fmla="val 1309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49631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523744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68312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operational overhead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2871216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narrow registry avoids heavyweight infrastructure and unnecessary user complexity.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5349240" cy="1536192"/>
          </a:xfrm>
          <a:prstGeom prst="roundRect">
            <a:avLst>
              <a:gd name="adj" fmla="val 1309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1596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34340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36192" y="4288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verification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36192" y="4690872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can independently inspect the status without receiving the private evidence.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4087368"/>
            <a:ext cx="5349240" cy="1536192"/>
          </a:xfrm>
          <a:prstGeom prst="roundRect">
            <a:avLst>
              <a:gd name="adj" fmla="val 13095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31596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F1E6FB"/>
          </a:solidFill>
          <a:ln w="10160">
            <a:solidFill>
              <a:srgbClr val="F1E6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434340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68312" y="4288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public good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68312" y="4690872"/>
            <a:ext cx="4096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contract and SDK can serve other health, education and safeguarding products.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IS INFRASTRUCTURE, NOT THE USER EXPERIENCE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6184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GRANT-FUNDED BUILD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focused 16-week path from contract design to a real verification pilot.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milestone produces something testable, reviewable and useful even before full production rollout.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87552" y="2761488"/>
            <a:ext cx="10012680" cy="0"/>
          </a:xfrm>
          <a:prstGeom prst="line">
            <a:avLst/>
          </a:prstGeom>
          <a:noFill/>
          <a:ln w="50800">
            <a:solidFill>
              <a:srgbClr val="F9D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487168"/>
            <a:ext cx="530352" cy="53035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328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318211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320954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366674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&amp; threat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4370832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states, verifier roles, privacy review and abuse-case tests.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2487168"/>
            <a:ext cx="530352" cy="53035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25328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98648" y="318211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20954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4–7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98648" y="366674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Soroban contracts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98648" y="4370832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attestations, expiry, suspension, revocation and test coverage.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41264" y="2487168"/>
            <a:ext cx="530352" cy="53035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328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75504" y="318211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320954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8–10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5504" y="366674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API &amp; SDK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75504" y="4370832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relayer, public verification endpoint and partner integration kit.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18120" y="2487168"/>
            <a:ext cx="530352" cy="53035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5328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318211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320954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11–13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52360" y="366674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integration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52360" y="4370832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workflow, member-facing badge and content-version verification.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94976" y="2487168"/>
            <a:ext cx="530352" cy="530352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94976" y="25328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29216" y="3182112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5F3EE"/>
          </a:solidFill>
          <a:ln w="10160">
            <a:solidFill>
              <a:srgbClr val="E5F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48088" y="3209544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14–16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29216" y="366674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&amp; audit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729216" y="4370832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review, verifier onboarding, counsellor pilot and published findings.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724144"/>
            <a:ext cx="10881360" cy="402336"/>
          </a:xfrm>
          <a:prstGeom prst="roundRect">
            <a:avLst>
              <a:gd name="adj" fmla="val 36364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78815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success: a partner can verify a counsellor's current status without seeing the document or trusting a mutable SisterCare database field.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WE WILL MEASURE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pilot is designed to prove trust, usability and safety — not vanity metrics.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publish what worked, what failed and what must change before broader deployment.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34747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459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75104" y="248716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 integrity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9536" y="29626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credentials whose off-chain evidence matches the registered commitment.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304288"/>
            <a:ext cx="34747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459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5 min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678424" y="248716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Revocation speed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62856" y="29626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from authorised action to publicly verifiable status change.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2304288"/>
            <a:ext cx="34747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459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85%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81744" y="2487168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comprehension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66176" y="296265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participants who understand what “verified” means without blockchain language.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4747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975104" y="4343400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leakage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48188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documents, member records or health content written to the registry.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4160520"/>
            <a:ext cx="34747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2856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2+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678424" y="4343400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verification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62856" y="48188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organisations able to verify status through the open endpoint.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4160520"/>
            <a:ext cx="34747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4315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381744" y="4343400"/>
            <a:ext cx="1874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resilience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66176" y="48188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contract-state transitions covered by automated and adversarial tests.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6712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GRANT SUPPORT UNLOCKS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public, reusable trust layer — delivered inside a product already built for the people who need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seeking an ecosystem grant and technical partnership for the 16-week build and pilot.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5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Soroban contracts &amp; automated testing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2350008"/>
            <a:ext cx="5074920" cy="210312"/>
          </a:xfrm>
          <a:prstGeom prst="roundRect">
            <a:avLst>
              <a:gd name="adj" fmla="val 47826"/>
            </a:avLst>
          </a:prstGeom>
          <a:solidFill>
            <a:srgbClr val="F05A9D"/>
          </a:solidFill>
          <a:ln w="10160">
            <a:solidFill>
              <a:srgbClr val="F05A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17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privacy &amp; external review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23560" y="3035808"/>
            <a:ext cx="4229100" cy="210312"/>
          </a:xfrm>
          <a:prstGeom prst="roundRect">
            <a:avLst>
              <a:gd name="adj" fmla="val 47826"/>
            </a:avLst>
          </a:prstGeom>
          <a:solidFill>
            <a:srgbClr val="7A2048"/>
          </a:solidFill>
          <a:ln w="10160">
            <a:solidFill>
              <a:srgbClr val="7A2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03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API, SDK &amp; partner tools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23560" y="3721608"/>
            <a:ext cx="3383280" cy="210312"/>
          </a:xfrm>
          <a:prstGeom prst="roundRect">
            <a:avLst>
              <a:gd name="adj" fmla="val 47826"/>
            </a:avLst>
          </a:prstGeom>
          <a:solidFill>
            <a:srgbClr val="8C30E8"/>
          </a:solidFill>
          <a:ln w="10160">
            <a:solidFill>
              <a:srgbClr val="8C3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3891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integration &amp; pilot delivery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23560" y="4407408"/>
            <a:ext cx="2537460" cy="210312"/>
          </a:xfrm>
          <a:prstGeom prst="roundRect">
            <a:avLst>
              <a:gd name="adj" fmla="val 47826"/>
            </a:avLst>
          </a:prstGeom>
          <a:solidFill>
            <a:srgbClr val="2D7A65"/>
          </a:solidFill>
          <a:ln w="10160">
            <a:solidFill>
              <a:srgbClr val="2D7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074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6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89888" y="5074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C3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documentation &amp; open-source release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5093208"/>
            <a:ext cx="1691640" cy="210312"/>
          </a:xfrm>
          <a:prstGeom prst="roundRect">
            <a:avLst>
              <a:gd name="adj" fmla="val 47826"/>
            </a:avLst>
          </a:prstGeom>
          <a:solidFill>
            <a:srgbClr val="9B6328"/>
          </a:solidFill>
          <a:ln w="10160">
            <a:solidFill>
              <a:srgbClr val="9B63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760720"/>
            <a:ext cx="10881360" cy="411480"/>
          </a:xfrm>
          <a:prstGeom prst="roundRect">
            <a:avLst>
              <a:gd name="adj" fmla="val 33333"/>
            </a:avLst>
          </a:prstGeom>
          <a:solidFill>
            <a:srgbClr val="E5F3EE"/>
          </a:solidFill>
          <a:ln w="10160">
            <a:solidFill>
              <a:srgbClr val="E5F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833872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outcome: audited contracts + open SDK + integrated product + evidence from a real counsellor-verification pilot.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37286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2135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SISTERCARE CAN DELIVER 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protocol is being designed from a real product problem — not added to create a Web3 story.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73936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product, verification workflow, role boundaries and safety operations already provide the environment needed to test the trust layer honestly.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347472" cy="34747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545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99032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before protocol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86784" y="2286000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application already exposes the trust problem and the people affected by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99032" y="2916936"/>
            <a:ext cx="9189720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18688"/>
            <a:ext cx="347472" cy="34747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3240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99032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before publicity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86784" y="3163824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have defined a strict boundary that keeps identities, documents and health data off-chain.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399032" y="3794760"/>
            <a:ext cx="9189720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096512"/>
            <a:ext cx="347472" cy="347472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102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99032" y="4041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automation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86784" y="4041648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Credentials and clinical content remain accountable decisions made by authorised people.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99032" y="4672584"/>
            <a:ext cx="9189720" cy="0"/>
          </a:xfrm>
          <a:prstGeom prst="line">
            <a:avLst/>
          </a:prstGeom>
          <a:noFill/>
          <a:ln w="10160">
            <a:solidFill>
              <a:srgbClr val="EF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74336"/>
            <a:ext cx="347472" cy="347472"/>
          </a:xfrm>
          <a:prstGeom prst="ellipse">
            <a:avLst/>
          </a:prstGeom>
          <a:solidFill>
            <a:srgbClr val="2D7A65"/>
          </a:solidFill>
          <a:ln w="8890">
            <a:solidFill>
              <a:srgbClr val="2D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880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99032" y="4919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infrastructure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86784" y="4919472"/>
            <a:ext cx="6629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contract and SDK are intended to be reusable beyond SisterCare.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824728"/>
            <a:ext cx="10881360" cy="393192"/>
          </a:xfrm>
          <a:prstGeom prst="roundRect">
            <a:avLst>
              <a:gd name="adj" fmla="val 37209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888736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simple: when SisterCare says someone or something is verified, that claim should be independently provable.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SISTERCARE ·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7A2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-1170432"/>
            <a:ext cx="4983480" cy="4983480"/>
          </a:xfrm>
          <a:prstGeom prst="ellipse">
            <a:avLst/>
          </a:prstGeom>
          <a:solidFill>
            <a:srgbClr val="92305C"/>
          </a:solidFill>
          <a:ln w="8890">
            <a:solidFill>
              <a:srgbClr val="9230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38360" y="4434840"/>
            <a:ext cx="2514600" cy="2514600"/>
          </a:xfrm>
          <a:prstGeom prst="ellipse">
            <a:avLst/>
          </a:prstGeom>
          <a:solidFill>
            <a:srgbClr val="8C30E8"/>
          </a:solidFill>
          <a:ln w="8890">
            <a:solidFill>
              <a:srgbClr val="8C30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6768" y="3895344"/>
            <a:ext cx="329184" cy="329184"/>
          </a:xfrm>
          <a:prstGeom prst="ellipse">
            <a:avLst/>
          </a:prstGeom>
          <a:solidFill>
            <a:srgbClr val="F05A9D"/>
          </a:solidFill>
          <a:ln w="8890">
            <a:solidFill>
              <a:srgbClr val="F05A9D"/>
            </a:solidFill>
            <a:prstDash val="solid"/>
          </a:ln>
        </p:spPr>
      </p:sp>
      <p:pic>
        <p:nvPicPr>
          <p:cNvPr id="5" name="Image 0" descr="C:\Users\Raheem\Desktop\SisterCare\public\icons\icon-512x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0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740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944" y="182880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 us make trust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safe as the conversation.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49808" y="3438144"/>
            <a:ext cx="6903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2D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privacy-preserving counsellor and clinical-content trust registry on Stellar — invisible to users, verifiable by partners.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4944" y="4809744"/>
            <a:ext cx="5074920" cy="768096"/>
          </a:xfrm>
          <a:prstGeom prst="roundRect">
            <a:avLst>
              <a:gd name="adj" fmla="val 23810"/>
            </a:avLst>
          </a:prstGeom>
          <a:solidFill>
            <a:srgbClr val="8D2D58"/>
          </a:solidFill>
          <a:ln w="10160">
            <a:solidFill>
              <a:srgbClr val="A84D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4956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Kamwanga Raheem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44368" y="4956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0CE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&amp; Builder · SisterCare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9808" y="59070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4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sister-care.vercel.app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56432" y="5907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E4BB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 · Kamwanga Raheem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1412748" cy="310896"/>
          </a:xfrm>
          <a:prstGeom prst="roundRect">
            <a:avLst>
              <a:gd name="adj" fmla="val 50000"/>
            </a:avLst>
          </a:prstGeom>
          <a:solidFill>
            <a:srgbClr val="FCE7F1"/>
          </a:solidFill>
          <a:ln w="10160">
            <a:solidFill>
              <a:srgbClr val="FCE7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466344"/>
            <a:ext cx="1175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7A2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NOTES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896112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15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behind the proposed Stellar implementation.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references support the technical direction; all SisterCare product-status statements come from the current application and product requirements.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68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2414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smart contracts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13632" y="2404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Soroban authorization, cryptographic hashing, persistent storage and contract tooling.</a:t>
            </a:r>
            <a:endParaRPr lang="en-US" sz="105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7726680" y="2423160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u="sng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https://developers.stellar.org/docs/build/smart-contracts/overview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611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3557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Stellar Community Fund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13632" y="3547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Community-driven funding for teams building and launching on Stellar.</a:t>
            </a:r>
            <a:endParaRPr lang="en-US" sz="1050" dirty="0"/>
          </a:p>
        </p:txBody>
      </p:sp>
      <p:sp>
        <p:nvSpPr>
          <p:cNvPr id="15" name="Text 13">
            <a:hlinkClick r:id="rId2" tooltip=""/>
          </p:cNvPr>
          <p:cNvSpPr/>
          <p:nvPr/>
        </p:nvSpPr>
        <p:spPr>
          <a:xfrm>
            <a:off x="7726680" y="3566160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u="sng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https://communityfund.stellar.org/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EF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54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52C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700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15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SisterCare product requirements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13632" y="4690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25E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Mission, privacy boundary, user roles, safety requirements and release gates.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26680" y="4709160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C3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Repository: docs/PRODUCT_REQUIREMENTS.md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5806440"/>
            <a:ext cx="10881360" cy="402336"/>
          </a:xfrm>
          <a:prstGeom prst="roundRect">
            <a:avLst>
              <a:gd name="adj" fmla="val 34091"/>
            </a:avLst>
          </a:prstGeom>
          <a:solidFill>
            <a:srgbClr val="F9EDD9"/>
          </a:solidFill>
          <a:ln w="10160">
            <a:solidFill>
              <a:srgbClr val="F9ED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5870448"/>
            <a:ext cx="1037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63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Diligence note: no user, revenue, partnership or grant-success claims have been invented in this deck.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64739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10" kern="0" dirty="0">
                <a:solidFill>
                  <a:srgbClr val="A282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· SOURCES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B7B8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SisterCare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SisterCare — A private first step toward being heard</dc:title>
  <dc:subject>SisterCare funder pitch</dc:subject>
  <dc:creator>SisterCare</dc:creator>
  <cp:lastModifiedBy>SisterCare</cp:lastModifiedBy>
  <cp:revision>1</cp:revision>
  <dcterms:created xsi:type="dcterms:W3CDTF">2026-08-03T10:19:48Z</dcterms:created>
  <dcterms:modified xsi:type="dcterms:W3CDTF">2026-08-03T10:19:48Z</dcterms:modified>
</cp:coreProperties>
</file>